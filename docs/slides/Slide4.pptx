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2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717" r:id="rId3"/>
  </p:sldMasterIdLst>
  <p:notesMasterIdLst>
    <p:notesMasterId r:id="rId39"/>
  </p:notesMasterIdLst>
  <p:sldIdLst>
    <p:sldId id="257" r:id="rId4"/>
    <p:sldId id="258" r:id="rId5"/>
    <p:sldId id="259" r:id="rId6"/>
    <p:sldId id="333" r:id="rId7"/>
    <p:sldId id="334" r:id="rId8"/>
    <p:sldId id="335" r:id="rId9"/>
    <p:sldId id="336" r:id="rId10"/>
    <p:sldId id="337" r:id="rId11"/>
    <p:sldId id="338" r:id="rId12"/>
    <p:sldId id="339" r:id="rId13"/>
    <p:sldId id="340" r:id="rId14"/>
    <p:sldId id="341" r:id="rId15"/>
    <p:sldId id="342" r:id="rId16"/>
    <p:sldId id="343" r:id="rId17"/>
    <p:sldId id="344" r:id="rId18"/>
    <p:sldId id="345" r:id="rId19"/>
    <p:sldId id="346" r:id="rId20"/>
    <p:sldId id="347" r:id="rId21"/>
    <p:sldId id="348" r:id="rId22"/>
    <p:sldId id="349" r:id="rId23"/>
    <p:sldId id="332" r:id="rId24"/>
    <p:sldId id="350" r:id="rId25"/>
    <p:sldId id="351" r:id="rId26"/>
    <p:sldId id="352" r:id="rId27"/>
    <p:sldId id="353" r:id="rId28"/>
    <p:sldId id="354" r:id="rId29"/>
    <p:sldId id="355" r:id="rId30"/>
    <p:sldId id="356" r:id="rId31"/>
    <p:sldId id="357" r:id="rId32"/>
    <p:sldId id="358" r:id="rId33"/>
    <p:sldId id="359" r:id="rId34"/>
    <p:sldId id="360" r:id="rId35"/>
    <p:sldId id="361" r:id="rId36"/>
    <p:sldId id="362" r:id="rId37"/>
    <p:sldId id="286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86" autoAdjust="0"/>
    <p:restoredTop sz="94660"/>
  </p:normalViewPr>
  <p:slideViewPr>
    <p:cSldViewPr snapToGrid="0">
      <p:cViewPr varScale="1">
        <p:scale>
          <a:sx n="87" d="100"/>
          <a:sy n="87" d="100"/>
        </p:scale>
        <p:origin x="53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ableStyles" Target="tableStyle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667F05-D95D-49FE-87B7-67C84346D2CD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B6582C-81C5-4156-B658-E10D67690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04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E5FABD-26C8-4F74-B1E3-45BC91BC9D7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8521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png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492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2849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189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48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699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972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582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486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17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809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3297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4219262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579988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50D09E5B-B146-4D08-82EC-846DD89B0B8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0462" y="0"/>
            <a:ext cx="9931338" cy="6823040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88940597-2E9A-4141-B2D0-C488487F11D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3400" y="0"/>
            <a:ext cx="50863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609600"/>
            <a:ext cx="7429500" cy="56388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1905000"/>
            <a:ext cx="5864382" cy="22752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EA44EEDB-C599-41AA-9D84-D53811C2880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896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E574478-76DE-4613-8FBD-36B35308184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91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9187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_Deep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1269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2075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3450" y="4343400"/>
            <a:ext cx="4381500" cy="1355732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23546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495801"/>
            <a:ext cx="4876800" cy="60960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14104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14478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621E917-505B-493E-99EE-2E57CB332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860617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mphasis-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1676400"/>
            <a:ext cx="10837333" cy="424732"/>
          </a:xfrm>
          <a:solidFill>
            <a:schemeClr val="accent1"/>
          </a:solidFill>
        </p:spPr>
        <p:txBody>
          <a:bodyPr wrap="square" lIns="640080" rIns="91440">
            <a:sp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8E95652-9528-4150-8049-C40C3BB1B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62893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72862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33657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sea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12733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68673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34083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2243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24320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_Triangle patch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05BCA9F-FC20-461D-9118-7EC2AC28D05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75958" y="0"/>
            <a:ext cx="9016043" cy="6858000"/>
          </a:xfrm>
          <a:custGeom>
            <a:avLst/>
            <a:gdLst>
              <a:gd name="connsiteX0" fmla="*/ 5153328 w 9016043"/>
              <a:gd name="connsiteY0" fmla="*/ 0 h 6858000"/>
              <a:gd name="connsiteX1" fmla="*/ 9016043 w 9016043"/>
              <a:gd name="connsiteY1" fmla="*/ 0 h 6858000"/>
              <a:gd name="connsiteX2" fmla="*/ 9016043 w 9016043"/>
              <a:gd name="connsiteY2" fmla="*/ 6858000 h 6858000"/>
              <a:gd name="connsiteX3" fmla="*/ 0 w 9016043"/>
              <a:gd name="connsiteY3" fmla="*/ 6858000 h 6858000"/>
              <a:gd name="connsiteX4" fmla="*/ 5153328 w 9016043"/>
              <a:gd name="connsiteY4" fmla="*/ 681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16043" h="6858000">
                <a:moveTo>
                  <a:pt x="5153328" y="0"/>
                </a:moveTo>
                <a:lnTo>
                  <a:pt x="9016043" y="0"/>
                </a:lnTo>
                <a:lnTo>
                  <a:pt x="9016043" y="6858000"/>
                </a:lnTo>
                <a:lnTo>
                  <a:pt x="0" y="6858000"/>
                </a:lnTo>
                <a:lnTo>
                  <a:pt x="5153328" y="68183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42175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F869F17-9BF3-4974-956D-0CBCD60BA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68505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654DBB0-1027-4E5D-B635-00F2F173A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365806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whit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01" y="112976"/>
            <a:ext cx="6858000" cy="6745024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E59725C5-1168-4A5F-B420-8E05620196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5400000">
            <a:off x="5238089" y="208890"/>
            <a:ext cx="6745024" cy="6553200"/>
          </a:xfrm>
          <a:gradFill flip="none" rotWithShape="1">
            <a:gsLst>
              <a:gs pos="0">
                <a:schemeClr val="bg1"/>
              </a:gs>
              <a:gs pos="82000">
                <a:schemeClr val="bg1">
                  <a:alpha val="0"/>
                </a:schemeClr>
              </a:gs>
            </a:gsLst>
            <a:lin ang="16200000" scaled="1"/>
            <a:tileRect/>
          </a:gra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32AFA8-ADE4-4C3E-AF0A-235C72499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59458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  <p15:guide id="3" pos="432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horizontal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11094718" cy="1757126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709677"/>
            <a:ext cx="11094717" cy="1500876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232B29A-2701-4A73-83CF-09E0AB1B2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84864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5775959" cy="3543552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53200" y="2667001"/>
            <a:ext cx="5090157" cy="3543552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A52166E-5DA9-4AA1-9355-E8DBFDD90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65573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617492"/>
            <a:ext cx="9890759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9FF8476-DF8C-4276-8CF6-44BC91B88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96159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11099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46520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C5AD12C-F7F6-431D-ABA4-F7E37CACE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233176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698" y="3735622"/>
            <a:ext cx="5013960" cy="2408917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38376498-C218-4EDB-8416-A59802EF20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39000" y="1981199"/>
            <a:ext cx="4389542" cy="4163339"/>
          </a:xfr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589520" y="2286000"/>
            <a:ext cx="3688080" cy="358140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EC81B64-070E-43F3-BCB5-833AB965D63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3717925"/>
            <a:ext cx="914400" cy="9302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D5893EC-1256-429B-9581-379342C23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53242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Multiple images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0" y="4176259"/>
            <a:ext cx="4343400" cy="1968280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96DE17A8-F4B7-4571-A6E8-FD28BA425B1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42834" y="1066801"/>
            <a:ext cx="3505199" cy="50777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9D9A0502-98A2-467D-BE1C-CE8391C73BF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91000" y="4343400"/>
            <a:ext cx="2743200" cy="18011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8298DB4E-3B92-4CA4-852A-9F647E7219A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191000" y="1066801"/>
            <a:ext cx="2743200" cy="3126023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E528B4D-15E8-4161-96F7-75D0217AD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1407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with Top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67450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67066A-9B9E-468B-97C6-94BF615FA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2AF7E6-6C19-4A41-BFA5-44C4F2A3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290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FC59837-0A86-4467-BB38-E2AC882F3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57779-E765-4EC2-825C-B8E41285A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35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61801" y="1189969"/>
            <a:ext cx="4389542" cy="4677431"/>
          </a:xfrm>
          <a:solidFill>
            <a:schemeClr val="bg1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612321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Important Content</a:t>
            </a:r>
            <a:endParaRPr lang="en-GB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E16EF6-8987-4193-B346-1BEA14401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2D4840-4EB5-4438-9A16-D0006A68A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64132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178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2269" y="1189969"/>
            <a:ext cx="4389542" cy="4677431"/>
          </a:xfrm>
          <a:solidFill>
            <a:schemeClr val="accent2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2789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AC89BA5-7D71-4838-92DC-A9DD44EC0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614DBA-0879-4C83-B4B4-EECB085A2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4419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02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527803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27803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27803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C94646A1-59D8-49D7-B0E1-B7771AB22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825195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35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358640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F4C1E55C-86D8-4053-9865-59D5B4F8A350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6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68B60C-9D86-4961-A5CE-AB650CA336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6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FE200E7-D3F0-41C3-92B0-E09677035AD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168336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520633DF-6AFD-4B07-9AFD-09317A9CC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6331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2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38400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4391622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4666886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4517480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65439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23061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3556396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3846999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3697593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562600" y="4689732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4000" y="4980335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48944" y="4830929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77218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151214" y="2035302"/>
            <a:ext cx="4312844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840" y="2280181"/>
            <a:ext cx="49377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756426" y="1935993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071132" y="3576256"/>
            <a:ext cx="5392925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8640" y="3846999"/>
            <a:ext cx="40233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74508" y="350281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949699" y="5117210"/>
            <a:ext cx="6514359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8641" y="5362089"/>
            <a:ext cx="29565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80392" y="501790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9F57DF2-7AB9-4D3A-AADE-E93D5621B0F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40170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018097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B9C406-BFD3-481F-9B48-3DCA3A33014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7518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F3D50D-B3D8-4A41-84D8-4BE250D1BD6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4856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1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1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6321F101-EC7B-4128-A7FA-373AC507D3D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672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2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229667AF-39CB-43E6-8D30-A2DDF8365C2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010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3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EB4CA538-2AD9-458A-B582-2FBFEAF60C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857C263B-EA99-4350-84C0-08B9746AEC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010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</p:spTree>
    <p:extLst>
      <p:ext uri="{BB962C8B-B14F-4D97-AF65-F5344CB8AC3E}">
        <p14:creationId xmlns:p14="http://schemas.microsoft.com/office/powerpoint/2010/main" val="2948150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751397" y="5027659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23902" y="2057402"/>
            <a:ext cx="2743197" cy="274319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1021" y="5307558"/>
            <a:ext cx="31089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FD9C5C0-2B13-4BD9-BA25-5F692DE9E8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1021" y="5688559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71D9F8-CAE6-4680-A029-F96D0F1441FD}"/>
              </a:ext>
            </a:extLst>
          </p:cNvPr>
          <p:cNvCxnSpPr>
            <a:cxnSpLocks/>
          </p:cNvCxnSpPr>
          <p:nvPr userDrawn="1"/>
        </p:nvCxnSpPr>
        <p:spPr>
          <a:xfrm flipH="1">
            <a:off x="3907846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31598D0-210A-4FC8-9A7B-BFA0921CF21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536511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06439E2-68F5-46DF-9799-ABBEBECFD35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906013" y="2754546"/>
            <a:ext cx="3254399" cy="2828600"/>
            <a:chOff x="4431264" y="2199060"/>
            <a:chExt cx="3363136" cy="28286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95E9585-55FC-4C03-8122-DED9B077D9F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2403E01-A7A9-4801-84C2-A2B3D9B7F577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BDA24073-E1E8-43FF-B135-B2947B9722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5426747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DAD1D946-AD65-4E2D-A739-D93BA1AC1DF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4408933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036FD13F-5CDF-4A6F-A890-1F23EA59027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1" hasCustomPrompt="1"/>
          </p:nvPr>
        </p:nvSpPr>
        <p:spPr>
          <a:xfrm>
            <a:off x="6458832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EA974DF-48E5-46E7-9453-8A47028BC51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036660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A85692E-DBD5-4FD7-95CA-849C102632D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665325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06422F5-A2F2-43D5-84EE-F875A28A728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034827" y="2754546"/>
            <a:ext cx="3254399" cy="2828600"/>
            <a:chOff x="4431264" y="2199060"/>
            <a:chExt cx="3363136" cy="2828600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BDD12EB-7EFD-4370-A7C6-9E57D6A7C6DF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D1AAC8-713E-418F-B7B4-27B58BDFD77C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DEE070FD-95C9-4396-B429-69E1E14E327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555561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Picture Placeholder 8">
            <a:extLst>
              <a:ext uri="{FF2B5EF4-FFF2-40B4-BE49-F238E27FC236}">
                <a16:creationId xmlns:a16="http://schemas.microsoft.com/office/drawing/2014/main" id="{5A9E7D40-35C3-4F7D-AAB6-D4168037C9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537747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3" name="Picture Placeholder 8">
            <a:extLst>
              <a:ext uri="{FF2B5EF4-FFF2-40B4-BE49-F238E27FC236}">
                <a16:creationId xmlns:a16="http://schemas.microsoft.com/office/drawing/2014/main" id="{13CB6343-C37E-4656-A566-EA9A3A1BF01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587646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847B0A6E-95FE-4876-8783-F2D69813E0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95850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4E9CD2A8-E96D-45CF-B252-F6F8267FF3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57415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1AE8BBFE-01C4-4028-9B89-8D3A005A4B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64282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49C15349-435A-457E-9835-D4345AD3ED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27786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06DC437D-C5F6-49FA-8BF0-932297827E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89351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9DB16E7F-EE86-4AF9-871B-5614FE2D44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696218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1288423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960064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88864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88864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46423" y="665228"/>
            <a:ext cx="0" cy="740664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8112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204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04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400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492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492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44977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04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04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2595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687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687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066634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775905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75905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627878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596641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5441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25441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112012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0527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8815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69127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5010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8308140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0115251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7437377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178095" y="1905000"/>
            <a:ext cx="1255400" cy="1255400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01136" y="2288331"/>
            <a:ext cx="3108959" cy="290097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01136" y="2566041"/>
            <a:ext cx="3108959" cy="221043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670561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10984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29272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73699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65467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8353860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10160971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9BD202-1C38-47A5-8B06-0AADB78AAE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2642433"/>
            <a:ext cx="0" cy="5564151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icture Placeholder 8">
            <a:extLst>
              <a:ext uri="{FF2B5EF4-FFF2-40B4-BE49-F238E27FC236}">
                <a16:creationId xmlns:a16="http://schemas.microsoft.com/office/drawing/2014/main" id="{68CF0B9D-069C-46BA-9B77-7BDE114F3E5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29272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6EB5CB55-9BF0-4309-AA93-9540CDA1CE2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5908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184A6FF6-89E5-41B3-83AD-E1F1AC1C718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5908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65909E03-0C86-44C4-9260-484E8CF6315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8" hasCustomPrompt="1"/>
          </p:nvPr>
        </p:nvSpPr>
        <p:spPr>
          <a:xfrm>
            <a:off x="473699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0D08C690-4C72-47C4-ADBC-6DBFC463FC3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0055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FEBB122E-6E5D-4B48-91C0-C6EB8BA3D2D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40055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A968314E-9F6B-4D90-BC2A-C5BB6AC70F5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1" hasCustomPrompt="1"/>
          </p:nvPr>
        </p:nvSpPr>
        <p:spPr>
          <a:xfrm>
            <a:off x="65467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98FF5C01-8CE1-475F-A59A-011328494FC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03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DC690F93-088F-498C-9B26-2DCE00A1145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03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7" name="Picture Placeholder 8">
            <a:extLst>
              <a:ext uri="{FF2B5EF4-FFF2-40B4-BE49-F238E27FC236}">
                <a16:creationId xmlns:a16="http://schemas.microsoft.com/office/drawing/2014/main" id="{1D462CE1-BEE9-45C4-AB54-354D05E69D3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8353860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9FA2731A-D1B2-4144-8373-12B9313F9BF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017411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F61DF59D-6B27-4EC6-A151-0F9B99DC805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017411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748268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866303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842706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5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139039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786622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527909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5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126826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489EE1C9-68AE-4BDD-B34C-9DE809C4DD0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>
              <a:alpha val="84000"/>
            </a:schemeClr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F89ADF8-2320-4EC3-98EA-5CB618A528E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0"/>
            <a:ext cx="6781800" cy="6324600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825" y="2265916"/>
            <a:ext cx="5314950" cy="3488998"/>
          </a:xfrm>
          <a:noFill/>
        </p:spPr>
        <p:txBody>
          <a:bodyPr anchor="b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4D12B-58A6-47D1-9B2D-697AB265C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12450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73FC1AA-8591-43A1-9962-1599E1A8AB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85610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1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160B2D8-3756-4781-A8DD-692C3F895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50082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5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EDA9EB-20CE-4EA1-9720-40FBEB456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72357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6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0033509-FE6E-46FC-85C8-B777FBA2F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75325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78135" y="1219200"/>
            <a:ext cx="7232465" cy="9036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5636234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51826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68869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250010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831613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B4B414-6006-A545-91A5-6439F57339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486400" y="4038600"/>
            <a:ext cx="6705600" cy="830884"/>
          </a:xfrm>
        </p:spPr>
        <p:txBody>
          <a:bodyPr>
            <a:normAutofit/>
          </a:bodyPr>
          <a:lstStyle>
            <a:lvl1pPr algn="l">
              <a:defRPr sz="36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</a:lstStyle>
          <a:p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java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4724400"/>
            <a:ext cx="6705600" cy="990600"/>
          </a:xfrm>
        </p:spPr>
        <p:txBody>
          <a:bodyPr>
            <a:normAutofit/>
          </a:bodyPr>
          <a:lstStyle>
            <a:lvl1pPr marL="0" indent="0" algn="l">
              <a:buNone/>
              <a:defRPr sz="22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26" name="Picture 2" descr="Résultat de recherche d'images pour &quot;testing&quot;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9388" y="2439665"/>
            <a:ext cx="2827624" cy="2034892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2C30FD-63C3-C741-9C8B-9481A688A74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381000"/>
            <a:ext cx="3968885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45337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274638"/>
            <a:ext cx="8839200" cy="487362"/>
          </a:xfrm>
        </p:spPr>
        <p:txBody>
          <a:bodyPr>
            <a:noAutofit/>
          </a:bodyPr>
          <a:lstStyle>
            <a:lvl1pPr algn="r">
              <a:defRPr sz="28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5257800"/>
          </a:xfrm>
        </p:spPr>
        <p:txBody>
          <a:bodyPr>
            <a:normAutofit/>
          </a:bodyPr>
          <a:lstStyle>
            <a:lvl1pPr marL="342900" indent="-342900">
              <a:buClr>
                <a:srgbClr val="FF5A33"/>
              </a:buClr>
              <a:buFont typeface="Wingdings" pitchFamily="2" charset="2"/>
              <a:buChar char="q"/>
              <a:defRPr sz="2800">
                <a:latin typeface="Segoe UI" pitchFamily="34" charset="0"/>
                <a:cs typeface="Segoe UI" pitchFamily="34" charset="0"/>
              </a:defRPr>
            </a:lvl1pPr>
            <a:lvl2pPr marL="742950" indent="-285750">
              <a:buClr>
                <a:srgbClr val="FF5A33"/>
              </a:buClr>
              <a:buFont typeface="Wingdings" pitchFamily="2" charset="2"/>
              <a:buChar char="v"/>
              <a:defRPr sz="2400">
                <a:latin typeface="Segoe UI" pitchFamily="34" charset="0"/>
                <a:cs typeface="Segoe UI" pitchFamily="34" charset="0"/>
              </a:defRPr>
            </a:lvl2pPr>
            <a:lvl3pPr marL="1143000" indent="-228600">
              <a:buClr>
                <a:srgbClr val="FF5A33"/>
              </a:buClr>
              <a:buFont typeface="Wingdings" pitchFamily="2" charset="2"/>
              <a:buChar char="Ø"/>
              <a:defRPr sz="2000">
                <a:latin typeface="Segoe UI" pitchFamily="34" charset="0"/>
                <a:cs typeface="Segoe UI" pitchFamily="34" charset="0"/>
              </a:defRPr>
            </a:lvl3pPr>
            <a:lvl4pPr marL="1600200" indent="-228600">
              <a:buClr>
                <a:srgbClr val="FF5A33"/>
              </a:buClr>
              <a:buFont typeface="Wingdings" pitchFamily="2" charset="2"/>
              <a:buChar char="ü"/>
              <a:defRPr sz="1800">
                <a:latin typeface="Segoe UI" pitchFamily="34" charset="0"/>
                <a:cs typeface="Segoe UI" pitchFamily="34" charset="0"/>
              </a:defRPr>
            </a:lvl4pPr>
            <a:lvl5pPr marL="2057400" indent="-228600">
              <a:buClr>
                <a:srgbClr val="FF5A33"/>
              </a:buClr>
              <a:buFont typeface="Wingdings" pitchFamily="2" charset="2"/>
              <a:buChar char="§"/>
              <a:defRPr sz="1800">
                <a:latin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9F313-9C13-47C6-A228-B55986214473}" type="datetime1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18719"/>
            <a:ext cx="2032000" cy="461818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609600" y="838200"/>
            <a:ext cx="109728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7983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A6EF9-73EC-47CA-9E52-574751B1CDA3}" type="datetime1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09653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9F786-C4DF-431A-9246-1EC1829B2C78}" type="datetime1">
              <a:rPr lang="en-US" smtClean="0"/>
              <a:t>12/15/2024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95746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59D84-263E-478C-94B6-63AC70204759}" type="datetime1">
              <a:rPr lang="en-US" smtClean="0"/>
              <a:t>12/15/2024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38223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8565-00B5-4601-AD26-950DAB626426}" type="datetime1">
              <a:rPr lang="en-US" smtClean="0"/>
              <a:t>12/15/2024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2032000" y="2551018"/>
            <a:ext cx="8534400" cy="32647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8" name="Picture 2" descr="http://uconndigitalarts.com/wp-content/uploads/2013/04/original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3958" r="96146">
                        <a14:backgroundMark x1="16667" y1="54630" x2="86042" y2="55185"/>
                        <a14:backgroundMark x1="90625" y1="53889" x2="93125" y2="53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978" b="41311"/>
          <a:stretch/>
        </p:blipFill>
        <p:spPr bwMode="auto">
          <a:xfrm flipH="1">
            <a:off x="3732707" y="2575401"/>
            <a:ext cx="4568091" cy="283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powerpoint.vn\Downloads\1e2cd4b177168ad16ce2e7c504bba4d2.x400.jpeg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750" b="81000" l="9971" r="89736">
                        <a14:backgroundMark x1="33724" y1="42750" x2="69208" y2="55250"/>
                        <a14:backgroundMark x1="25806" y1="33250" x2="25806" y2="37500"/>
                        <a14:backgroundMark x1="26100" y1="32250" x2="26100" y2="32250"/>
                        <a14:backgroundMark x1="70674" y1="35750" x2="70674" y2="35750"/>
                        <a14:backgroundMark x1="76246" y1="31250" x2="76246" y2="31250"/>
                        <a14:backgroundMark x1="70968" y1="34750" x2="70968" y2="34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5710"/>
          <a:stretch/>
        </p:blipFill>
        <p:spPr bwMode="auto">
          <a:xfrm>
            <a:off x="2568620" y="609600"/>
            <a:ext cx="7257961" cy="2828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4103893" y="3124200"/>
            <a:ext cx="4735308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200" b="1" dirty="0">
                <a:solidFill>
                  <a:schemeClr val="bg1"/>
                </a:solidFill>
              </a:rPr>
              <a:t>DEM</a:t>
            </a:r>
            <a:r>
              <a:rPr lang="en-US" sz="11500" b="1" dirty="0">
                <a:solidFill>
                  <a:schemeClr val="bg1"/>
                </a:solidFill>
              </a:rPr>
              <a:t>O</a:t>
            </a:r>
          </a:p>
          <a:p>
            <a:endParaRPr lang="en-US" sz="1800" dirty="0"/>
          </a:p>
        </p:txBody>
      </p:sp>
      <p:pic>
        <p:nvPicPr>
          <p:cNvPr id="10" name="Picture 2" descr="http://www.designofsignage.com/application/symbol/hands/image/600x600/hand-press-button-4.jp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9500" l="10000" r="90000">
                        <a14:foregroundMark x1="35833" y1="26500" x2="41500" y2="8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752" y="3568725"/>
            <a:ext cx="3488947" cy="261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216684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3AF78-3B29-49D4-81C3-7555616E6373}" type="datetime1">
              <a:rPr lang="en-US" smtClean="0"/>
              <a:t>12/15/2024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44525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48055-7455-47F1-BA44-73D8B83B9342}" type="datetime1">
              <a:rPr lang="en-US" smtClean="0"/>
              <a:t>12/15/2024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49373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46837-A547-4964-AC0B-E650641F7846}" type="datetime1">
              <a:rPr lang="en-US" smtClean="0"/>
              <a:t>12/15/2024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51455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0451A-A87B-4BA7-B824-056B86D6CA5D}" type="datetime1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6633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4BB19-EC7D-4033-B460-36F421974985}" type="datetime1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23732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-1930400" y="6188076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7C0512-7E02-4E40-BD9C-21FAB99329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19138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itle Placeholder 1"/>
          <p:cNvSpPr txBox="1">
            <a:spLocks/>
          </p:cNvSpPr>
          <p:nvPr userDrawn="1"/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200" b="1" kern="1200" cap="small" baseline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r>
              <a:rPr lang="en-US" sz="3200" dirty="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 flipH="1">
            <a:off x="711200" y="835152"/>
            <a:ext cx="108712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913878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198438"/>
            <a:ext cx="9448800" cy="487362"/>
          </a:xfrm>
        </p:spPr>
        <p:txBody>
          <a:bodyPr anchor="t">
            <a:normAutofit/>
          </a:bodyPr>
          <a:lstStyle>
            <a:lvl1pPr algn="r">
              <a:defRPr sz="2400" b="0" i="0" baseline="0">
                <a:solidFill>
                  <a:schemeClr val="bg1"/>
                </a:solidFill>
                <a:latin typeface="Segoe UI" pitchFamily="34" charset="0"/>
                <a:ea typeface="Roboto Lt" pitchFamily="2" charset="0"/>
                <a:cs typeface="Segoe UI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Silde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727200" y="1066800"/>
            <a:ext cx="10363200" cy="457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pPr lvl="0"/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lớn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604000" y="1828800"/>
            <a:ext cx="5384800" cy="2743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0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…….</a:t>
            </a:r>
          </a:p>
          <a:p>
            <a:r>
              <a:rPr lang="en-US" dirty="0"/>
              <a:t>960, abstract, background, banner, bar, box, business, button, circle, clean,</a:t>
            </a:r>
          </a:p>
          <a:p>
            <a:r>
              <a:rPr lang="en-US" b="1" dirty="0" err="1"/>
              <a:t>Nôi</a:t>
            </a:r>
            <a:r>
              <a:rPr lang="en-US" b="1" dirty="0"/>
              <a:t> dung </a:t>
            </a:r>
            <a:r>
              <a:rPr lang="en-US" b="1" dirty="0" err="1"/>
              <a:t>cần</a:t>
            </a:r>
            <a:r>
              <a:rPr lang="en-US" b="1" dirty="0"/>
              <a:t> </a:t>
            </a:r>
            <a:r>
              <a:rPr lang="en-US" b="1" dirty="0" err="1"/>
              <a:t>nhấn</a:t>
            </a:r>
            <a:r>
              <a:rPr lang="en-US" b="1" dirty="0"/>
              <a:t> </a:t>
            </a:r>
            <a:r>
              <a:rPr lang="en-US" b="1" dirty="0" err="1"/>
              <a:t>mạnh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>
          <a:xfrm>
            <a:off x="-1828800" y="617220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fld id="{C9454D8F-10CC-4917-9EE3-EC45D591F4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0133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703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slideLayout" Target="../slideLayouts/slideLayout61.xml"/><Relationship Id="rId55" Type="http://schemas.openxmlformats.org/officeDocument/2006/relationships/slideLayout" Target="../slideLayouts/slideLayout66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slideLayout" Target="../slideLayouts/slideLayout64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56" Type="http://schemas.openxmlformats.org/officeDocument/2006/relationships/slideLayout" Target="../slideLayouts/slideLayout67.xml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65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Relationship Id="rId57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13" Type="http://schemas.openxmlformats.org/officeDocument/2006/relationships/slideLayout" Target="../slideLayouts/slideLayout80.xml"/><Relationship Id="rId3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79.xml"/><Relationship Id="rId2" Type="http://schemas.openxmlformats.org/officeDocument/2006/relationships/slideLayout" Target="../slideLayouts/slideLayout69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2.xml"/><Relationship Id="rId1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Relationship Id="rId14" Type="http://schemas.openxmlformats.org/officeDocument/2006/relationships/slideLayout" Target="../slideLayouts/slideLayout8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DF40E0-E6EB-4A06-A23A-FAEAF1FE809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386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2103120"/>
            <a:ext cx="11106150" cy="422148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959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36">
          <p15:clr>
            <a:srgbClr val="F26B43"/>
          </p15:clr>
        </p15:guide>
        <p15:guide id="4" orient="horz" pos="336">
          <p15:clr>
            <a:srgbClr val="F26B43"/>
          </p15:clr>
        </p15:guide>
        <p15:guide id="5" pos="7344">
          <p15:clr>
            <a:srgbClr val="F26B43"/>
          </p15:clr>
        </p15:guide>
        <p15:guide id="6" orient="horz" pos="398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DC4897-F721-4489-83C3-CD2672282672}" type="datetime1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548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09890287-4DB6-4C87-AEAF-17E9594F401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7813" b="7813"/>
          <a:stretch>
            <a:fillRect/>
          </a:stretch>
        </p:blipFill>
        <p:spPr/>
      </p:pic>
      <p:sp>
        <p:nvSpPr>
          <p:cNvPr id="285" name="Text Placeholder 284">
            <a:extLst>
              <a:ext uri="{FF2B5EF4-FFF2-40B4-BE49-F238E27FC236}">
                <a16:creationId xmlns:a16="http://schemas.microsoft.com/office/drawing/2014/main" id="{C0BF9B80-F084-4423-8C1C-E79BE829875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86" name="Text Placeholder 285">
            <a:extLst>
              <a:ext uri="{FF2B5EF4-FFF2-40B4-BE49-F238E27FC236}">
                <a16:creationId xmlns:a16="http://schemas.microsoft.com/office/drawing/2014/main" id="{9626180B-FF05-48CF-BFB3-C95C9B5DAB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933031D-018B-489E-B613-2113C1CD2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751591" cy="756097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C#3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06F8B2E-A7F5-4413-BEED-BFF7C3D9FF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4600" y="3299438"/>
            <a:ext cx="7244861" cy="1196362"/>
          </a:xfrm>
        </p:spPr>
        <p:txBody>
          <a:bodyPr>
            <a:normAutofit/>
          </a:bodyPr>
          <a:lstStyle/>
          <a:p>
            <a:r>
              <a:rPr lang="en-US" sz="3600" dirty="0" err="1">
                <a:solidFill>
                  <a:srgbClr val="FFC000"/>
                </a:solidFill>
              </a:rPr>
              <a:t>Bài</a:t>
            </a:r>
            <a:r>
              <a:rPr lang="en-US" sz="3600" dirty="0">
                <a:solidFill>
                  <a:srgbClr val="FFC000"/>
                </a:solidFill>
              </a:rPr>
              <a:t> 4</a:t>
            </a:r>
            <a:r>
              <a:rPr lang="en-US" sz="3600" dirty="0" smtClean="0">
                <a:solidFill>
                  <a:srgbClr val="FFC000"/>
                </a:solidFill>
              </a:rPr>
              <a:t>: VIEW </a:t>
            </a:r>
            <a:endParaRPr lang="en-US" sz="3600" dirty="0">
              <a:solidFill>
                <a:srgbClr val="FFC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116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err="1" smtClean="0">
                <a:solidFill>
                  <a:srgbClr val="FF0000"/>
                </a:solidFill>
                <a:latin typeface="+mn-lt"/>
              </a:rPr>
              <a:t>Mục</a:t>
            </a:r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4800" b="1" dirty="0" err="1" smtClean="0">
                <a:solidFill>
                  <a:srgbClr val="FF0000"/>
                </a:solidFill>
                <a:latin typeface="+mn-lt"/>
              </a:rPr>
              <a:t>tiêu</a:t>
            </a:r>
            <a:endParaRPr lang="en-US" sz="48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¤"/>
            </a:pPr>
            <a:r>
              <a:rPr lang="en-US" sz="3200" dirty="0"/>
              <a:t>Layout page Views</a:t>
            </a:r>
          </a:p>
          <a:p>
            <a:pPr>
              <a:buFont typeface="Wingdings" pitchFamily="2" charset="2"/>
              <a:buChar char="¤"/>
            </a:pPr>
            <a:r>
              <a:rPr lang="en-US" sz="3200" dirty="0" err="1"/>
              <a:t>ViewData</a:t>
            </a:r>
            <a:endParaRPr lang="en-US" sz="3200" dirty="0"/>
          </a:p>
          <a:p>
            <a:pPr>
              <a:buFont typeface="Wingdings" pitchFamily="2" charset="2"/>
              <a:buChar char="¤"/>
            </a:pPr>
            <a:r>
              <a:rPr lang="en-US" sz="3200" dirty="0" err="1"/>
              <a:t>ViewBag</a:t>
            </a:r>
            <a:endParaRPr lang="en-US" sz="3200" dirty="0"/>
          </a:p>
          <a:p>
            <a:pPr>
              <a:buFont typeface="Wingdings" pitchFamily="2" charset="2"/>
              <a:buChar char="¤"/>
            </a:pPr>
            <a:endParaRPr lang="nl-NL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450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err="1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Tổng</a:t>
            </a:r>
            <a:r>
              <a:rPr lang="en-US" sz="4800" b="1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800" b="1" dirty="0" err="1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</a:t>
            </a:r>
            <a:r>
              <a:rPr lang="en-US" sz="4800" b="1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View</a:t>
            </a:r>
            <a:endParaRPr lang="en-US" sz="48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3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dirty="0"/>
              <a:t>View có trách nhiệm tạo ra giao diện cho người dùng từ model</a:t>
            </a:r>
            <a:r>
              <a:rPr lang="en-US" dirty="0"/>
              <a:t>, controller</a:t>
            </a:r>
          </a:p>
          <a:p>
            <a:r>
              <a:rPr lang="vi-VN" dirty="0"/>
              <a:t>Controller trong ASP.NET Core sẽ nhận request sau đó thực thi với logic tương ứng với dữ liệu đầu vào từ request. Sau đó nó trả về Model cho View</a:t>
            </a:r>
            <a:endParaRPr lang="en-US" dirty="0"/>
          </a:p>
          <a:p>
            <a:r>
              <a:rPr lang="en-US" dirty="0"/>
              <a:t>Render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model </a:t>
            </a:r>
            <a:r>
              <a:rPr lang="en-US" dirty="0" err="1"/>
              <a:t>lên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trách</a:t>
            </a:r>
            <a:r>
              <a:rPr lang="en-US" dirty="0"/>
              <a:t> </a:t>
            </a:r>
            <a:r>
              <a:rPr lang="en-US" dirty="0" err="1"/>
              <a:t>nhiệm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View</a:t>
            </a:r>
          </a:p>
          <a:p>
            <a:r>
              <a:rPr lang="en-US" dirty="0"/>
              <a:t>View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cứ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user.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HTML, JSON, XML hay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cứ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khác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507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err="1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Tổng</a:t>
            </a:r>
            <a:r>
              <a:rPr lang="en-US" sz="4800" b="1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800" b="1" dirty="0" err="1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</a:t>
            </a:r>
            <a:r>
              <a:rPr lang="en-US" sz="4800" b="1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View</a:t>
            </a:r>
            <a:endParaRPr lang="en-US" sz="48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4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dirty="0"/>
              <a:t>Các View </a:t>
            </a:r>
            <a:r>
              <a:rPr lang="en-US" dirty="0"/>
              <a:t>html </a:t>
            </a:r>
            <a:r>
              <a:rPr lang="vi-VN" dirty="0"/>
              <a:t>được bố trí trong thư mục Views, nó là các template có phần mở rộng .cshtml</a:t>
            </a:r>
            <a:endParaRPr lang="en-US" dirty="0"/>
          </a:p>
          <a:p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nhúng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C# </a:t>
            </a:r>
            <a:r>
              <a:rPr lang="en-US" dirty="0" err="1"/>
              <a:t>trong</a:t>
            </a:r>
            <a:r>
              <a:rPr lang="en-US" dirty="0"/>
              <a:t> view(Razor),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nhúng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server side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@</a:t>
            </a:r>
          </a:p>
          <a:p>
            <a:r>
              <a:rPr lang="vi-VN" dirty="0"/>
              <a:t>Khi một Action trả về đối tượng ViewResult </a:t>
            </a:r>
            <a:r>
              <a:rPr lang="en-US" dirty="0"/>
              <a:t>t</a:t>
            </a:r>
            <a:r>
              <a:rPr lang="vi-VN" dirty="0"/>
              <a:t>hì nó sẽ sử dụng View .cshtml để tạo nội dung HTML. Nó sẽ tìm đến thư mục Views, tìm đến thư mục cùng tên Controller</a:t>
            </a:r>
            <a:r>
              <a:rPr lang="en-US" dirty="0"/>
              <a:t>, </a:t>
            </a:r>
            <a:r>
              <a:rPr lang="vi-VN" dirty="0"/>
              <a:t>ví dụ Home, sau đó là file .cshtml cùng tên với Action - file .cshtml tìm được sẽ sinh HTML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004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err="1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Tổng</a:t>
            </a:r>
            <a:r>
              <a:rPr lang="en-US" sz="4800" b="1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800" b="1" dirty="0" err="1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</a:t>
            </a:r>
            <a:r>
              <a:rPr lang="en-US" sz="4800" b="1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View</a:t>
            </a:r>
            <a:endParaRPr lang="en-US" sz="48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5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Vi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home controller </a:t>
            </a:r>
            <a:r>
              <a:rPr lang="en-US" dirty="0" err="1"/>
              <a:t>và</a:t>
            </a:r>
            <a:r>
              <a:rPr lang="en-US" dirty="0"/>
              <a:t> Index action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vi-VN" dirty="0"/>
              <a:t>Action trên sẽ sử dụng View tương ứng là Views/Home/Index.cshtml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56FAE5-D21B-4484-9D0C-C7581B5F2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423" y="1718583"/>
            <a:ext cx="3228975" cy="1790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FB94D9-6436-4ABF-9EDA-E30D68E45D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5535" y="1312750"/>
            <a:ext cx="2209800" cy="21454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BC391B-1806-463C-84BF-B8B0614389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6565" y="4147059"/>
            <a:ext cx="6778870" cy="2285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824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View</a:t>
            </a:r>
            <a:endParaRPr lang="en-US" sz="48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6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Cách</a:t>
            </a:r>
            <a:r>
              <a:rPr lang="en-US" dirty="0"/>
              <a:t> 1: </a:t>
            </a:r>
            <a:r>
              <a:rPr lang="vi-VN" dirty="0"/>
              <a:t>Chuột phải vào bất cứ đâu trong phương thức và chọn Add View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1B17AA-9EDB-4D04-897D-E49FCD14E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471" y="2100874"/>
            <a:ext cx="5715129" cy="3765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582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View</a:t>
            </a:r>
            <a:endParaRPr lang="en-US" sz="48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7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Cách</a:t>
            </a:r>
            <a:r>
              <a:rPr lang="en-US" dirty="0"/>
              <a:t> 2: 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th</a:t>
            </a:r>
            <a:r>
              <a:rPr lang="vi-VN" dirty="0"/>
              <a:t>ư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Views,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file View t</a:t>
            </a:r>
            <a:r>
              <a:rPr lang="vi-VN" dirty="0"/>
              <a:t>ư</a:t>
            </a:r>
            <a:r>
              <a:rPr lang="en-US" dirty="0" err="1"/>
              <a:t>ơng</a:t>
            </a:r>
            <a:r>
              <a:rPr lang="en-US" dirty="0"/>
              <a:t> </a:t>
            </a:r>
            <a:r>
              <a:rPr lang="en-US" dirty="0" err="1"/>
              <a:t>ứng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7BF245-1989-4BF1-B8BB-C4CD2F90C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752" y="2406162"/>
            <a:ext cx="7274433" cy="29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934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View</a:t>
            </a:r>
            <a:endParaRPr lang="en-US" sz="48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8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Điền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273636-7744-00E0-7063-849140EC3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789" y="1803867"/>
            <a:ext cx="6700838" cy="4368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203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View</a:t>
            </a:r>
            <a:endParaRPr lang="en-US" sz="48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9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View </a:t>
            </a:r>
            <a:r>
              <a:rPr lang="en-US" dirty="0" err="1"/>
              <a:t>Name:Nhập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View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>. Theo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tắc</a:t>
            </a:r>
            <a:r>
              <a:rPr lang="en-US" dirty="0"/>
              <a:t>,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Action Method name</a:t>
            </a:r>
          </a:p>
          <a:p>
            <a:r>
              <a:rPr lang="en-US" dirty="0"/>
              <a:t>Template: </a:t>
            </a:r>
            <a:r>
              <a:rPr lang="vi-VN" dirty="0"/>
              <a:t>Template có vài tùy chọn như Create, Delete, Details, Edit, List, Empty (without Model). Các template ở trên cần một model, ngoại trừ Empty Template.</a:t>
            </a:r>
            <a:endParaRPr lang="en-US" dirty="0"/>
          </a:p>
          <a:p>
            <a:r>
              <a:rPr lang="en-US" dirty="0"/>
              <a:t>Model class:</a:t>
            </a:r>
            <a:r>
              <a:rPr lang="vi-VN" dirty="0"/>
              <a:t>Dropdown hiển thị tất cả các Model class trong project. Tùy chọn này được loại bỏ nếu bạn chọn Empty project.</a:t>
            </a:r>
            <a:endParaRPr lang="en-US" dirty="0"/>
          </a:p>
          <a:p>
            <a:r>
              <a:rPr lang="en-US" dirty="0"/>
              <a:t>Partial </a:t>
            </a:r>
            <a:r>
              <a:rPr lang="en-US" dirty="0" err="1"/>
              <a:t>View:Partial</a:t>
            </a:r>
            <a:r>
              <a:rPr lang="en-US" dirty="0"/>
              <a:t> View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view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view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chỉnh</a:t>
            </a:r>
            <a:endParaRPr lang="en-US" dirty="0"/>
          </a:p>
          <a:p>
            <a:r>
              <a:rPr lang="en-US" dirty="0"/>
              <a:t>Layout Page:</a:t>
            </a:r>
            <a:r>
              <a:rPr lang="vi-VN" dirty="0"/>
              <a:t>Layout page được dùng để chia sẻ các thành phần dùng chung trong trang của bạn và cung cấp một giao diện đồng nhất trong toàn bộ hệ thống.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812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Layout page Views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10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view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.</a:t>
            </a:r>
          </a:p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menu, header, footer </a:t>
            </a:r>
            <a:r>
              <a:rPr lang="en-US" dirty="0" err="1"/>
              <a:t>th</a:t>
            </a:r>
            <a:r>
              <a:rPr lang="vi-VN" dirty="0"/>
              <a:t>ư</a:t>
            </a:r>
            <a:r>
              <a:rPr lang="en-US" dirty="0" err="1"/>
              <a:t>ờng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qua </a:t>
            </a:r>
            <a:r>
              <a:rPr lang="en-US" dirty="0" err="1"/>
              <a:t>các</a:t>
            </a:r>
            <a:r>
              <a:rPr lang="en-US" dirty="0"/>
              <a:t> view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32C4B3-BAB9-4516-A158-9D28D663D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5314" y="2642559"/>
            <a:ext cx="6486525" cy="379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898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Layout page Views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11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_</a:t>
            </a:r>
            <a:r>
              <a:rPr lang="en-US" dirty="0" err="1"/>
              <a:t>Layout.cshtml</a:t>
            </a:r>
            <a:r>
              <a:rPr lang="en-US" dirty="0"/>
              <a:t> đ</a:t>
            </a:r>
            <a:r>
              <a:rPr lang="vi-VN" dirty="0"/>
              <a:t>ịnh nghĩa một giao diện có các phần tử dùng chung như header, footer, navigation menu trên trang ở một vị trí mà có thể dùng cho mọi nơi.</a:t>
            </a:r>
            <a:endParaRPr lang="en-US" dirty="0"/>
          </a:p>
          <a:p>
            <a:r>
              <a:rPr lang="en-US" dirty="0"/>
              <a:t> Layouts pages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Views/Shared,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file _</a:t>
            </a:r>
            <a:r>
              <a:rPr lang="en-US" dirty="0" err="1"/>
              <a:t>Layout.chtml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0728AB-E34A-D01A-2872-EC5DF6D96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5216" y="3351700"/>
            <a:ext cx="5159450" cy="308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791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Layout page Views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12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_</a:t>
            </a:r>
            <a:r>
              <a:rPr lang="en-US" dirty="0" err="1"/>
              <a:t>Layout.cshtml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3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header, content </a:t>
            </a:r>
            <a:r>
              <a:rPr lang="en-US" dirty="0" err="1"/>
              <a:t>và</a:t>
            </a:r>
            <a:r>
              <a:rPr lang="en-US" dirty="0"/>
              <a:t> footer. Content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ở </a:t>
            </a:r>
            <a:r>
              <a:rPr lang="en-US" dirty="0" err="1"/>
              <a:t>các</a:t>
            </a:r>
            <a:r>
              <a:rPr lang="en-US" dirty="0"/>
              <a:t> view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(@</a:t>
            </a:r>
            <a:r>
              <a:rPr lang="en-US" dirty="0" err="1"/>
              <a:t>RenderBody</a:t>
            </a:r>
            <a:r>
              <a:rPr lang="en-US" dirty="0"/>
              <a:t>())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D1E0F3-C27D-43AA-9B3D-E3BC2AE33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26" y="2241204"/>
            <a:ext cx="5086351" cy="42977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7725F94-6731-4FF2-BC8F-501DFBF7F5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085" y="3465630"/>
            <a:ext cx="2228255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898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Layout page Views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13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Các</a:t>
            </a:r>
            <a:r>
              <a:rPr lang="en-US" dirty="0"/>
              <a:t> view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thừa</a:t>
            </a:r>
            <a:r>
              <a:rPr lang="en-US" dirty="0"/>
              <a:t> _</a:t>
            </a:r>
            <a:r>
              <a:rPr lang="en-US" dirty="0" err="1"/>
              <a:t>Layout.chtml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thừa</a:t>
            </a:r>
            <a:r>
              <a:rPr lang="en-US" dirty="0"/>
              <a:t> h</a:t>
            </a:r>
            <a:r>
              <a:rPr lang="vi-VN" dirty="0"/>
              <a:t>ư</a:t>
            </a:r>
            <a:r>
              <a:rPr lang="en-US" dirty="0" err="1"/>
              <a:t>ởng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_</a:t>
            </a:r>
            <a:r>
              <a:rPr lang="en-US" dirty="0" err="1"/>
              <a:t>layout.chtml</a:t>
            </a:r>
            <a:endParaRPr lang="en-US" dirty="0"/>
          </a:p>
          <a:p>
            <a:r>
              <a:rPr lang="vi-VN" dirty="0"/>
              <a:t>RenderBody là một phương thức đặc biệt đánh dấu vị trí nơi mà các view sử dụng Layout này sẽ được đặt vào đó khi chạy</a:t>
            </a:r>
            <a:endParaRPr lang="en-US" dirty="0"/>
          </a:p>
          <a:p>
            <a:r>
              <a:rPr lang="en-US" dirty="0" err="1"/>
              <a:t>Cú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view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thừa</a:t>
            </a:r>
            <a:r>
              <a:rPr lang="en-US" dirty="0"/>
              <a:t> layout pages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3121D4F-0893-472E-91EA-16C7E0F55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8756" y="4182208"/>
            <a:ext cx="4085303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262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Layout page Views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14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8A3EBA64-173D-4E1D-953C-C3F350EF45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519" y="1533037"/>
            <a:ext cx="6629400" cy="417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9766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Layout page Views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15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view </a:t>
            </a:r>
            <a:r>
              <a:rPr lang="en-US" dirty="0" err="1"/>
              <a:t>Index.cshtml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thừa</a:t>
            </a:r>
            <a:r>
              <a:rPr lang="en-US" dirty="0"/>
              <a:t> _</a:t>
            </a:r>
            <a:r>
              <a:rPr lang="en-US" dirty="0" err="1"/>
              <a:t>Layout.cshtml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Run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view Index đ</a:t>
            </a:r>
            <a:r>
              <a:rPr lang="vi-VN" dirty="0"/>
              <a:t>ư</a:t>
            </a:r>
            <a:r>
              <a:rPr lang="en-US" dirty="0" err="1"/>
              <a:t>ợc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thừa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từ</a:t>
            </a:r>
            <a:r>
              <a:rPr lang="en-US" dirty="0"/>
              <a:t> _Layout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E4DC51-A8C6-4926-B47D-2BB2637E9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385" y="1641230"/>
            <a:ext cx="4703823" cy="2657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D2BC56-7E7B-AB60-B582-5BEA288B78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3462" y="4797423"/>
            <a:ext cx="4196862" cy="1710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845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Layout page Views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16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view </a:t>
            </a:r>
            <a:r>
              <a:rPr lang="en-US" dirty="0" err="1"/>
              <a:t>Index.chtml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thừa</a:t>
            </a:r>
            <a:r>
              <a:rPr lang="en-US" dirty="0"/>
              <a:t> _</a:t>
            </a:r>
            <a:r>
              <a:rPr lang="en-US" dirty="0" err="1"/>
              <a:t>Layout.chtml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riêng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view Index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Run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view Index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5F298B4-BF67-4BB4-B9C1-11AA21967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3246" y="1746739"/>
            <a:ext cx="4867275" cy="25431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46CE14-26D7-4494-8C2E-1ECCE3D1F3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400" y="5102225"/>
            <a:ext cx="5791200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648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vi-VN" sz="4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Render</a:t>
            </a:r>
            <a:r>
              <a:rPr lang="en-US" sz="4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17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RenderSection</a:t>
            </a:r>
            <a:r>
              <a:rPr lang="en-US" dirty="0"/>
              <a:t>() </a:t>
            </a:r>
            <a:r>
              <a:rPr lang="en-US" dirty="0" err="1"/>
              <a:t>ph</a:t>
            </a:r>
            <a:r>
              <a:rPr lang="vi-VN" dirty="0"/>
              <a:t>ư</a:t>
            </a:r>
            <a:r>
              <a:rPr lang="en-US" dirty="0" err="1"/>
              <a:t>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tùy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view con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layout</a:t>
            </a:r>
          </a:p>
          <a:p>
            <a:r>
              <a:rPr lang="en-US" dirty="0"/>
              <a:t>ASP.NET Core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vi-VN" dirty="0"/>
              <a:t>Render</a:t>
            </a:r>
            <a:r>
              <a:rPr lang="en-US" dirty="0"/>
              <a:t>section </a:t>
            </a:r>
            <a:r>
              <a:rPr lang="en-US" dirty="0" err="1"/>
              <a:t>cho</a:t>
            </a:r>
            <a:r>
              <a:rPr lang="en-US" dirty="0"/>
              <a:t> layout</a:t>
            </a:r>
          </a:p>
          <a:p>
            <a:r>
              <a:rPr lang="en-US" dirty="0" err="1"/>
              <a:t>Cú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section </a:t>
            </a:r>
            <a:r>
              <a:rPr lang="en-US" dirty="0" err="1"/>
              <a:t>trong</a:t>
            </a:r>
            <a:r>
              <a:rPr lang="en-US" dirty="0"/>
              <a:t> layout pages:</a:t>
            </a:r>
          </a:p>
          <a:p>
            <a:pPr marL="0" indent="0">
              <a:buNone/>
            </a:pPr>
            <a:r>
              <a:rPr lang="vi-VN" dirty="0"/>
              <a:t>RenderSection(string name, bool required)</a:t>
            </a:r>
            <a:endParaRPr lang="en-US" dirty="0"/>
          </a:p>
          <a:p>
            <a:pPr lvl="1"/>
            <a:r>
              <a:rPr lang="vi-VN" dirty="0"/>
              <a:t>Name</a:t>
            </a:r>
            <a:r>
              <a:rPr lang="en-US" dirty="0"/>
              <a:t>: </a:t>
            </a:r>
            <a:r>
              <a:rPr lang="en-US" dirty="0" err="1"/>
              <a:t>tên</a:t>
            </a:r>
            <a:r>
              <a:rPr lang="en-US" dirty="0"/>
              <a:t> section</a:t>
            </a:r>
          </a:p>
          <a:p>
            <a:pPr lvl="1"/>
            <a:r>
              <a:rPr lang="vi-VN" dirty="0"/>
              <a:t>Required</a:t>
            </a:r>
            <a:r>
              <a:rPr lang="en-US" dirty="0"/>
              <a:t>: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section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view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thừa</a:t>
            </a:r>
            <a:r>
              <a:rPr lang="en-US" dirty="0"/>
              <a:t> layout pages hay </a:t>
            </a:r>
            <a:r>
              <a:rPr lang="en-US" dirty="0" err="1"/>
              <a:t>không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78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vi-VN" sz="4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Render</a:t>
            </a:r>
            <a:r>
              <a:rPr lang="en-US" sz="4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18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19B1CFA6-23B9-4873-908A-DE0D85F9B5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6227" y="1477596"/>
            <a:ext cx="6667500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0677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vi-VN" sz="4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Render</a:t>
            </a:r>
            <a:r>
              <a:rPr lang="en-US" sz="4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19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section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smtClean="0"/>
              <a:t>“</a:t>
            </a:r>
            <a:r>
              <a:rPr lang="en-US" dirty="0" err="1" smtClean="0"/>
              <a:t>VietMy</a:t>
            </a:r>
            <a:r>
              <a:rPr lang="en-US" dirty="0" smtClean="0"/>
              <a:t>“ </a:t>
            </a:r>
            <a:r>
              <a:rPr lang="en-US" dirty="0" err="1"/>
              <a:t>trong</a:t>
            </a:r>
            <a:r>
              <a:rPr lang="en-US" dirty="0"/>
              <a:t> _</a:t>
            </a:r>
            <a:r>
              <a:rPr lang="en-US" dirty="0" err="1"/>
              <a:t>Layout.chtml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required </a:t>
            </a:r>
            <a:r>
              <a:rPr lang="en-US" dirty="0" err="1"/>
              <a:t>là</a:t>
            </a:r>
            <a:r>
              <a:rPr lang="en-US" dirty="0"/>
              <a:t> false </a:t>
            </a:r>
            <a:r>
              <a:rPr lang="en-US" dirty="0" err="1"/>
              <a:t>tức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section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view con.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0440" y="3185916"/>
            <a:ext cx="5372566" cy="2842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955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vi-VN" sz="4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Render</a:t>
            </a:r>
            <a:r>
              <a:rPr lang="en-US" sz="4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20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section </a:t>
            </a:r>
            <a:r>
              <a:rPr lang="vi-VN" dirty="0" smtClean="0"/>
              <a:t>VietMy</a:t>
            </a:r>
            <a:r>
              <a:rPr lang="en-US" dirty="0" smtClean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Index view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Run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: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9810" y="1801162"/>
            <a:ext cx="3680779" cy="204233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0965" y="4259414"/>
            <a:ext cx="4435224" cy="191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486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err="1" smtClean="0">
                <a:solidFill>
                  <a:srgbClr val="FFC000"/>
                </a:solidFill>
              </a:rPr>
              <a:t>Hãy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thực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hiện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các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ví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dụ</a:t>
            </a:r>
            <a:endParaRPr lang="en-US" sz="3600" dirty="0">
              <a:solidFill>
                <a:srgbClr val="FFC000"/>
              </a:solidFill>
            </a:endParaRP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0" y="6005146"/>
            <a:ext cx="12054254" cy="792529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0" y="6340475"/>
            <a:ext cx="533400" cy="517525"/>
          </a:xfrm>
          <a:prstGeom prst="rect">
            <a:avLst/>
          </a:prstGeom>
        </p:spPr>
        <p:txBody>
          <a:bodyPr/>
          <a:lstStyle/>
          <a:p>
            <a:fld id="{8AACEE26-D979-411F-B229-D9F26BAEDF07}" type="slidenum">
              <a:rPr lang="en-US" smtClean="0"/>
              <a:t>21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0" dirty="0" smtClean="0">
                <a:solidFill>
                  <a:srgbClr val="FF0000"/>
                </a:solidFill>
              </a:rPr>
              <a:t>				  </a:t>
            </a:r>
            <a:r>
              <a:rPr lang="en-US" sz="6000" dirty="0" smtClean="0">
                <a:solidFill>
                  <a:schemeClr val="bg1"/>
                </a:solidFill>
              </a:rPr>
              <a:t>DEMO</a:t>
            </a:r>
            <a:endParaRPr lang="en-US" sz="6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322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071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err="1">
                <a:solidFill>
                  <a:srgbClr val="FF0000"/>
                </a:solidFill>
                <a:latin typeface="+mn-lt"/>
              </a:rPr>
              <a:t>Truyền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 Data </a:t>
            </a:r>
            <a:r>
              <a:rPr lang="en-US" sz="4800" b="1" dirty="0" err="1">
                <a:solidFill>
                  <a:srgbClr val="FF0000"/>
                </a:solidFill>
                <a:latin typeface="+mn-lt"/>
              </a:rPr>
              <a:t>trong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4800" b="1" dirty="0" err="1">
                <a:solidFill>
                  <a:srgbClr val="FF0000"/>
                </a:solidFill>
                <a:latin typeface="+mn-lt"/>
              </a:rPr>
              <a:t>mvc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22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dirty="0"/>
              <a:t>Trong Asp.Net Core, có thể thực hiện thao tác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vi-VN" dirty="0"/>
              <a:t> khác nhau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C257C0-8686-C241-0A60-CFA832A5E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825" y="2906590"/>
            <a:ext cx="8334375" cy="24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242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err="1">
                <a:solidFill>
                  <a:srgbClr val="FF0000"/>
                </a:solidFill>
                <a:latin typeface="+mn-lt"/>
              </a:rPr>
              <a:t>ViewData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23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3200" dirty="0"/>
              <a:t>ViewData là một thuộc tính của Controller base class</a:t>
            </a:r>
            <a:r>
              <a:rPr lang="en-US" sz="3200" dirty="0"/>
              <a:t>, </a:t>
            </a:r>
            <a:r>
              <a:rPr lang="vi-VN" sz="3200" dirty="0"/>
              <a:t>trả về một đối tượng ViewDataDictionary</a:t>
            </a:r>
            <a:endParaRPr lang="en-US" sz="3200" dirty="0"/>
          </a:p>
          <a:p>
            <a:r>
              <a:rPr lang="vi-VN" sz="3200" dirty="0"/>
              <a:t>ViewDataDictionary là một đối tượng dictionary cho phép lưu dữ liệu dạng key-value</a:t>
            </a:r>
            <a:endParaRPr lang="en-US" sz="3200" dirty="0"/>
          </a:p>
          <a:p>
            <a:r>
              <a:rPr lang="vi-VN" sz="3200" dirty="0"/>
              <a:t>Key phải là một chuỗi không phân biệt chữ hoa thường.</a:t>
            </a:r>
            <a:endParaRPr lang="en-US" sz="3200" dirty="0"/>
          </a:p>
          <a:p>
            <a:r>
              <a:rPr lang="en-US" sz="3200" dirty="0" err="1"/>
              <a:t>ViewData</a:t>
            </a:r>
            <a:r>
              <a:rPr lang="en-US" sz="3200" dirty="0"/>
              <a:t> </a:t>
            </a:r>
            <a:r>
              <a:rPr lang="en-US" sz="3200" dirty="0" err="1"/>
              <a:t>truyền</a:t>
            </a:r>
            <a:r>
              <a:rPr lang="en-US" sz="3200" dirty="0"/>
              <a:t> </a:t>
            </a:r>
            <a:r>
              <a:rPr lang="en-US" sz="3200" dirty="0" err="1"/>
              <a:t>dữ</a:t>
            </a:r>
            <a:r>
              <a:rPr lang="en-US" sz="3200" dirty="0"/>
              <a:t> </a:t>
            </a:r>
            <a:r>
              <a:rPr lang="en-US" sz="3200" dirty="0" err="1"/>
              <a:t>liệu</a:t>
            </a:r>
            <a:r>
              <a:rPr lang="en-US" sz="3200" dirty="0"/>
              <a:t> sang View </a:t>
            </a:r>
            <a:r>
              <a:rPr lang="en-US" sz="3200" dirty="0" err="1"/>
              <a:t>từ</a:t>
            </a:r>
            <a:r>
              <a:rPr lang="en-US" sz="3200" dirty="0"/>
              <a:t> Controller</a:t>
            </a:r>
          </a:p>
          <a:p>
            <a:r>
              <a:rPr lang="en-US" sz="3200" dirty="0" err="1"/>
              <a:t>Tại</a:t>
            </a:r>
            <a:r>
              <a:rPr lang="en-US" sz="3200" dirty="0"/>
              <a:t> </a:t>
            </a:r>
            <a:r>
              <a:rPr lang="vi-VN" sz="3200" dirty="0"/>
              <a:t>View</a:t>
            </a:r>
            <a:r>
              <a:rPr lang="en-US" sz="3200" dirty="0"/>
              <a:t> </a:t>
            </a:r>
            <a:r>
              <a:rPr lang="vi-VN" sz="3200" dirty="0"/>
              <a:t>có thể truy cập giá trị được lưu</a:t>
            </a:r>
            <a:r>
              <a:rPr lang="en-US" sz="3200" dirty="0"/>
              <a:t> </a:t>
            </a:r>
            <a:r>
              <a:rPr lang="vi-VN" sz="3200" dirty="0"/>
              <a:t>trong ViewData</a:t>
            </a:r>
            <a:r>
              <a:rPr lang="vi-VN" sz="3200" b="1" dirty="0"/>
              <a:t> </a:t>
            </a:r>
            <a:r>
              <a:rPr lang="en-US" sz="3200" dirty="0" err="1"/>
              <a:t>thông</a:t>
            </a:r>
            <a:r>
              <a:rPr lang="en-US" sz="3200" dirty="0"/>
              <a:t> qua</a:t>
            </a:r>
            <a:r>
              <a:rPr lang="vi-VN" sz="3200" dirty="0"/>
              <a:t> key</a:t>
            </a:r>
            <a:endParaRPr lang="en-US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82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err="1">
                <a:solidFill>
                  <a:srgbClr val="FF0000"/>
                </a:solidFill>
                <a:latin typeface="+mn-lt"/>
              </a:rPr>
              <a:t>ViewData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24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3200" dirty="0"/>
              <a:t>V</a:t>
            </a:r>
            <a:r>
              <a:rPr lang="en-US" sz="3200" dirty="0"/>
              <a:t>í </a:t>
            </a:r>
            <a:r>
              <a:rPr lang="en-US" sz="3200" dirty="0" err="1"/>
              <a:t>dụ</a:t>
            </a:r>
            <a:r>
              <a:rPr lang="en-US" sz="3200" dirty="0"/>
              <a:t> </a:t>
            </a:r>
            <a:r>
              <a:rPr lang="en-US" sz="3200" dirty="0" err="1"/>
              <a:t>dùng</a:t>
            </a:r>
            <a:r>
              <a:rPr lang="en-US" sz="3200" dirty="0"/>
              <a:t> </a:t>
            </a:r>
            <a:r>
              <a:rPr lang="en-US" sz="3200" dirty="0" err="1"/>
              <a:t>viewdata</a:t>
            </a:r>
            <a:r>
              <a:rPr lang="en-US" sz="3200" dirty="0"/>
              <a:t> </a:t>
            </a:r>
            <a:r>
              <a:rPr lang="en-US" sz="3200" dirty="0" err="1"/>
              <a:t>kiểu</a:t>
            </a:r>
            <a:r>
              <a:rPr lang="en-US" sz="3200" dirty="0"/>
              <a:t> </a:t>
            </a:r>
            <a:r>
              <a:rPr lang="en-US" sz="3200" dirty="0" err="1" smtClean="0"/>
              <a:t>chuỗi</a:t>
            </a:r>
            <a:endParaRPr lang="vi-VN" sz="3200" dirty="0" smtClean="0"/>
          </a:p>
          <a:p>
            <a:endParaRPr lang="vi-VN" sz="3200" dirty="0"/>
          </a:p>
          <a:p>
            <a:endParaRPr lang="vi-VN" sz="3200" dirty="0" smtClean="0"/>
          </a:p>
          <a:p>
            <a:endParaRPr lang="vi-VN" sz="3200" dirty="0"/>
          </a:p>
          <a:p>
            <a:r>
              <a:rPr lang="vi-VN" sz="3200" dirty="0"/>
              <a:t>V</a:t>
            </a:r>
            <a:r>
              <a:rPr lang="en-US" sz="3200" dirty="0"/>
              <a:t>í </a:t>
            </a:r>
            <a:r>
              <a:rPr lang="en-US" sz="3200" dirty="0" err="1"/>
              <a:t>dụ</a:t>
            </a:r>
            <a:r>
              <a:rPr lang="en-US" sz="3200" dirty="0"/>
              <a:t> </a:t>
            </a:r>
            <a:r>
              <a:rPr lang="en-US" sz="3200" dirty="0" err="1"/>
              <a:t>dùng</a:t>
            </a:r>
            <a:r>
              <a:rPr lang="en-US" sz="3200" dirty="0"/>
              <a:t> </a:t>
            </a:r>
            <a:r>
              <a:rPr lang="en-US" sz="3200" dirty="0" err="1"/>
              <a:t>viewdata</a:t>
            </a:r>
            <a:r>
              <a:rPr lang="en-US" sz="3200" dirty="0"/>
              <a:t> </a:t>
            </a:r>
            <a:r>
              <a:rPr lang="en-US" sz="3200" dirty="0" err="1"/>
              <a:t>kiểu</a:t>
            </a:r>
            <a:r>
              <a:rPr lang="en-US" sz="3200" dirty="0"/>
              <a:t> </a:t>
            </a:r>
            <a:r>
              <a:rPr lang="en-US" sz="3200" dirty="0" err="1"/>
              <a:t>đối</a:t>
            </a:r>
            <a:r>
              <a:rPr lang="en-US" sz="3200" dirty="0"/>
              <a:t> t</a:t>
            </a:r>
            <a:r>
              <a:rPr lang="vi-VN" sz="3200" dirty="0"/>
              <a:t>ư</a:t>
            </a:r>
            <a:r>
              <a:rPr lang="en-US" sz="3200" dirty="0" err="1"/>
              <a:t>ợng</a:t>
            </a:r>
            <a:endParaRPr lang="en-US" sz="3200" dirty="0"/>
          </a:p>
          <a:p>
            <a:endParaRPr lang="en-US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7" name="Picture 2" descr="Accessing String Data from ViewData in ASP.NET Core MVC">
            <a:extLst>
              <a:ext uri="{FF2B5EF4-FFF2-40B4-BE49-F238E27FC236}">
                <a16:creationId xmlns:a16="http://schemas.microsoft.com/office/drawing/2014/main" id="{B27B53EE-480B-41D1-AB94-5B24A34C17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9551" y="1657891"/>
            <a:ext cx="6962775" cy="189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Accessing Student Data from ViewData in ASP.NET Core MVC">
            <a:extLst>
              <a:ext uri="{FF2B5EF4-FFF2-40B4-BE49-F238E27FC236}">
                <a16:creationId xmlns:a16="http://schemas.microsoft.com/office/drawing/2014/main" id="{F0B52057-71A0-4218-95AF-CF8CF0E09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915" y="3961897"/>
            <a:ext cx="8059616" cy="2471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8579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err="1">
                <a:solidFill>
                  <a:srgbClr val="FF0000"/>
                </a:solidFill>
                <a:latin typeface="+mn-lt"/>
              </a:rPr>
              <a:t>ViewData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25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dirty="0"/>
              <a:t>V</a:t>
            </a:r>
            <a:r>
              <a:rPr lang="en-US" dirty="0"/>
              <a:t>í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viewdata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product </a:t>
            </a:r>
            <a:r>
              <a:rPr lang="en-US" dirty="0" err="1"/>
              <a:t>từ</a:t>
            </a:r>
            <a:r>
              <a:rPr lang="en-US" dirty="0"/>
              <a:t> controller sang view</a:t>
            </a:r>
          </a:p>
          <a:p>
            <a:r>
              <a:rPr lang="en-US" dirty="0" err="1"/>
              <a:t>Trong</a:t>
            </a:r>
            <a:r>
              <a:rPr lang="en-US" dirty="0"/>
              <a:t> View, </a:t>
            </a:r>
            <a:r>
              <a:rPr lang="en-US" dirty="0" err="1"/>
              <a:t>chúng</a:t>
            </a:r>
            <a:r>
              <a:rPr lang="en-US" dirty="0"/>
              <a:t> ta </a:t>
            </a: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ViewData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sang</a:t>
            </a:r>
          </a:p>
          <a:p>
            <a:pPr marL="0" indent="0">
              <a:buNone/>
            </a:pPr>
            <a:r>
              <a:rPr lang="en-US" dirty="0" err="1"/>
              <a:t>kiểu</a:t>
            </a:r>
            <a:r>
              <a:rPr lang="en-US" dirty="0"/>
              <a:t> </a:t>
            </a:r>
            <a:r>
              <a:rPr lang="en-US" dirty="0" err="1"/>
              <a:t>ProductModel</a:t>
            </a:r>
            <a:r>
              <a:rPr lang="en-US" dirty="0"/>
              <a:t> 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7D7BAF-96FE-4579-B595-ED3E3E7F9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1339" y="1677875"/>
            <a:ext cx="3467100" cy="25781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868B40-A6F1-4039-9D69-547AF422F2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262" y="3461727"/>
            <a:ext cx="4724400" cy="248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415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View</a:t>
            </a:r>
            <a:r>
              <a:rPr lang="vi-VN" sz="4800" b="1" dirty="0" smtClean="0">
                <a:solidFill>
                  <a:srgbClr val="FF0000"/>
                </a:solidFill>
                <a:latin typeface="+mn-lt"/>
              </a:rPr>
              <a:t>Bag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26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dirty="0"/>
              <a:t>ViewBag trong ASP.NET Core MVC là cơ chế truyền dữ liệu từ</a:t>
            </a:r>
            <a:r>
              <a:rPr lang="en-US" dirty="0"/>
              <a:t> controller sang view</a:t>
            </a:r>
          </a:p>
          <a:p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ViewBag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chuỗi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11" name="Picture 2" descr="ViewBag in ASP.NET Core MVC with String Type">
            <a:extLst>
              <a:ext uri="{FF2B5EF4-FFF2-40B4-BE49-F238E27FC236}">
                <a16:creationId xmlns:a16="http://schemas.microsoft.com/office/drawing/2014/main" id="{5F9B8116-7380-4869-9DA0-97E0BB393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645" y="3389618"/>
            <a:ext cx="7401509" cy="2551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0368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View</a:t>
            </a:r>
            <a:r>
              <a:rPr lang="vi-VN" sz="4800" b="1" dirty="0" smtClean="0">
                <a:solidFill>
                  <a:srgbClr val="FF0000"/>
                </a:solidFill>
                <a:latin typeface="+mn-lt"/>
              </a:rPr>
              <a:t>Bag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27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ViewBag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t</a:t>
            </a:r>
            <a:r>
              <a:rPr lang="vi-VN" dirty="0"/>
              <a:t>ư</a:t>
            </a:r>
            <a:r>
              <a:rPr lang="en-US" dirty="0" err="1"/>
              <a:t>ợng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Picture 2" descr="ViewBag in ASP.NET Core MVC with Complex Type">
            <a:extLst>
              <a:ext uri="{FF2B5EF4-FFF2-40B4-BE49-F238E27FC236}">
                <a16:creationId xmlns:a16="http://schemas.microsoft.com/office/drawing/2014/main" id="{9D7E7E22-9A01-4EC2-8A89-E3D7D2CA0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3075" y="2428163"/>
            <a:ext cx="8239125" cy="300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7776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View</a:t>
            </a:r>
            <a:r>
              <a:rPr lang="vi-VN" sz="4800" b="1" dirty="0" smtClean="0">
                <a:solidFill>
                  <a:srgbClr val="FF0000"/>
                </a:solidFill>
                <a:latin typeface="+mn-lt"/>
              </a:rPr>
              <a:t>Bag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28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ViewBag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website</a:t>
            </a:r>
            <a:r>
              <a:rPr lang="en-US" dirty="0" smtClean="0"/>
              <a:t>:</a:t>
            </a:r>
            <a:endParaRPr lang="vi-VN" dirty="0" smtClean="0"/>
          </a:p>
          <a:p>
            <a:endParaRPr lang="vi-VN" dirty="0"/>
          </a:p>
          <a:p>
            <a:endParaRPr lang="vi-VN" dirty="0" smtClean="0"/>
          </a:p>
          <a:p>
            <a:endParaRPr lang="vi-VN" dirty="0"/>
          </a:p>
          <a:p>
            <a:endParaRPr lang="vi-VN" dirty="0" smtClean="0"/>
          </a:p>
          <a:p>
            <a:endParaRPr lang="vi-VN" dirty="0"/>
          </a:p>
          <a:p>
            <a:r>
              <a:rPr lang="en-US" dirty="0"/>
              <a:t>B1: </a:t>
            </a:r>
            <a:r>
              <a:rPr lang="en-US" dirty="0" err="1"/>
              <a:t>tạo</a:t>
            </a:r>
            <a:r>
              <a:rPr lang="en-US" dirty="0"/>
              <a:t> model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9537" y="1745759"/>
            <a:ext cx="3825572" cy="22938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3640" y="4103772"/>
            <a:ext cx="3673158" cy="200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88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View</a:t>
            </a:r>
            <a:r>
              <a:rPr lang="vi-VN" sz="4800" b="1" dirty="0" smtClean="0">
                <a:solidFill>
                  <a:srgbClr val="FF0000"/>
                </a:solidFill>
                <a:latin typeface="+mn-lt"/>
              </a:rPr>
              <a:t>Bag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29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B2: </a:t>
            </a:r>
            <a:r>
              <a:rPr lang="en-US" dirty="0" err="1"/>
              <a:t>tạo</a:t>
            </a:r>
            <a:r>
              <a:rPr lang="en-US" dirty="0"/>
              <a:t> controller:</a:t>
            </a:r>
          </a:p>
          <a:p>
            <a:endParaRPr lang="vi-VN" dirty="0"/>
          </a:p>
          <a:p>
            <a:endParaRPr lang="vi-VN" dirty="0" smtClean="0"/>
          </a:p>
          <a:p>
            <a:endParaRPr lang="vi-VN" dirty="0"/>
          </a:p>
          <a:p>
            <a:endParaRPr lang="vi-VN" dirty="0" smtClean="0"/>
          </a:p>
          <a:p>
            <a:pPr marL="0" indent="0">
              <a:buNone/>
            </a:pPr>
            <a:endParaRPr lang="vi-V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9005" y="2281827"/>
            <a:ext cx="7986452" cy="275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178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View</a:t>
            </a:r>
            <a:r>
              <a:rPr lang="vi-VN" sz="4800" b="1" dirty="0" smtClean="0">
                <a:solidFill>
                  <a:srgbClr val="FF0000"/>
                </a:solidFill>
                <a:latin typeface="+mn-lt"/>
              </a:rPr>
              <a:t>Bag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30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B</a:t>
            </a:r>
            <a:r>
              <a:rPr lang="vi-VN" dirty="0" smtClean="0"/>
              <a:t>3</a:t>
            </a:r>
            <a:r>
              <a:rPr lang="en-US" dirty="0" smtClean="0"/>
              <a:t>: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vi-VN" dirty="0" smtClean="0"/>
              <a:t>view</a:t>
            </a:r>
            <a:r>
              <a:rPr lang="en-US" dirty="0" smtClean="0"/>
              <a:t>:</a:t>
            </a:r>
            <a:endParaRPr lang="en-US" dirty="0"/>
          </a:p>
          <a:p>
            <a:endParaRPr lang="vi-VN" dirty="0"/>
          </a:p>
          <a:p>
            <a:endParaRPr lang="vi-VN" dirty="0" smtClean="0"/>
          </a:p>
          <a:p>
            <a:endParaRPr lang="vi-VN" dirty="0"/>
          </a:p>
          <a:p>
            <a:endParaRPr lang="vi-VN" dirty="0" smtClean="0"/>
          </a:p>
          <a:p>
            <a:pPr marL="0" indent="0">
              <a:buNone/>
            </a:pPr>
            <a:endParaRPr lang="vi-V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7447" y="708187"/>
            <a:ext cx="5944115" cy="5464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546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So </a:t>
            </a:r>
            <a:r>
              <a:rPr lang="en-US" sz="4800" b="1" dirty="0" err="1">
                <a:solidFill>
                  <a:srgbClr val="FF0000"/>
                </a:solidFill>
                <a:latin typeface="+mn-lt"/>
              </a:rPr>
              <a:t>sánh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4800" b="1" dirty="0" err="1">
                <a:solidFill>
                  <a:srgbClr val="FF0000"/>
                </a:solidFill>
                <a:latin typeface="+mn-lt"/>
              </a:rPr>
              <a:t>ViewData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4800" b="1" dirty="0" err="1">
                <a:solidFill>
                  <a:srgbClr val="FF0000"/>
                </a:solidFill>
                <a:latin typeface="+mn-lt"/>
              </a:rPr>
              <a:t>và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4800" b="1" dirty="0" err="1">
                <a:solidFill>
                  <a:srgbClr val="FF0000"/>
                </a:solidFill>
                <a:latin typeface="+mn-lt"/>
              </a:rPr>
              <a:t>ViewBag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31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dirty="0"/>
              <a:t>ViewData : một đối tượng dictionary cho phép lưu dữ liệu dạng key-value</a:t>
            </a:r>
            <a:endParaRPr lang="en-US" dirty="0"/>
          </a:p>
          <a:p>
            <a:r>
              <a:rPr lang="vi-VN" dirty="0"/>
              <a:t>ViewBag sử dụng kiểu động (dynamic), ViewBag có thể tiện dụng hơn để làm việc mà không cần chuyển kiểu</a:t>
            </a:r>
            <a:endParaRPr lang="en-US" dirty="0"/>
          </a:p>
          <a:p>
            <a:r>
              <a:rPr lang="vi-VN" dirty="0"/>
              <a:t>ViewData cho phép sử dụng khoảng trắng trong Key vì nó là một chuỗi. Ví dụ ViewData["Key Detail"]. Nhưng ViewBag thì không thể.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971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So </a:t>
            </a:r>
            <a:r>
              <a:rPr lang="en-US" sz="4800" b="1" dirty="0" err="1">
                <a:solidFill>
                  <a:srgbClr val="FF0000"/>
                </a:solidFill>
                <a:latin typeface="+mn-lt"/>
              </a:rPr>
              <a:t>sánh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4800" b="1" dirty="0" err="1">
                <a:solidFill>
                  <a:srgbClr val="FF0000"/>
                </a:solidFill>
                <a:latin typeface="+mn-lt"/>
              </a:rPr>
              <a:t>ViewData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4800" b="1" dirty="0" err="1">
                <a:solidFill>
                  <a:srgbClr val="FF0000"/>
                </a:solidFill>
                <a:latin typeface="+mn-lt"/>
              </a:rPr>
              <a:t>và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4800" b="1" dirty="0" err="1">
                <a:solidFill>
                  <a:srgbClr val="FF0000"/>
                </a:solidFill>
                <a:latin typeface="+mn-lt"/>
              </a:rPr>
              <a:t>ViewBag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32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ViewData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chuỗi</a:t>
            </a:r>
            <a:r>
              <a:rPr lang="en-US" dirty="0"/>
              <a:t>.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vậy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null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tránh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. </a:t>
            </a:r>
          </a:p>
          <a:p>
            <a:r>
              <a:rPr lang="vi-VN" dirty="0"/>
              <a:t>Check null đơn giản hơn trong ViewBag. Ví dụ: @ViewBag.Person?.Name.</a:t>
            </a:r>
            <a:endParaRPr lang="en-US" dirty="0"/>
          </a:p>
          <a:p>
            <a:r>
              <a:rPr lang="vi-VN" dirty="0"/>
              <a:t>View nào mà được kết hợp với một kiểu cụ thể của ViewModel thì được gọi là Strongly Typed View </a:t>
            </a:r>
            <a:endParaRPr lang="en-US" dirty="0"/>
          </a:p>
          <a:p>
            <a:r>
              <a:rPr lang="vi-VN" dirty="0"/>
              <a:t>Strongly Typed View khuyến khích dùng, nó có thể kiểm tra lỗi trong lúc build còn ViewData, ViewBag chỉ báo lỗi khi chạy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28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err="1">
                <a:solidFill>
                  <a:srgbClr val="FF0000"/>
                </a:solidFill>
                <a:latin typeface="+mn-lt"/>
              </a:rPr>
              <a:t>TempData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33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dirty="0"/>
              <a:t>TempData có thể được sử dụng để lưu trữ dữ liệu giữa hai yêu cầu liên tiếp. Giá trị TempData sẽ được giữ lại trong quá trình chuyển hướng.</a:t>
            </a:r>
          </a:p>
          <a:p>
            <a:r>
              <a:rPr lang="vi-VN" dirty="0"/>
              <a:t>TemData là một kiểu TempDataDictionary.</a:t>
            </a:r>
          </a:p>
          <a:p>
            <a:r>
              <a:rPr lang="vi-VN" dirty="0"/>
              <a:t>TempData sử dụng  Session để lưu trữ dữ liệu.</a:t>
            </a:r>
          </a:p>
          <a:p>
            <a:r>
              <a:rPr lang="vi-VN" dirty="0"/>
              <a:t>Giá trị của TempData phải được ép kiểu trước khi sử dụng.Kiểm tra giá trị null để tránh lỗi thực thi.</a:t>
            </a:r>
          </a:p>
          <a:p>
            <a:r>
              <a:rPr lang="vi-VN" dirty="0"/>
              <a:t>TempData chỉ có thể được sử dụng để lưu trữ các thông báo một lần như thông báo lỗi, thông báo xác thực.</a:t>
            </a:r>
          </a:p>
          <a:p>
            <a:r>
              <a:rPr lang="vi-VN" dirty="0"/>
              <a:t>Gọi TempData.Keep() để giữ lại các giá trị TempData trong yêu cầu thứ ba tiếp theo.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857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err="1" smtClean="0">
                <a:solidFill>
                  <a:srgbClr val="FFC000"/>
                </a:solidFill>
              </a:rPr>
              <a:t>Hãy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thực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hiện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các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ví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dụ</a:t>
            </a:r>
            <a:endParaRPr lang="en-US" sz="3600" dirty="0">
              <a:solidFill>
                <a:srgbClr val="FFC000"/>
              </a:solidFill>
            </a:endParaRP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0" y="6005146"/>
            <a:ext cx="12054254" cy="792529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0" y="6340475"/>
            <a:ext cx="533400" cy="517525"/>
          </a:xfrm>
          <a:prstGeom prst="rect">
            <a:avLst/>
          </a:prstGeom>
        </p:spPr>
        <p:txBody>
          <a:bodyPr/>
          <a:lstStyle/>
          <a:p>
            <a:fld id="{8AACEE26-D979-411F-B229-D9F26BAEDF07}" type="slidenum">
              <a:rPr lang="en-US" smtClean="0"/>
              <a:t>34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0" dirty="0" smtClean="0">
                <a:solidFill>
                  <a:srgbClr val="FF0000"/>
                </a:solidFill>
              </a:rPr>
              <a:t>				  </a:t>
            </a:r>
            <a:r>
              <a:rPr lang="en-US" sz="6000" dirty="0" smtClean="0">
                <a:solidFill>
                  <a:schemeClr val="bg1"/>
                </a:solidFill>
              </a:rPr>
              <a:t>DEMO</a:t>
            </a:r>
            <a:endParaRPr lang="en-US" sz="6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322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993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850" y="2057401"/>
            <a:ext cx="10511204" cy="397412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vi-VN" sz="3200" dirty="0" smtClean="0"/>
              <a:t/>
            </a:r>
            <a:br>
              <a:rPr lang="vi-VN" sz="3200" dirty="0" smtClean="0"/>
            </a:br>
            <a:r>
              <a:rPr lang="vi-VN" sz="3200" dirty="0"/>
              <a:t/>
            </a:r>
            <a:br>
              <a:rPr lang="vi-VN" sz="3200" dirty="0"/>
            </a:br>
            <a:r>
              <a:rPr lang="vi-VN" sz="3200" dirty="0" smtClean="0"/>
              <a:t/>
            </a:r>
            <a:br>
              <a:rPr lang="vi-VN" sz="3200" dirty="0" smtClean="0"/>
            </a:br>
            <a:r>
              <a:rPr lang="en-US" sz="3200" dirty="0" smtClean="0">
                <a:solidFill>
                  <a:srgbClr val="FFC000"/>
                </a:solidFill>
              </a:rPr>
              <a:t>Layout </a:t>
            </a:r>
            <a:r>
              <a:rPr lang="en-US" sz="3200" dirty="0">
                <a:solidFill>
                  <a:srgbClr val="FFC000"/>
                </a:solidFill>
              </a:rPr>
              <a:t>page Views</a:t>
            </a:r>
            <a:br>
              <a:rPr lang="en-US" sz="3200" dirty="0">
                <a:solidFill>
                  <a:srgbClr val="FFC000"/>
                </a:solidFill>
              </a:rPr>
            </a:br>
            <a:r>
              <a:rPr lang="en-US" sz="3200" dirty="0" err="1">
                <a:solidFill>
                  <a:srgbClr val="FFC000"/>
                </a:solidFill>
              </a:rPr>
              <a:t>ViewData</a:t>
            </a:r>
            <a:r>
              <a:rPr lang="en-US" sz="3200" dirty="0">
                <a:solidFill>
                  <a:srgbClr val="FFC000"/>
                </a:solidFill>
              </a:rPr>
              <a:t/>
            </a:r>
            <a:br>
              <a:rPr lang="en-US" sz="3200" dirty="0">
                <a:solidFill>
                  <a:srgbClr val="FFC000"/>
                </a:solidFill>
              </a:rPr>
            </a:br>
            <a:r>
              <a:rPr lang="en-US" sz="3200" dirty="0" err="1">
                <a:solidFill>
                  <a:srgbClr val="FFC000"/>
                </a:solidFill>
              </a:rPr>
              <a:t>ViewBag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nl-NL" sz="3200" dirty="0"/>
              <a:t/>
            </a:r>
            <a:br>
              <a:rPr lang="nl-NL" sz="3200" dirty="0"/>
            </a:br>
            <a:r>
              <a:rPr lang="en-US" sz="3200" dirty="0"/>
              <a:t/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-1" y="6296202"/>
            <a:ext cx="11933241" cy="489129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 smtClean="0"/>
              <a:t>L</a:t>
            </a:r>
            <a:r>
              <a:rPr lang="vi-VN" dirty="0" smtClean="0"/>
              <a:t>ập </a:t>
            </a:r>
            <a:r>
              <a:rPr lang="vi-VN" dirty="0"/>
              <a:t>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 flipH="1">
            <a:off x="888523" y="6155524"/>
            <a:ext cx="3894491" cy="514057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1	</a:t>
            </a:r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0" dirty="0" smtClean="0">
                <a:solidFill>
                  <a:srgbClr val="FF0000"/>
                </a:solidFill>
              </a:rPr>
              <a:t>			</a:t>
            </a:r>
            <a:r>
              <a:rPr lang="en-US" sz="6000" dirty="0" err="1" smtClean="0">
                <a:solidFill>
                  <a:schemeClr val="bg1"/>
                </a:solidFill>
              </a:rPr>
              <a:t>Tổng</a:t>
            </a:r>
            <a:r>
              <a:rPr lang="en-US" sz="6000" dirty="0" smtClean="0">
                <a:solidFill>
                  <a:schemeClr val="bg1"/>
                </a:solidFill>
              </a:rPr>
              <a:t> </a:t>
            </a:r>
            <a:r>
              <a:rPr lang="en-US" sz="6000" dirty="0" err="1" smtClean="0">
                <a:solidFill>
                  <a:schemeClr val="bg1"/>
                </a:solidFill>
              </a:rPr>
              <a:t>kết</a:t>
            </a:r>
            <a:r>
              <a:rPr lang="en-US" sz="6000" dirty="0" smtClean="0">
                <a:solidFill>
                  <a:schemeClr val="bg1"/>
                </a:solidFill>
              </a:rPr>
              <a:t> </a:t>
            </a:r>
            <a:r>
              <a:rPr lang="en-US" sz="6000" dirty="0" err="1" smtClean="0">
                <a:solidFill>
                  <a:schemeClr val="bg1"/>
                </a:solidFill>
              </a:rPr>
              <a:t>bài</a:t>
            </a:r>
            <a:r>
              <a:rPr lang="en-US" sz="6000" dirty="0" smtClean="0">
                <a:solidFill>
                  <a:schemeClr val="bg1"/>
                </a:solidFill>
              </a:rPr>
              <a:t> </a:t>
            </a:r>
            <a:r>
              <a:rPr lang="en-US" sz="6000" dirty="0" err="1" smtClean="0">
                <a:solidFill>
                  <a:schemeClr val="bg1"/>
                </a:solidFill>
              </a:rPr>
              <a:t>học</a:t>
            </a:r>
            <a:endParaRPr lang="en-US" sz="6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322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702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dernClassicBlock-3">
  <a:themeElements>
    <a:clrScheme name="MSFT_ELT_ModernClassicBlock_03">
      <a:dk1>
        <a:sysClr val="windowText" lastClr="000000"/>
      </a:dk1>
      <a:lt1>
        <a:sysClr val="window" lastClr="FFFFFF"/>
      </a:lt1>
      <a:dk2>
        <a:srgbClr val="43467B"/>
      </a:dk2>
      <a:lt2>
        <a:srgbClr val="DFE3E5"/>
      </a:lt2>
      <a:accent1>
        <a:srgbClr val="43467B"/>
      </a:accent1>
      <a:accent2>
        <a:srgbClr val="E58C09"/>
      </a:accent2>
      <a:accent3>
        <a:srgbClr val="2683C6"/>
      </a:accent3>
      <a:accent4>
        <a:srgbClr val="EEC621"/>
      </a:accent4>
      <a:accent5>
        <a:srgbClr val="1D9BA1"/>
      </a:accent5>
      <a:accent6>
        <a:srgbClr val="87175F"/>
      </a:accent6>
      <a:hlink>
        <a:srgbClr val="0070C0"/>
      </a:hlink>
      <a:folHlink>
        <a:srgbClr val="C00000"/>
      </a:folHlink>
    </a:clrScheme>
    <a:fontScheme name="MSFT_ELT_ModernClassicBlock_03">
      <a:majorFont>
        <a:latin typeface="Tw Cen MT Condensed"/>
        <a:ea typeface=""/>
        <a:cs typeface=""/>
      </a:majorFont>
      <a:minorFont>
        <a:latin typeface="Tw Cen MT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LT_Template_ModernClassicBlockLT_v4" id="{30DDF308-B484-4DB0-8959-4BA762476498}" vid="{49FD44A8-5F40-4E6E-BC83-04BD3C4DB240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1328</Words>
  <Application>Microsoft Office PowerPoint</Application>
  <PresentationFormat>Widescreen</PresentationFormat>
  <Paragraphs>233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35</vt:i4>
      </vt:variant>
    </vt:vector>
  </HeadingPairs>
  <TitlesOfParts>
    <vt:vector size="49" baseType="lpstr">
      <vt:lpstr>Arial</vt:lpstr>
      <vt:lpstr>Calibri</vt:lpstr>
      <vt:lpstr>Calibri Light</vt:lpstr>
      <vt:lpstr>Courier New</vt:lpstr>
      <vt:lpstr>Roboto</vt:lpstr>
      <vt:lpstr>Roboto Lt</vt:lpstr>
      <vt:lpstr>Segoe UI</vt:lpstr>
      <vt:lpstr>Tw Cen MT</vt:lpstr>
      <vt:lpstr>Tw Cen MT Condensed</vt:lpstr>
      <vt:lpstr>Wingdings</vt:lpstr>
      <vt:lpstr>Wingdings 3</vt:lpstr>
      <vt:lpstr>Office Theme</vt:lpstr>
      <vt:lpstr>ModernClassicBlock-3</vt:lpstr>
      <vt:lpstr>Custom Design</vt:lpstr>
      <vt:lpstr>Lập Trình C#3</vt:lpstr>
      <vt:lpstr>Mục tiêu</vt:lpstr>
      <vt:lpstr>Tổng quan View</vt:lpstr>
      <vt:lpstr>Tổng quan View</vt:lpstr>
      <vt:lpstr>Tổng quan View</vt:lpstr>
      <vt:lpstr>Create View</vt:lpstr>
      <vt:lpstr>Create View</vt:lpstr>
      <vt:lpstr>Create View</vt:lpstr>
      <vt:lpstr>Create View</vt:lpstr>
      <vt:lpstr>Layout page Views</vt:lpstr>
      <vt:lpstr>Layout page Views</vt:lpstr>
      <vt:lpstr>Layout page Views</vt:lpstr>
      <vt:lpstr>Layout page Views</vt:lpstr>
      <vt:lpstr>Layout page Views</vt:lpstr>
      <vt:lpstr>Layout page Views</vt:lpstr>
      <vt:lpstr>Layout page Views</vt:lpstr>
      <vt:lpstr>RenderSection</vt:lpstr>
      <vt:lpstr>RenderSection</vt:lpstr>
      <vt:lpstr>RenderSection</vt:lpstr>
      <vt:lpstr>RenderSection</vt:lpstr>
      <vt:lpstr>Hãy thực hiện các ví dụ</vt:lpstr>
      <vt:lpstr>Truyền Data trong mvc</vt:lpstr>
      <vt:lpstr>ViewData</vt:lpstr>
      <vt:lpstr>ViewData</vt:lpstr>
      <vt:lpstr>ViewData</vt:lpstr>
      <vt:lpstr>ViewBag</vt:lpstr>
      <vt:lpstr>ViewBag</vt:lpstr>
      <vt:lpstr>ViewBag</vt:lpstr>
      <vt:lpstr>ViewBag</vt:lpstr>
      <vt:lpstr>ViewBag</vt:lpstr>
      <vt:lpstr>So sánh ViewData và ViewBag</vt:lpstr>
      <vt:lpstr>So sánh ViewData và ViewBag</vt:lpstr>
      <vt:lpstr>TempData</vt:lpstr>
      <vt:lpstr>Hãy thực hiện các ví dụ</vt:lpstr>
      <vt:lpstr>   Layout page Views ViewData ViewBag   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Lập Trình C#3</dc:title>
  <dc:creator>Nguy Nguyen Uy Vu</dc:creator>
  <cp:lastModifiedBy>Nguy Nguyen Uy Vu</cp:lastModifiedBy>
  <cp:revision>40</cp:revision>
  <dcterms:created xsi:type="dcterms:W3CDTF">2024-12-10T15:23:11Z</dcterms:created>
  <dcterms:modified xsi:type="dcterms:W3CDTF">2024-12-15T15:36:01Z</dcterms:modified>
</cp:coreProperties>
</file>