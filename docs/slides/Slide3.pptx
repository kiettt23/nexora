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717" r:id="rId3"/>
  </p:sldMasterIdLst>
  <p:notesMasterIdLst>
    <p:notesMasterId r:id="rId35"/>
  </p:notesMasterIdLst>
  <p:sldIdLst>
    <p:sldId id="257" r:id="rId4"/>
    <p:sldId id="258" r:id="rId5"/>
    <p:sldId id="259" r:id="rId6"/>
    <p:sldId id="307" r:id="rId7"/>
    <p:sldId id="309" r:id="rId8"/>
    <p:sldId id="310" r:id="rId9"/>
    <p:sldId id="311" r:id="rId10"/>
    <p:sldId id="312" r:id="rId11"/>
    <p:sldId id="313" r:id="rId12"/>
    <p:sldId id="272" r:id="rId13"/>
    <p:sldId id="314" r:id="rId14"/>
    <p:sldId id="315" r:id="rId15"/>
    <p:sldId id="316" r:id="rId16"/>
    <p:sldId id="317" r:id="rId17"/>
    <p:sldId id="285" r:id="rId18"/>
    <p:sldId id="318" r:id="rId19"/>
    <p:sldId id="319" r:id="rId20"/>
    <p:sldId id="320" r:id="rId21"/>
    <p:sldId id="321" r:id="rId22"/>
    <p:sldId id="322" r:id="rId23"/>
    <p:sldId id="323" r:id="rId24"/>
    <p:sldId id="324" r:id="rId25"/>
    <p:sldId id="325" r:id="rId26"/>
    <p:sldId id="326" r:id="rId27"/>
    <p:sldId id="327" r:id="rId28"/>
    <p:sldId id="328" r:id="rId29"/>
    <p:sldId id="329" r:id="rId30"/>
    <p:sldId id="330" r:id="rId31"/>
    <p:sldId id="331" r:id="rId32"/>
    <p:sldId id="332" r:id="rId33"/>
    <p:sldId id="28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667F05-D95D-49FE-87B7-67C84346D2CD}" type="datetimeFigureOut">
              <a:rPr lang="en-US" smtClean="0"/>
              <a:t>12/11/2024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6582C-81C5-4156-B658-E10D67690796}" type="slidenum">
              <a:rPr lang="en-US" smtClean="0"/>
              <a:t>‹#›</a:t>
            </a:fld>
            <a:endParaRPr lang="en-US"/>
          </a:p>
        </p:txBody>
      </p:sp>
    </p:spTree>
    <p:extLst>
      <p:ext uri="{BB962C8B-B14F-4D97-AF65-F5344CB8AC3E}">
        <p14:creationId xmlns:p14="http://schemas.microsoft.com/office/powerpoint/2010/main" val="1548047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AE5FABD-26C8-4F74-B1E3-45BC91BC9D7B}" type="slidenum">
              <a:rPr kumimoji="0" lang="en-US" sz="1200" b="0" i="0" u="none" strike="noStrike" kern="1200" cap="none" spc="0" normalizeH="0" baseline="0" noProof="0" smtClean="0">
                <a:ln>
                  <a:noFill/>
                </a:ln>
                <a:solidFill>
                  <a:prstClr val="black"/>
                </a:solidFill>
                <a:effectLst/>
                <a:uLnTx/>
                <a:uFillTx/>
                <a:latin typeface="Tw Cen MT" panose="020B0602020104020603"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Tw Cen MT" panose="020B0602020104020603" pitchFamily="34" charset="0"/>
              <a:ea typeface="+mn-ea"/>
              <a:cs typeface="+mn-cs"/>
            </a:endParaRPr>
          </a:p>
        </p:txBody>
      </p:sp>
    </p:spTree>
    <p:extLst>
      <p:ext uri="{BB962C8B-B14F-4D97-AF65-F5344CB8AC3E}">
        <p14:creationId xmlns:p14="http://schemas.microsoft.com/office/powerpoint/2010/main" val="2358521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275492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402328499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DF40E0-E6EB-4A06-A23A-FAEAF1FE809C}"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289189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CDF40E0-E6EB-4A06-A23A-FAEAF1FE809C}"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1231448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CDF40E0-E6EB-4A06-A23A-FAEAF1FE809C}" type="datetimeFigureOut">
              <a:rPr lang="en-US" smtClean="0"/>
              <a:t>12/11/2024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18169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CDF40E0-E6EB-4A06-A23A-FAEAF1FE809C}" type="datetimeFigureOut">
              <a:rPr lang="en-US" smtClean="0"/>
              <a:t>12/11/2024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712972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F40E0-E6EB-4A06-A23A-FAEAF1FE809C}" type="datetimeFigureOut">
              <a:rPr lang="en-US" smtClean="0"/>
              <a:t>12/11/2024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002582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DF40E0-E6EB-4A06-A23A-FAEAF1FE809C}"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57448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DF40E0-E6EB-4A06-A23A-FAEAF1FE809C}"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34117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950809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1331329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4219262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579988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559187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Tree>
    <p:extLst>
      <p:ext uri="{BB962C8B-B14F-4D97-AF65-F5344CB8AC3E}">
        <p14:creationId xmlns:p14="http://schemas.microsoft.com/office/powerpoint/2010/main" val="26731269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Tree>
    <p:extLst>
      <p:ext uri="{BB962C8B-B14F-4D97-AF65-F5344CB8AC3E}">
        <p14:creationId xmlns:p14="http://schemas.microsoft.com/office/powerpoint/2010/main" val="95020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2723546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9214104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8606179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76289332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07286216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3365751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91273385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6867312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3408393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1224364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2432082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4217571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16850532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365806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594581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58486468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46557352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9615914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233176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 xmlns:adec="http://schemas.microsoft.com/office/drawing/2017/decorative"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7532426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714071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smtClean="0"/>
              <a:t>Click to edit Master title style</a:t>
            </a:r>
            <a:endParaRPr lang="en-US"/>
          </a:p>
        </p:txBody>
      </p:sp>
    </p:spTree>
    <p:extLst>
      <p:ext uri="{BB962C8B-B14F-4D97-AF65-F5344CB8AC3E}">
        <p14:creationId xmlns:p14="http://schemas.microsoft.com/office/powerpoint/2010/main" val="82629067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smtClean="0"/>
              <a:t>Click to edit Master title style</a:t>
            </a:r>
            <a:endParaRPr lang="en-US"/>
          </a:p>
        </p:txBody>
      </p:sp>
    </p:spTree>
    <p:extLst>
      <p:ext uri="{BB962C8B-B14F-4D97-AF65-F5344CB8AC3E}">
        <p14:creationId xmlns:p14="http://schemas.microsoft.com/office/powerpoint/2010/main" val="58023510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smtClean="0"/>
              <a:t>Click to edit Master title style</a:t>
            </a:r>
            <a:endParaRPr lang="en-US"/>
          </a:p>
        </p:txBody>
      </p:sp>
    </p:spTree>
    <p:extLst>
      <p:ext uri="{BB962C8B-B14F-4D97-AF65-F5344CB8AC3E}">
        <p14:creationId xmlns:p14="http://schemas.microsoft.com/office/powerpoint/2010/main" val="25181788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smtClean="0"/>
              <a:t>Click to edit Master title style</a:t>
            </a:r>
            <a:endParaRPr lang="en-US"/>
          </a:p>
        </p:txBody>
      </p:sp>
    </p:spTree>
    <p:extLst>
      <p:ext uri="{BB962C8B-B14F-4D97-AF65-F5344CB8AC3E}">
        <p14:creationId xmlns:p14="http://schemas.microsoft.com/office/powerpoint/2010/main" val="37890203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 xmlns:adec="http://schemas.microsoft.com/office/drawing/2017/decorative"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58251957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 xmlns:adec="http://schemas.microsoft.com/office/drawing/2017/decorative"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 xmlns:adec="http://schemas.microsoft.com/office/drawing/2017/decorative"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67633102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 xmlns:adec="http://schemas.microsoft.com/office/drawing/2017/decorative"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16543910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 xmlns:adec="http://schemas.microsoft.com/office/drawing/2017/decorative"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 xmlns:adec="http://schemas.microsoft.com/office/drawing/2017/decorative"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37721809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54017090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294815090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128842359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62787860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7437377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74826867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866303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7984270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0113903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8278662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5527909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4912682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smtClean="0"/>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381245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718561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2150082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967235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417532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563623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837518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420068869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5225001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38831613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B4B414-6006-A545-91A5-6439F57339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5486400" y="4038600"/>
            <a:ext cx="6705600" cy="830884"/>
          </a:xfrm>
        </p:spPr>
        <p:txBody>
          <a:bodyPr>
            <a:normAutofit/>
          </a:bodyPr>
          <a:lstStyle>
            <a:lvl1pPr algn="l">
              <a:defRPr sz="36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stStyle>
          <a:p>
            <a:r>
              <a:rPr lang="en-US" dirty="0" err="1"/>
              <a:t>Lập</a:t>
            </a:r>
            <a:r>
              <a:rPr lang="en-US" dirty="0"/>
              <a:t> </a:t>
            </a:r>
            <a:r>
              <a:rPr lang="en-US" dirty="0" err="1"/>
              <a:t>trình</a:t>
            </a:r>
            <a:r>
              <a:rPr lang="en-US" dirty="0"/>
              <a:t> java </a:t>
            </a:r>
            <a:r>
              <a:rPr lang="en-US" dirty="0" err="1"/>
              <a:t>cơ</a:t>
            </a:r>
            <a:r>
              <a:rPr lang="en-US" dirty="0"/>
              <a:t> </a:t>
            </a:r>
            <a:r>
              <a:rPr lang="en-US" dirty="0" err="1"/>
              <a:t>bản</a:t>
            </a:r>
            <a:endParaRPr lang="en-US" dirty="0"/>
          </a:p>
        </p:txBody>
      </p:sp>
      <p:sp>
        <p:nvSpPr>
          <p:cNvPr id="3" name="Subtitle 2"/>
          <p:cNvSpPr>
            <a:spLocks noGrp="1"/>
          </p:cNvSpPr>
          <p:nvPr>
            <p:ph type="subTitle" idx="1"/>
          </p:nvPr>
        </p:nvSpPr>
        <p:spPr>
          <a:xfrm>
            <a:off x="5486400" y="4724400"/>
            <a:ext cx="6705600" cy="990600"/>
          </a:xfrm>
        </p:spPr>
        <p:txBody>
          <a:bodyPr>
            <a:normAutofit/>
          </a:bodyPr>
          <a:lstStyle>
            <a:lvl1pPr marL="0" indent="0" algn="l">
              <a:buNone/>
              <a:defRPr sz="22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026" name="Picture 2" descr="Résultat de recherche d'images pour &quot;testing&quot;"/>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329388" y="2439665"/>
            <a:ext cx="2827624" cy="203489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302C30FD-63C3-C741-9C8B-9481A688A74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1200" y="381000"/>
            <a:ext cx="3968885" cy="1295400"/>
          </a:xfrm>
          <a:prstGeom prst="rect">
            <a:avLst/>
          </a:prstGeom>
        </p:spPr>
      </p:pic>
    </p:spTree>
    <p:extLst>
      <p:ext uri="{BB962C8B-B14F-4D97-AF65-F5344CB8AC3E}">
        <p14:creationId xmlns:p14="http://schemas.microsoft.com/office/powerpoint/2010/main" val="413345337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43200" y="274638"/>
            <a:ext cx="8839200" cy="487362"/>
          </a:xfrm>
        </p:spPr>
        <p:txBody>
          <a:bodyPr>
            <a:noAutofit/>
          </a:bodyPr>
          <a:lstStyle>
            <a:lvl1pPr algn="r">
              <a:defRPr sz="28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stStyle>
          <a:p>
            <a:r>
              <a:rPr lang="en-US" dirty="0"/>
              <a:t>Click to edit Master title style</a:t>
            </a:r>
          </a:p>
        </p:txBody>
      </p:sp>
      <p:sp>
        <p:nvSpPr>
          <p:cNvPr id="3" name="Content Placeholder 2"/>
          <p:cNvSpPr>
            <a:spLocks noGrp="1"/>
          </p:cNvSpPr>
          <p:nvPr>
            <p:ph idx="1"/>
          </p:nvPr>
        </p:nvSpPr>
        <p:spPr>
          <a:xfrm>
            <a:off x="609600" y="1066800"/>
            <a:ext cx="10972800" cy="5257800"/>
          </a:xfrm>
        </p:spPr>
        <p:txBody>
          <a:bodyPr>
            <a:normAutofit/>
          </a:bodyPr>
          <a:lstStyle>
            <a:lvl1pPr marL="342900" indent="-342900">
              <a:buClr>
                <a:srgbClr val="FF5A33"/>
              </a:buClr>
              <a:buFont typeface="Wingdings" pitchFamily="2" charset="2"/>
              <a:buChar char="q"/>
              <a:defRPr sz="2800">
                <a:latin typeface="Segoe UI" pitchFamily="34" charset="0"/>
                <a:cs typeface="Segoe UI" pitchFamily="34" charset="0"/>
              </a:defRPr>
            </a:lvl1pPr>
            <a:lvl2pPr marL="742950" indent="-285750">
              <a:buClr>
                <a:srgbClr val="FF5A33"/>
              </a:buClr>
              <a:buFont typeface="Wingdings" pitchFamily="2" charset="2"/>
              <a:buChar char="v"/>
              <a:defRPr sz="2400">
                <a:latin typeface="Segoe UI" pitchFamily="34" charset="0"/>
                <a:cs typeface="Segoe UI" pitchFamily="34" charset="0"/>
              </a:defRPr>
            </a:lvl2pPr>
            <a:lvl3pPr marL="1143000" indent="-228600">
              <a:buClr>
                <a:srgbClr val="FF5A33"/>
              </a:buClr>
              <a:buFont typeface="Wingdings" pitchFamily="2" charset="2"/>
              <a:buChar char="Ø"/>
              <a:defRPr sz="2000">
                <a:latin typeface="Segoe UI" pitchFamily="34" charset="0"/>
                <a:cs typeface="Segoe UI" pitchFamily="34" charset="0"/>
              </a:defRPr>
            </a:lvl3pPr>
            <a:lvl4pPr marL="1600200" indent="-228600">
              <a:buClr>
                <a:srgbClr val="FF5A33"/>
              </a:buClr>
              <a:buFont typeface="Wingdings" pitchFamily="2" charset="2"/>
              <a:buChar char="ü"/>
              <a:defRPr sz="1800">
                <a:latin typeface="Segoe UI" pitchFamily="34" charset="0"/>
                <a:cs typeface="Segoe UI" pitchFamily="34" charset="0"/>
              </a:defRPr>
            </a:lvl4pPr>
            <a:lvl5pPr marL="2057400" indent="-228600">
              <a:buClr>
                <a:srgbClr val="FF5A33"/>
              </a:buClr>
              <a:buFont typeface="Wingdings" pitchFamily="2" charset="2"/>
              <a:buChar char="§"/>
              <a:defRPr sz="1800">
                <a:latin typeface="Segoe UI" pitchFamily="34" charset="0"/>
                <a:cs typeface="Segoe U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029F313-9C13-47C6-A228-B55986214473}" type="datetime1">
              <a:rPr lang="en-US" smtClean="0"/>
              <a:t>12/11/2024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218719"/>
            <a:ext cx="2032000" cy="461818"/>
          </a:xfrm>
          <a:prstGeom prst="rect">
            <a:avLst/>
          </a:prstGeom>
        </p:spPr>
      </p:pic>
      <p:cxnSp>
        <p:nvCxnSpPr>
          <p:cNvPr id="9" name="Straight Connector 8"/>
          <p:cNvCxnSpPr/>
          <p:nvPr userDrawn="1"/>
        </p:nvCxnSpPr>
        <p:spPr>
          <a:xfrm>
            <a:off x="609600" y="838200"/>
            <a:ext cx="109728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7983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8A6EF9-73EC-47CA-9E52-574751B1CDA3}" type="datetime1">
              <a:rPr lang="en-US" smtClean="0"/>
              <a:t>12/11/2024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77109653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D9F786-C4DF-431A-9246-1EC1829B2C78}" type="datetime1">
              <a:rPr lang="en-US" smtClean="0"/>
              <a:t>12/11/2024</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213895746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E59D84-263E-478C-94B6-63AC70204759}" type="datetime1">
              <a:rPr lang="en-US" smtClean="0"/>
              <a:t>12/11/2024</a:t>
            </a:fld>
            <a:endParaRPr lang="en-US"/>
          </a:p>
        </p:txBody>
      </p:sp>
      <p:sp>
        <p:nvSpPr>
          <p:cNvPr id="8" name="Footer Placeholder 7"/>
          <p:cNvSpPr>
            <a:spLocks noGrp="1"/>
          </p:cNvSpPr>
          <p:nvPr>
            <p:ph type="ftr" sz="quarter" idx="11"/>
          </p:nvPr>
        </p:nvSpPr>
        <p:spPr/>
        <p:txBody>
          <a:bodyPr/>
          <a:lstStyle/>
          <a:p>
            <a:r>
              <a:rPr lang="vi-VN"/>
              <a:t>Lập trình C#3</a:t>
            </a:r>
            <a:endParaRPr lang="en-US"/>
          </a:p>
        </p:txBody>
      </p:sp>
      <p:sp>
        <p:nvSpPr>
          <p:cNvPr id="9" name="Slide Number Placeholder 8"/>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89538223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23D8565-00B5-4601-AD26-950DAB626426}" type="datetime1">
              <a:rPr lang="en-US" smtClean="0"/>
              <a:t>12/11/2024</a:t>
            </a:fld>
            <a:endParaRPr lang="en-US"/>
          </a:p>
        </p:txBody>
      </p:sp>
      <p:sp>
        <p:nvSpPr>
          <p:cNvPr id="4" name="Footer Placeholder 3"/>
          <p:cNvSpPr>
            <a:spLocks noGrp="1"/>
          </p:cNvSpPr>
          <p:nvPr>
            <p:ph type="ftr" sz="quarter" idx="11"/>
          </p:nvPr>
        </p:nvSpPr>
        <p:spPr/>
        <p:txBody>
          <a:bodyPr/>
          <a:lstStyle/>
          <a:p>
            <a:r>
              <a:rPr lang="vi-VN"/>
              <a:t>Lập trình C#3</a:t>
            </a:r>
            <a:endParaRPr lang="en-US"/>
          </a:p>
        </p:txBody>
      </p:sp>
      <p:sp>
        <p:nvSpPr>
          <p:cNvPr id="5" name="Slide Number Placeholder 4"/>
          <p:cNvSpPr>
            <a:spLocks noGrp="1"/>
          </p:cNvSpPr>
          <p:nvPr>
            <p:ph type="sldNum" sz="quarter" idx="12"/>
          </p:nvPr>
        </p:nvSpPr>
        <p:spPr/>
        <p:txBody>
          <a:bodyPr/>
          <a:lstStyle/>
          <a:p>
            <a:fld id="{8AACEE26-D979-411F-B229-D9F26BAEDF07}" type="slidenum">
              <a:rPr lang="en-US" smtClean="0"/>
              <a:t>‹#›</a:t>
            </a:fld>
            <a:endParaRPr lang="en-US"/>
          </a:p>
        </p:txBody>
      </p:sp>
      <p:sp>
        <p:nvSpPr>
          <p:cNvPr id="6" name="Rectangle 5"/>
          <p:cNvSpPr/>
          <p:nvPr userDrawn="1"/>
        </p:nvSpPr>
        <p:spPr>
          <a:xfrm>
            <a:off x="2032000" y="2551018"/>
            <a:ext cx="8534400" cy="32647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bg1"/>
              </a:solidFill>
            </a:endParaRPr>
          </a:p>
        </p:txBody>
      </p:sp>
      <p:pic>
        <p:nvPicPr>
          <p:cNvPr id="8" name="Picture 2" descr="http://uconndigitalarts.com/wp-content/uploads/2013/04/original.jpg"/>
          <p:cNvPicPr>
            <a:picLocks noChangeAspect="1" noChangeArrowheads="1"/>
          </p:cNvPicPr>
          <p:nvPr userDrawn="1"/>
        </p:nvPicPr>
        <p:blipFill rotWithShape="1">
          <a:blip r:embed="rId2" cstate="print">
            <a:extLst>
              <a:ext uri="{BEBA8EAE-BF5A-486C-A8C5-ECC9F3942E4B}">
                <a14:imgProps xmlns:a14="http://schemas.microsoft.com/office/drawing/2010/main">
                  <a14:imgLayer r:embed="rId3">
                    <a14:imgEffect>
                      <a14:backgroundRemoval t="10000" b="90000" l="3958" r="96146">
                        <a14:backgroundMark x1="16667" y1="54630" x2="86042" y2="55185"/>
                        <a14:backgroundMark x1="90625" y1="53889" x2="93125" y2="53889"/>
                      </a14:backgroundRemoval>
                    </a14:imgEffect>
                  </a14:imgLayer>
                </a14:imgProps>
              </a:ext>
              <a:ext uri="{28A0092B-C50C-407E-A947-70E740481C1C}">
                <a14:useLocalDpi xmlns:a14="http://schemas.microsoft.com/office/drawing/2010/main" val="0"/>
              </a:ext>
            </a:extLst>
          </a:blip>
          <a:srcRect t="43978" b="41311"/>
          <a:stretch/>
        </p:blipFill>
        <p:spPr bwMode="auto">
          <a:xfrm flipH="1">
            <a:off x="3732707" y="2575401"/>
            <a:ext cx="4568091" cy="2838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powerpoint.vn\Downloads\1e2cd4b177168ad16ce2e7c504bba4d2.x400.jpeg"/>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750" b="81000" l="9971" r="89736">
                        <a14:backgroundMark x1="33724" y1="42750" x2="69208" y2="55250"/>
                        <a14:backgroundMark x1="25806" y1="33250" x2="25806" y2="37500"/>
                        <a14:backgroundMark x1="26100" y1="32250" x2="26100" y2="32250"/>
                        <a14:backgroundMark x1="70674" y1="35750" x2="70674" y2="35750"/>
                        <a14:backgroundMark x1="76246" y1="31250" x2="76246" y2="31250"/>
                        <a14:backgroundMark x1="70968" y1="34750" x2="70968" y2="34750"/>
                      </a14:backgroundRemoval>
                    </a14:imgEffect>
                  </a14:imgLayer>
                </a14:imgProps>
              </a:ext>
              <a:ext uri="{28A0092B-C50C-407E-A947-70E740481C1C}">
                <a14:useLocalDpi xmlns:a14="http://schemas.microsoft.com/office/drawing/2010/main" val="0"/>
              </a:ext>
            </a:extLst>
          </a:blip>
          <a:srcRect b="55710"/>
          <a:stretch/>
        </p:blipFill>
        <p:spPr bwMode="auto">
          <a:xfrm>
            <a:off x="2568620" y="609600"/>
            <a:ext cx="7257961" cy="28280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userDrawn="1"/>
        </p:nvSpPr>
        <p:spPr>
          <a:xfrm>
            <a:off x="4103893" y="3124200"/>
            <a:ext cx="4735308" cy="2139047"/>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200" b="1" dirty="0">
                <a:solidFill>
                  <a:schemeClr val="bg1"/>
                </a:solidFill>
              </a:rPr>
              <a:t>DEM</a:t>
            </a:r>
            <a:r>
              <a:rPr lang="en-US" sz="11500" b="1" dirty="0">
                <a:solidFill>
                  <a:schemeClr val="bg1"/>
                </a:solidFill>
              </a:rPr>
              <a:t>O</a:t>
            </a:r>
          </a:p>
          <a:p>
            <a:endParaRPr lang="en-US" sz="1800" dirty="0"/>
          </a:p>
        </p:txBody>
      </p:sp>
      <p:pic>
        <p:nvPicPr>
          <p:cNvPr id="10" name="Picture 2" descr="http://www.designofsignage.com/application/symbol/hands/image/600x600/hand-press-button-4.jpg"/>
          <p:cNvPicPr>
            <a:picLocks noChangeAspect="1" noChangeArrowheads="1"/>
          </p:cNvPicPr>
          <p:nvPr userDrawn="1"/>
        </p:nvPicPr>
        <p:blipFill>
          <a:blip r:embed="rId6" cstate="print">
            <a:extLst>
              <a:ext uri="{BEBA8EAE-BF5A-486C-A8C5-ECC9F3942E4B}">
                <a14:imgProps xmlns:a14="http://schemas.microsoft.com/office/drawing/2010/main">
                  <a14:imgLayer r:embed="rId7">
                    <a14:imgEffect>
                      <a14:backgroundRemoval t="10000" b="99500" l="10000" r="90000">
                        <a14:foregroundMark x1="35833" y1="26500" x2="41500" y2="85000"/>
                      </a14:backgroundRemoval>
                    </a14:imgEffect>
                  </a14:imgLayer>
                </a14:imgProps>
              </a:ext>
              <a:ext uri="{28A0092B-C50C-407E-A947-70E740481C1C}">
                <a14:useLocalDpi xmlns:a14="http://schemas.microsoft.com/office/drawing/2010/main" val="0"/>
              </a:ext>
            </a:extLst>
          </a:blip>
          <a:srcRect/>
          <a:stretch>
            <a:fillRect/>
          </a:stretch>
        </p:blipFill>
        <p:spPr bwMode="auto">
          <a:xfrm>
            <a:off x="6016752" y="3568725"/>
            <a:ext cx="3488947" cy="2616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1668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3AF78-3B29-49D4-81C3-7555616E6373}" type="datetime1">
              <a:rPr lang="en-US" smtClean="0"/>
              <a:t>12/11/2024</a:t>
            </a:fld>
            <a:endParaRPr lang="en-US"/>
          </a:p>
        </p:txBody>
      </p:sp>
      <p:sp>
        <p:nvSpPr>
          <p:cNvPr id="3" name="Footer Placeholder 2"/>
          <p:cNvSpPr>
            <a:spLocks noGrp="1"/>
          </p:cNvSpPr>
          <p:nvPr>
            <p:ph type="ftr" sz="quarter" idx="11"/>
          </p:nvPr>
        </p:nvSpPr>
        <p:spPr/>
        <p:txBody>
          <a:bodyPr/>
          <a:lstStyle/>
          <a:p>
            <a:r>
              <a:rPr lang="vi-VN"/>
              <a:t>Lập trình C#3</a:t>
            </a:r>
            <a:endParaRPr lang="en-US"/>
          </a:p>
        </p:txBody>
      </p:sp>
      <p:sp>
        <p:nvSpPr>
          <p:cNvPr id="4" name="Slide Number Placeholder 3"/>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8374452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C48055-7455-47F1-BA44-73D8B83B9342}" type="datetime1">
              <a:rPr lang="en-US" smtClean="0"/>
              <a:t>12/11/2024</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246149373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B46837-A547-4964-AC0B-E650641F7846}" type="datetime1">
              <a:rPr lang="en-US" smtClean="0"/>
              <a:t>12/11/2024</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93351455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E0451A-A87B-4BA7-B824-056B86D6CA5D}" type="datetime1">
              <a:rPr lang="en-US" smtClean="0"/>
              <a:t>12/11/2024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56486633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74BB19-EC7D-4033-B460-36F421974985}" type="datetime1">
              <a:rPr lang="en-US" smtClean="0"/>
              <a:t>12/11/2024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25423732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Slide Number Placeholder 5"/>
          <p:cNvSpPr>
            <a:spLocks noGrp="1"/>
          </p:cNvSpPr>
          <p:nvPr>
            <p:ph type="sldNum" sz="quarter" idx="10"/>
          </p:nvPr>
        </p:nvSpPr>
        <p:spPr>
          <a:xfrm>
            <a:off x="-1930400" y="6188076"/>
            <a:ext cx="2844800" cy="365125"/>
          </a:xfrm>
          <a:prstGeom prst="rect">
            <a:avLst/>
          </a:prstGeom>
        </p:spPr>
        <p:txBody>
          <a:bodyPr/>
          <a:lstStyle>
            <a:lvl1pPr>
              <a:defRPr/>
            </a:lvl1pPr>
          </a:lstStyle>
          <a:p>
            <a:pPr>
              <a:defRPr/>
            </a:pPr>
            <a:fld id="{587C0512-7E02-4E40-BD9C-21FAB99329CB}" type="slidenum">
              <a:rPr lang="en-US"/>
              <a:pPr>
                <a:defRPr/>
              </a:pPr>
              <a:t>‹#›</a:t>
            </a:fld>
            <a:endParaRPr lang="en-US"/>
          </a:p>
        </p:txBody>
      </p:sp>
    </p:spTree>
    <p:extLst>
      <p:ext uri="{BB962C8B-B14F-4D97-AF65-F5344CB8AC3E}">
        <p14:creationId xmlns:p14="http://schemas.microsoft.com/office/powerpoint/2010/main" val="42551913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itle Placeholder 1"/>
          <p:cNvSpPr txBox="1">
            <a:spLocks/>
          </p:cNvSpPr>
          <p:nvPr userDrawn="1"/>
        </p:nvSpPr>
        <p:spPr>
          <a:xfrm>
            <a:off x="2946400" y="274638"/>
            <a:ext cx="8636000" cy="563562"/>
          </a:xfrm>
          <a:prstGeom prst="rect">
            <a:avLst/>
          </a:prstGeom>
        </p:spPr>
        <p:txBody>
          <a:bodyPr vert="horz" lIns="91440" tIns="45720" rIns="91440" bIns="45720" rtlCol="0" anchor="ctr">
            <a:noAutofit/>
          </a:bodyPr>
          <a:lstStyle>
            <a:lvl1pPr algn="r" defTabSz="914400" rtl="0" eaLnBrk="1" latinLnBrk="0" hangingPunct="1">
              <a:spcBef>
                <a:spcPct val="0"/>
              </a:spcBef>
              <a:buNone/>
              <a:defRPr sz="3200" b="1" kern="1200" cap="small" baseline="0">
                <a:solidFill>
                  <a:srgbClr val="FF9900"/>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3200" dirty="0"/>
              <a:t>Click to edit Master title style</a:t>
            </a:r>
          </a:p>
        </p:txBody>
      </p:sp>
      <p:sp>
        <p:nvSpPr>
          <p:cNvPr id="4" name="Text Placeholder 2"/>
          <p:cNvSpPr>
            <a:spLocks noGrp="1"/>
          </p:cNvSpPr>
          <p:nvPr>
            <p:ph idx="1"/>
          </p:nvPr>
        </p:nvSpPr>
        <p:spPr>
          <a:xfrm>
            <a:off x="609600" y="990600"/>
            <a:ext cx="10972800" cy="5562600"/>
          </a:xfrm>
          <a:prstGeom prst="rect">
            <a:avLst/>
          </a:prstGeom>
        </p:spPr>
        <p:txBody>
          <a:bodyPr vert="horz" lIns="91440" tIns="45720" rIns="91440" bIns="45720" rtlCol="0">
            <a:normAutofit/>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1200" y="228601"/>
            <a:ext cx="2133600" cy="484909"/>
          </a:xfrm>
          <a:prstGeom prst="rect">
            <a:avLst/>
          </a:prstGeom>
        </p:spPr>
      </p:pic>
      <p:cxnSp>
        <p:nvCxnSpPr>
          <p:cNvPr id="6" name="Straight Connector 5"/>
          <p:cNvCxnSpPr/>
          <p:nvPr userDrawn="1"/>
        </p:nvCxnSpPr>
        <p:spPr>
          <a:xfrm flipH="1">
            <a:off x="711200" y="835152"/>
            <a:ext cx="10871200" cy="0"/>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7913878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36800" y="198438"/>
            <a:ext cx="9448800" cy="487362"/>
          </a:xfrm>
        </p:spPr>
        <p:txBody>
          <a:bodyPr anchor="t">
            <a:normAutofit/>
          </a:bodyPr>
          <a:lstStyle>
            <a:lvl1pPr algn="r">
              <a:defRPr sz="2400" b="0" i="0" baseline="0">
                <a:solidFill>
                  <a:schemeClr val="bg1"/>
                </a:solidFill>
                <a:latin typeface="Segoe UI" pitchFamily="34" charset="0"/>
                <a:ea typeface="Roboto Lt" pitchFamily="2" charset="0"/>
                <a:cs typeface="Segoe UI" pitchFamily="34" charset="0"/>
              </a:defRPr>
            </a:lvl1pPr>
          </a:lstStyle>
          <a:p>
            <a:r>
              <a:rPr lang="en-US" dirty="0" err="1"/>
              <a:t>Tiêu</a:t>
            </a:r>
            <a:r>
              <a:rPr lang="en-US" dirty="0"/>
              <a:t> </a:t>
            </a:r>
            <a:r>
              <a:rPr lang="en-US" dirty="0" err="1"/>
              <a:t>đề</a:t>
            </a:r>
            <a:r>
              <a:rPr lang="en-US" dirty="0"/>
              <a:t> </a:t>
            </a:r>
            <a:r>
              <a:rPr lang="en-US" dirty="0" err="1"/>
              <a:t>Silde</a:t>
            </a:r>
            <a:endParaRPr lang="en-US" dirty="0"/>
          </a:p>
        </p:txBody>
      </p:sp>
      <p:sp>
        <p:nvSpPr>
          <p:cNvPr id="3" name="Content Placeholder 2"/>
          <p:cNvSpPr>
            <a:spLocks noGrp="1"/>
          </p:cNvSpPr>
          <p:nvPr>
            <p:ph idx="1" hasCustomPrompt="1"/>
          </p:nvPr>
        </p:nvSpPr>
        <p:spPr>
          <a:xfrm>
            <a:off x="1727200" y="1066800"/>
            <a:ext cx="10363200" cy="457200"/>
          </a:xfrm>
        </p:spPr>
        <p:txBody>
          <a:bodyPr>
            <a:normAutofit/>
          </a:bodyPr>
          <a:lstStyle>
            <a:lvl1pPr marL="0" indent="0">
              <a:buFontTx/>
              <a:buNone/>
              <a:defRPr sz="2400" b="1" baseline="0">
                <a:latin typeface="Segoe UI" pitchFamily="34" charset="0"/>
                <a:ea typeface="Roboto" pitchFamily="2" charset="0"/>
                <a:cs typeface="Segoe UI" pitchFamily="34" charset="0"/>
              </a:defRPr>
            </a:lvl1pPr>
            <a:lvl2pPr marL="457200" indent="0" algn="just">
              <a:buFontTx/>
              <a:buNone/>
              <a:defRPr sz="1600">
                <a:latin typeface="Roboto Lt" pitchFamily="2" charset="0"/>
                <a:ea typeface="Roboto Lt" pitchFamily="2" charset="0"/>
              </a:defRPr>
            </a:lvl2pPr>
            <a:lvl3pPr algn="just">
              <a:defRPr sz="1600">
                <a:latin typeface="Roboto Lt" pitchFamily="2" charset="0"/>
                <a:ea typeface="Roboto Lt" pitchFamily="2" charset="0"/>
              </a:defRPr>
            </a:lvl3pPr>
            <a:lvl4pPr marL="1600200" indent="-228600" algn="just">
              <a:buFont typeface="Courier New" pitchFamily="49" charset="0"/>
              <a:buChar char="o"/>
              <a:defRPr sz="1600">
                <a:latin typeface="Roboto Lt" pitchFamily="2" charset="0"/>
                <a:ea typeface="Roboto Lt" pitchFamily="2" charset="0"/>
              </a:defRPr>
            </a:lvl4pPr>
            <a:lvl5pPr algn="just">
              <a:defRPr sz="1600">
                <a:latin typeface="Roboto Lt" pitchFamily="2" charset="0"/>
                <a:ea typeface="Roboto Lt" pitchFamily="2" charset="0"/>
              </a:defRPr>
            </a:lvl5pPr>
          </a:lstStyle>
          <a:p>
            <a:pPr lvl="0"/>
            <a:r>
              <a:rPr lang="en-US" dirty="0" err="1"/>
              <a:t>Đề</a:t>
            </a:r>
            <a:r>
              <a:rPr lang="en-US" dirty="0"/>
              <a:t> </a:t>
            </a:r>
            <a:r>
              <a:rPr lang="en-US" dirty="0" err="1"/>
              <a:t>mục</a:t>
            </a:r>
            <a:r>
              <a:rPr lang="en-US" dirty="0"/>
              <a:t> </a:t>
            </a:r>
            <a:r>
              <a:rPr lang="en-US" dirty="0" err="1"/>
              <a:t>lớn</a:t>
            </a:r>
            <a:endParaRPr lang="en-US" dirty="0"/>
          </a:p>
        </p:txBody>
      </p:sp>
      <p:sp>
        <p:nvSpPr>
          <p:cNvPr id="7" name="Content Placeholder 2"/>
          <p:cNvSpPr>
            <a:spLocks noGrp="1"/>
          </p:cNvSpPr>
          <p:nvPr>
            <p:ph idx="13" hasCustomPrompt="1"/>
          </p:nvPr>
        </p:nvSpPr>
        <p:spPr>
          <a:xfrm>
            <a:off x="6604000" y="1828800"/>
            <a:ext cx="5384800" cy="2743200"/>
          </a:xfrm>
        </p:spPr>
        <p:txBody>
          <a:bodyPr>
            <a:normAutofit/>
          </a:bodyPr>
          <a:lstStyle>
            <a:lvl1pPr marL="0" indent="0">
              <a:buFontTx/>
              <a:buNone/>
              <a:defRPr sz="2400" b="0" baseline="0">
                <a:latin typeface="Segoe UI" pitchFamily="34" charset="0"/>
                <a:ea typeface="Roboto" pitchFamily="2" charset="0"/>
                <a:cs typeface="Segoe UI" pitchFamily="34" charset="0"/>
              </a:defRPr>
            </a:lvl1pPr>
            <a:lvl2pPr marL="457200" indent="0" algn="just">
              <a:buFontTx/>
              <a:buNone/>
              <a:defRPr sz="1600">
                <a:latin typeface="Roboto Lt" pitchFamily="2" charset="0"/>
                <a:ea typeface="Roboto Lt" pitchFamily="2" charset="0"/>
              </a:defRPr>
            </a:lvl2pPr>
            <a:lvl3pPr algn="just">
              <a:defRPr sz="1600">
                <a:latin typeface="Roboto Lt" pitchFamily="2" charset="0"/>
                <a:ea typeface="Roboto Lt" pitchFamily="2" charset="0"/>
              </a:defRPr>
            </a:lvl3pPr>
            <a:lvl4pPr marL="1600200" indent="-228600" algn="just">
              <a:buFont typeface="Courier New" pitchFamily="49" charset="0"/>
              <a:buChar char="o"/>
              <a:defRPr sz="1600">
                <a:latin typeface="Roboto Lt" pitchFamily="2" charset="0"/>
                <a:ea typeface="Roboto Lt" pitchFamily="2" charset="0"/>
              </a:defRPr>
            </a:lvl4pPr>
            <a:lvl5pPr algn="just">
              <a:defRPr sz="1600">
                <a:latin typeface="Roboto Lt" pitchFamily="2" charset="0"/>
                <a:ea typeface="Roboto Lt" pitchFamily="2" charset="0"/>
              </a:defRPr>
            </a:lvl5pPr>
          </a:lstStyle>
          <a:p>
            <a:r>
              <a:rPr lang="en-US" dirty="0" err="1"/>
              <a:t>Nội</a:t>
            </a:r>
            <a:r>
              <a:rPr lang="en-US" dirty="0"/>
              <a:t> dung </a:t>
            </a:r>
            <a:r>
              <a:rPr lang="en-US" dirty="0" err="1"/>
              <a:t>cần</a:t>
            </a:r>
            <a:r>
              <a:rPr lang="en-US" dirty="0"/>
              <a:t> </a:t>
            </a:r>
            <a:r>
              <a:rPr lang="en-US" dirty="0" err="1"/>
              <a:t>viết</a:t>
            </a:r>
            <a:r>
              <a:rPr lang="en-US" dirty="0"/>
              <a:t> …….</a:t>
            </a:r>
          </a:p>
          <a:p>
            <a:r>
              <a:rPr lang="en-US" dirty="0"/>
              <a:t>960, abstract, background, banner, bar, box, business, button, circle, clean,</a:t>
            </a:r>
          </a:p>
          <a:p>
            <a:r>
              <a:rPr lang="en-US" b="1" dirty="0" err="1"/>
              <a:t>Nôi</a:t>
            </a:r>
            <a:r>
              <a:rPr lang="en-US" b="1" dirty="0"/>
              <a:t> dung </a:t>
            </a:r>
            <a:r>
              <a:rPr lang="en-US" b="1" dirty="0" err="1"/>
              <a:t>cần</a:t>
            </a:r>
            <a:r>
              <a:rPr lang="en-US" b="1" dirty="0"/>
              <a:t> </a:t>
            </a:r>
            <a:r>
              <a:rPr lang="en-US" b="1" dirty="0" err="1"/>
              <a:t>nhấn</a:t>
            </a:r>
            <a:r>
              <a:rPr lang="en-US" b="1" dirty="0"/>
              <a:t> </a:t>
            </a:r>
            <a:r>
              <a:rPr lang="en-US" b="1" dirty="0" err="1"/>
              <a:t>mạnh</a:t>
            </a:r>
            <a:endParaRPr lang="en-US" dirty="0"/>
          </a:p>
        </p:txBody>
      </p:sp>
      <p:sp>
        <p:nvSpPr>
          <p:cNvPr id="11" name="Slide Number Placeholder 10"/>
          <p:cNvSpPr>
            <a:spLocks noGrp="1"/>
          </p:cNvSpPr>
          <p:nvPr>
            <p:ph type="sldNum" sz="quarter" idx="14"/>
          </p:nvPr>
        </p:nvSpPr>
        <p:spPr>
          <a:xfrm>
            <a:off x="-1828800" y="6172201"/>
            <a:ext cx="2844800" cy="365125"/>
          </a:xfrm>
          <a:prstGeom prst="rect">
            <a:avLst/>
          </a:prstGeom>
        </p:spPr>
        <p:txBody>
          <a:bodyPr/>
          <a:lstStyle>
            <a:lvl1pPr algn="r">
              <a:defRPr>
                <a:solidFill>
                  <a:schemeClr val="bg1"/>
                </a:solidFill>
                <a:latin typeface="Segoe UI" pitchFamily="34" charset="0"/>
                <a:ea typeface="Segoe UI" pitchFamily="34" charset="0"/>
                <a:cs typeface="Segoe UI" pitchFamily="34" charset="0"/>
              </a:defRPr>
            </a:lvl1pPr>
          </a:lstStyle>
          <a:p>
            <a:fld id="{C9454D8F-10CC-4917-9EE3-EC45D591F45E}" type="slidenum">
              <a:rPr lang="en-US" smtClean="0"/>
              <a:pPr/>
              <a:t>‹#›</a:t>
            </a:fld>
            <a:endParaRPr lang="en-US"/>
          </a:p>
        </p:txBody>
      </p:sp>
    </p:spTree>
    <p:extLst>
      <p:ext uri="{BB962C8B-B14F-4D97-AF65-F5344CB8AC3E}">
        <p14:creationId xmlns:p14="http://schemas.microsoft.com/office/powerpoint/2010/main" val="18278013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2946400" y="274638"/>
            <a:ext cx="8636000" cy="563562"/>
          </a:xfrm>
          <a:prstGeom prst="rect">
            <a:avLst/>
          </a:prstGeom>
        </p:spPr>
        <p:txBody>
          <a:bodyPr vert="horz" lIns="91440" tIns="45720" rIns="91440" bIns="45720" rtlCol="0" anchor="ctr">
            <a:noAutofit/>
          </a:bodyPr>
          <a:lstStyle/>
          <a:p>
            <a:r>
              <a:rPr lang="en-US" dirty="0"/>
              <a:t>Click to edit Master title style</a:t>
            </a:r>
          </a:p>
        </p:txBody>
      </p:sp>
      <p:sp>
        <p:nvSpPr>
          <p:cNvPr id="8" name="Text Placeholder 2"/>
          <p:cNvSpPr>
            <a:spLocks noGrp="1"/>
          </p:cNvSpPr>
          <p:nvPr>
            <p:ph idx="1"/>
          </p:nvPr>
        </p:nvSpPr>
        <p:spPr>
          <a:xfrm>
            <a:off x="609600" y="990600"/>
            <a:ext cx="10972800" cy="5562600"/>
          </a:xfrm>
          <a:prstGeom prst="rect">
            <a:avLst/>
          </a:prstGeom>
        </p:spPr>
        <p:txBody>
          <a:bodyPr vert="horz" lIns="91440" tIns="45720" rIns="91440" bIns="45720" rtlCol="0">
            <a:normAutofit/>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1200" y="228601"/>
            <a:ext cx="2133600" cy="484909"/>
          </a:xfrm>
          <a:prstGeom prst="rect">
            <a:avLst/>
          </a:prstGeom>
        </p:spPr>
      </p:pic>
    </p:spTree>
    <p:extLst>
      <p:ext uri="{BB962C8B-B14F-4D97-AF65-F5344CB8AC3E}">
        <p14:creationId xmlns:p14="http://schemas.microsoft.com/office/powerpoint/2010/main" val="2912703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theme" Target="../theme/theme2.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2" Type="http://schemas.openxmlformats.org/officeDocument/2006/relationships/slideLayout" Target="../slideLayouts/slideLayout69.xml"/><Relationship Id="rId16" Type="http://schemas.openxmlformats.org/officeDocument/2006/relationships/theme" Target="../theme/theme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DF40E0-E6EB-4A06-A23A-FAEAF1FE809C}" type="datetimeFigureOut">
              <a:rPr lang="en-US" smtClean="0"/>
              <a:t>12/11/2024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4E73CF-C580-4B9B-819E-F0AF56E99B06}" type="slidenum">
              <a:rPr lang="en-US" smtClean="0"/>
              <a:t>‹#›</a:t>
            </a:fld>
            <a:endParaRPr lang="en-US"/>
          </a:p>
        </p:txBody>
      </p:sp>
    </p:spTree>
    <p:extLst>
      <p:ext uri="{BB962C8B-B14F-4D97-AF65-F5344CB8AC3E}">
        <p14:creationId xmlns:p14="http://schemas.microsoft.com/office/powerpoint/2010/main" val="3233386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539594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DC4897-F721-4489-83C3-CD2672282672}" type="datetime1">
              <a:rPr lang="en-US" smtClean="0"/>
              <a:t>12/11/2024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Lập trình C#3</a:t>
            </a: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ACEE26-D979-411F-B229-D9F26BAEDF07}" type="slidenum">
              <a:rPr lang="en-US" smtClean="0"/>
              <a:t>‹#›</a:t>
            </a:fld>
            <a:endParaRPr lang="en-US"/>
          </a:p>
        </p:txBody>
      </p:sp>
    </p:spTree>
    <p:extLst>
      <p:ext uri="{BB962C8B-B14F-4D97-AF65-F5344CB8AC3E}">
        <p14:creationId xmlns:p14="http://schemas.microsoft.com/office/powerpoint/2010/main" val="753548654"/>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9890287-4DB6-4C87-AEAF-17E9594F401B}"/>
              </a:ext>
              <a:ext uri="{C183D7F6-B498-43B3-948B-1728B52AA6E4}">
                <adec:decorative xmlns="" xmlns:adec="http://schemas.microsoft.com/office/drawing/2017/decorative" val="1"/>
              </a:ext>
            </a:extLst>
          </p:cNvPr>
          <p:cNvPicPr>
            <a:picLocks noGrp="1" noChangeAspect="1"/>
          </p:cNvPicPr>
          <p:nvPr>
            <p:ph type="pic" sz="quarter" idx="11"/>
          </p:nvPr>
        </p:nvPicPr>
        <p:blipFill>
          <a:blip r:embed="rId3"/>
          <a:srcRect t="7813" b="7813"/>
          <a:stretch>
            <a:fillRect/>
          </a:stretch>
        </p:blipFill>
        <p:spPr/>
      </p:pic>
      <p:sp>
        <p:nvSpPr>
          <p:cNvPr id="285" name="Text Placeholder 284">
            <a:extLst>
              <a:ext uri="{FF2B5EF4-FFF2-40B4-BE49-F238E27FC236}">
                <a16:creationId xmlns:a16="http://schemas.microsoft.com/office/drawing/2014/main" id="{C0BF9B80-F084-4423-8C1C-E79BE829875F}"/>
              </a:ext>
              <a:ext uri="{C183D7F6-B498-43B3-948B-1728B52AA6E4}">
                <adec:decorative xmlns="" xmlns:adec="http://schemas.microsoft.com/office/drawing/2017/decorative" val="1"/>
              </a:ext>
            </a:extLst>
          </p:cNvPr>
          <p:cNvSpPr>
            <a:spLocks noGrp="1"/>
          </p:cNvSpPr>
          <p:nvPr>
            <p:ph type="body" sz="quarter" idx="13"/>
          </p:nvPr>
        </p:nvSpPr>
        <p:spPr/>
        <p:txBody>
          <a:bodyPr/>
          <a:lstStyle/>
          <a:p>
            <a:endParaRPr lang="en-US" dirty="0"/>
          </a:p>
        </p:txBody>
      </p:sp>
      <p:sp>
        <p:nvSpPr>
          <p:cNvPr id="286" name="Text Placeholder 285">
            <a:extLst>
              <a:ext uri="{FF2B5EF4-FFF2-40B4-BE49-F238E27FC236}">
                <a16:creationId xmlns:a16="http://schemas.microsoft.com/office/drawing/2014/main" id="{9626180B-FF05-48CF-BFB3-C95C9B5DAB99}"/>
              </a:ext>
              <a:ext uri="{C183D7F6-B498-43B3-948B-1728B52AA6E4}">
                <adec:decorative xmlns="" xmlns:adec="http://schemas.microsoft.com/office/drawing/2017/decorative" val="1"/>
              </a:ext>
            </a:extLst>
          </p:cNvPr>
          <p:cNvSpPr>
            <a:spLocks noGrp="1"/>
          </p:cNvSpPr>
          <p:nvPr>
            <p:ph type="body" sz="quarter" idx="15"/>
          </p:nvPr>
        </p:nvSpPr>
        <p:spPr/>
        <p:txBody>
          <a:bodyPr/>
          <a:lstStyle/>
          <a:p>
            <a:endParaRPr lang="en-US" dirty="0"/>
          </a:p>
        </p:txBody>
      </p:sp>
      <p:sp>
        <p:nvSpPr>
          <p:cNvPr id="6" name="Title 5">
            <a:extLst>
              <a:ext uri="{FF2B5EF4-FFF2-40B4-BE49-F238E27FC236}">
                <a16:creationId xmlns:a16="http://schemas.microsoft.com/office/drawing/2014/main" id="{3933031D-018B-489E-B613-2113C1CD2360}"/>
              </a:ext>
            </a:extLst>
          </p:cNvPr>
          <p:cNvSpPr>
            <a:spLocks noGrp="1"/>
          </p:cNvSpPr>
          <p:nvPr>
            <p:ph type="ctrTitle"/>
          </p:nvPr>
        </p:nvSpPr>
        <p:spPr>
          <a:xfrm>
            <a:off x="3163809" y="1905000"/>
            <a:ext cx="5751591" cy="756097"/>
          </a:xfrm>
        </p:spPr>
        <p:txBody>
          <a:bodyPr>
            <a:normAutofit fontScale="90000"/>
          </a:bodyPr>
          <a:lstStyle/>
          <a:p>
            <a:r>
              <a:rPr lang="en-US" dirty="0" err="1"/>
              <a:t>Lập</a:t>
            </a:r>
            <a:r>
              <a:rPr lang="en-US" dirty="0"/>
              <a:t> </a:t>
            </a:r>
            <a:r>
              <a:rPr lang="en-US" dirty="0" err="1" smtClean="0"/>
              <a:t>Trình</a:t>
            </a:r>
            <a:r>
              <a:rPr lang="en-US" dirty="0" smtClean="0"/>
              <a:t> C#3</a:t>
            </a:r>
            <a:endParaRPr lang="en-US" dirty="0"/>
          </a:p>
        </p:txBody>
      </p:sp>
      <p:sp>
        <p:nvSpPr>
          <p:cNvPr id="7" name="Subtitle 6">
            <a:extLst>
              <a:ext uri="{FF2B5EF4-FFF2-40B4-BE49-F238E27FC236}">
                <a16:creationId xmlns:a16="http://schemas.microsoft.com/office/drawing/2014/main" id="{606F8B2E-A7F5-4413-BEED-BFF7C3D9FF78}"/>
              </a:ext>
            </a:extLst>
          </p:cNvPr>
          <p:cNvSpPr>
            <a:spLocks noGrp="1"/>
          </p:cNvSpPr>
          <p:nvPr>
            <p:ph type="subTitle" idx="1"/>
          </p:nvPr>
        </p:nvSpPr>
        <p:spPr>
          <a:xfrm>
            <a:off x="2514600" y="3299438"/>
            <a:ext cx="7244861" cy="1196362"/>
          </a:xfrm>
        </p:spPr>
        <p:txBody>
          <a:bodyPr>
            <a:normAutofit/>
          </a:bodyPr>
          <a:lstStyle/>
          <a:p>
            <a:r>
              <a:rPr lang="en-US" sz="3600" dirty="0" err="1">
                <a:solidFill>
                  <a:srgbClr val="FFC000"/>
                </a:solidFill>
              </a:rPr>
              <a:t>Bài</a:t>
            </a:r>
            <a:r>
              <a:rPr lang="en-US" sz="3600" dirty="0">
                <a:solidFill>
                  <a:srgbClr val="FFC000"/>
                </a:solidFill>
              </a:rPr>
              <a:t> </a:t>
            </a:r>
            <a:r>
              <a:rPr lang="en-US" sz="3600" dirty="0" smtClean="0">
                <a:solidFill>
                  <a:srgbClr val="FFC000"/>
                </a:solidFill>
              </a:rPr>
              <a:t>3: </a:t>
            </a:r>
            <a:r>
              <a:rPr lang="en-US" sz="3600" dirty="0">
                <a:solidFill>
                  <a:srgbClr val="FFC000"/>
                </a:solidFill>
              </a:rPr>
              <a:t>Asp.net core </a:t>
            </a:r>
            <a:r>
              <a:rPr lang="en-US" sz="3600" dirty="0" smtClean="0">
                <a:solidFill>
                  <a:srgbClr val="FFC000"/>
                </a:solidFill>
              </a:rPr>
              <a:t>MVC </a:t>
            </a:r>
            <a:endParaRPr lang="en-US" sz="3600" dirty="0">
              <a:solidFill>
                <a:srgbClr val="FFC000"/>
              </a:solidFill>
            </a:endParaRPr>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2541166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Mục</a:t>
            </a:r>
            <a:r>
              <a:rPr lang="en-US" sz="4800" b="1" dirty="0" smtClean="0">
                <a:solidFill>
                  <a:srgbClr val="FF0000"/>
                </a:solidFill>
                <a:latin typeface="+mn-lt"/>
              </a:rPr>
              <a:t> </a:t>
            </a:r>
            <a:r>
              <a:rPr lang="en-US" sz="4800" b="1" dirty="0" err="1" smtClean="0">
                <a:solidFill>
                  <a:srgbClr val="FF0000"/>
                </a:solidFill>
                <a:latin typeface="+mn-lt"/>
              </a:rPr>
              <a:t>tiêu</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
            </a:pPr>
            <a:r>
              <a:rPr lang="en-US" sz="3200" dirty="0" err="1"/>
              <a:t>Mô</a:t>
            </a:r>
            <a:r>
              <a:rPr lang="en-US" sz="3200" dirty="0"/>
              <a:t> </a:t>
            </a:r>
            <a:r>
              <a:rPr lang="en-US" sz="3200" dirty="0" err="1"/>
              <a:t>hình</a:t>
            </a:r>
            <a:r>
              <a:rPr lang="en-US" sz="3200" dirty="0"/>
              <a:t> MVC</a:t>
            </a:r>
          </a:p>
          <a:p>
            <a:pPr>
              <a:buFont typeface="Wingdings" pitchFamily="2" charset="2"/>
              <a:buChar char="¤"/>
            </a:pPr>
            <a:r>
              <a:rPr lang="en-US" sz="3200" dirty="0"/>
              <a:t>Asp.net core </a:t>
            </a:r>
            <a:r>
              <a:rPr lang="vi-VN" sz="3200" dirty="0"/>
              <a:t>MVC</a:t>
            </a:r>
            <a:r>
              <a:rPr lang="en-US" sz="3200" dirty="0"/>
              <a:t> template</a:t>
            </a:r>
            <a:endParaRPr lang="nl-NL" sz="3200" dirty="0"/>
          </a:p>
          <a:p>
            <a:pPr>
              <a:buFont typeface="Wingdings" pitchFamily="2" charset="2"/>
              <a:buChar char="¤"/>
            </a:pPr>
            <a:r>
              <a:rPr lang="en-US" sz="3200" dirty="0" err="1"/>
              <a:t>Cấu</a:t>
            </a:r>
            <a:r>
              <a:rPr lang="en-US" sz="3200" dirty="0"/>
              <a:t> </a:t>
            </a:r>
            <a:r>
              <a:rPr lang="en-US" sz="3200" dirty="0" err="1"/>
              <a:t>hình</a:t>
            </a:r>
            <a:r>
              <a:rPr lang="en-US" sz="3200" dirty="0"/>
              <a:t> Asp.net core </a:t>
            </a:r>
            <a:r>
              <a:rPr lang="vi-VN" sz="3200" dirty="0"/>
              <a:t>MVC</a:t>
            </a:r>
            <a:endParaRPr lang="nl-NL" sz="32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18594507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MVC </a:t>
            </a:r>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là</a:t>
            </a:r>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gì</a:t>
            </a:r>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MVC </a:t>
            </a:r>
            <a:r>
              <a:rPr lang="en-US" dirty="0" err="1"/>
              <a:t>viết</a:t>
            </a:r>
            <a:r>
              <a:rPr lang="en-US" dirty="0"/>
              <a:t> </a:t>
            </a:r>
            <a:r>
              <a:rPr lang="en-US" dirty="0" err="1"/>
              <a:t>tắt</a:t>
            </a:r>
            <a:r>
              <a:rPr lang="en-US" dirty="0"/>
              <a:t> model-view-controller</a:t>
            </a:r>
          </a:p>
          <a:p>
            <a:r>
              <a:rPr lang="en-US" dirty="0"/>
              <a:t>L</a:t>
            </a:r>
            <a:r>
              <a:rPr lang="vi-VN" dirty="0"/>
              <a:t>à mô hình lập trình</a:t>
            </a:r>
            <a:r>
              <a:rPr lang="en-US" dirty="0"/>
              <a:t> </a:t>
            </a:r>
            <a:r>
              <a:rPr lang="vi-VN" dirty="0"/>
              <a:t>chia code thành 3 phần: </a:t>
            </a:r>
            <a:endParaRPr lang="en-US" dirty="0"/>
          </a:p>
          <a:p>
            <a:pPr lvl="1"/>
            <a:r>
              <a:rPr lang="vi-VN" dirty="0"/>
              <a:t>model triển khai các mô hình dữ liệu, truy cập dữ liệu.</a:t>
            </a:r>
            <a:endParaRPr lang="en-US" dirty="0"/>
          </a:p>
          <a:p>
            <a:pPr lvl="1"/>
            <a:r>
              <a:rPr lang="vi-VN" dirty="0"/>
              <a:t>view biểu diễn dữ liệu cho người dùng</a:t>
            </a:r>
            <a:endParaRPr lang="en-US" dirty="0"/>
          </a:p>
          <a:p>
            <a:pPr lvl="1"/>
            <a:r>
              <a:rPr lang="vi-VN" dirty="0"/>
              <a:t>controller nhận các yêu cầu browser gửi đến và trả về http response</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E6892187-7828-4659-A7E4-30FF2CB21698}"/>
              </a:ext>
            </a:extLst>
          </p:cNvPr>
          <p:cNvPicPr>
            <a:picLocks noChangeAspect="1"/>
          </p:cNvPicPr>
          <p:nvPr/>
        </p:nvPicPr>
        <p:blipFill>
          <a:blip r:embed="rId3"/>
          <a:stretch>
            <a:fillRect/>
          </a:stretch>
        </p:blipFill>
        <p:spPr>
          <a:xfrm>
            <a:off x="2467707" y="3952387"/>
            <a:ext cx="6324599" cy="2012950"/>
          </a:xfrm>
          <a:prstGeom prst="rect">
            <a:avLst/>
          </a:prstGeom>
        </p:spPr>
      </p:pic>
    </p:spTree>
    <p:extLst>
      <p:ext uri="{BB962C8B-B14F-4D97-AF65-F5344CB8AC3E}">
        <p14:creationId xmlns:p14="http://schemas.microsoft.com/office/powerpoint/2010/main" val="33285076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MVC </a:t>
            </a:r>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là</a:t>
            </a:r>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4800" b="1" dirty="0" err="1" smtClean="0">
                <a:solidFill>
                  <a:srgbClr val="FF0000"/>
                </a:solidFill>
                <a:latin typeface="Calibri" panose="020F0502020204030204" pitchFamily="34" charset="0"/>
                <a:ea typeface="Calibri" panose="020F0502020204030204" pitchFamily="34" charset="0"/>
                <a:cs typeface="Calibri" panose="020F0502020204030204" pitchFamily="34" charset="0"/>
              </a:rPr>
              <a:t>gì</a:t>
            </a:r>
            <a:r>
              <a:rPr lang="en-US" sz="4800" b="1" dirty="0" smtClean="0">
                <a:solidFill>
                  <a:srgbClr val="FF0000"/>
                </a:solidFill>
                <a:latin typeface="Calibri" panose="020F0502020204030204" pitchFamily="34" charset="0"/>
                <a:ea typeface="Calibri" panose="020F0502020204030204" pitchFamily="34" charset="0"/>
                <a:cs typeface="Calibri" panose="020F0502020204030204" pitchFamily="34" charset="0"/>
              </a:rPr>
              <a:t>?</a:t>
            </a:r>
            <a:endParaRPr lang="en-US" sz="4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Content Placeholder 7">
            <a:extLst>
              <a:ext uri="{FF2B5EF4-FFF2-40B4-BE49-F238E27FC236}">
                <a16:creationId xmlns:a16="http://schemas.microsoft.com/office/drawing/2014/main" id="{16BB28B8-5049-3ADA-C06D-C37E604C2CB6}"/>
              </a:ext>
            </a:extLst>
          </p:cNvPr>
          <p:cNvPicPr>
            <a:picLocks noGrp="1" noChangeAspect="1"/>
          </p:cNvPicPr>
          <p:nvPr/>
        </p:nvPicPr>
        <p:blipFill>
          <a:blip r:embed="rId3"/>
          <a:stretch>
            <a:fillRect/>
          </a:stretch>
        </p:blipFill>
        <p:spPr>
          <a:xfrm>
            <a:off x="2202853" y="1175238"/>
            <a:ext cx="7258755" cy="5257800"/>
          </a:xfrm>
          <a:prstGeom prst="rect">
            <a:avLst/>
          </a:prstGeom>
        </p:spPr>
      </p:pic>
    </p:spTree>
    <p:extLst>
      <p:ext uri="{BB962C8B-B14F-4D97-AF65-F5344CB8AC3E}">
        <p14:creationId xmlns:p14="http://schemas.microsoft.com/office/powerpoint/2010/main" val="29362891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rPr>
              <a:t>Asp.net core </a:t>
            </a:r>
            <a:r>
              <a:rPr lang="vi-VN" sz="4800" b="1" dirty="0">
                <a:solidFill>
                  <a:srgbClr val="FF0000"/>
                </a:solidFill>
              </a:rPr>
              <a:t>MVC</a:t>
            </a:r>
            <a:r>
              <a:rPr lang="en-US" sz="4800" b="1" dirty="0">
                <a:solidFill>
                  <a:srgbClr val="FF0000"/>
                </a:solidFill>
              </a:rPr>
              <a:t> template</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Tạo</a:t>
            </a:r>
            <a:r>
              <a:rPr lang="en-US" dirty="0"/>
              <a:t> </a:t>
            </a:r>
            <a:r>
              <a:rPr lang="en-US" dirty="0" err="1"/>
              <a:t>ứng</a:t>
            </a:r>
            <a:r>
              <a:rPr lang="en-US" dirty="0"/>
              <a:t> </a:t>
            </a:r>
            <a:r>
              <a:rPr lang="en-US" dirty="0" err="1"/>
              <a:t>dụng</a:t>
            </a:r>
            <a:r>
              <a:rPr lang="en-US" dirty="0"/>
              <a:t> </a:t>
            </a:r>
            <a:r>
              <a:rPr lang="en-US" dirty="0" err="1"/>
              <a:t>mvc</a:t>
            </a:r>
            <a:r>
              <a:rPr lang="en-US" dirty="0"/>
              <a:t> </a:t>
            </a:r>
            <a:r>
              <a:rPr lang="en-US" dirty="0" err="1"/>
              <a:t>từ</a:t>
            </a:r>
            <a:r>
              <a:rPr lang="en-US" dirty="0"/>
              <a:t> template </a:t>
            </a:r>
            <a:r>
              <a:rPr lang="en-US" dirty="0" err="1"/>
              <a:t>bằng</a:t>
            </a:r>
            <a:r>
              <a:rPr lang="en-US" dirty="0"/>
              <a:t> </a:t>
            </a:r>
            <a:r>
              <a:rPr lang="en-US" dirty="0" err="1"/>
              <a:t>lệnh</a:t>
            </a:r>
            <a:r>
              <a:rPr lang="en-US" dirty="0"/>
              <a:t>: </a:t>
            </a:r>
            <a:r>
              <a:rPr lang="en-US" dirty="0" err="1"/>
              <a:t>dotnet</a:t>
            </a:r>
            <a:r>
              <a:rPr lang="en-US" dirty="0"/>
              <a:t> new </a:t>
            </a:r>
            <a:r>
              <a:rPr lang="en-US" dirty="0" err="1"/>
              <a:t>mvc</a:t>
            </a:r>
            <a:r>
              <a:rPr lang="en-US" dirty="0"/>
              <a:t> </a:t>
            </a:r>
            <a:r>
              <a:rPr lang="en-US" dirty="0" err="1"/>
              <a:t>projectname</a:t>
            </a:r>
            <a:endParaRPr lang="en-US" dirty="0"/>
          </a:p>
          <a:p>
            <a:r>
              <a:rPr lang="en-US" dirty="0" err="1"/>
              <a:t>Tạo</a:t>
            </a:r>
            <a:r>
              <a:rPr lang="en-US" dirty="0"/>
              <a:t> </a:t>
            </a:r>
            <a:r>
              <a:rPr lang="en-US" dirty="0" err="1"/>
              <a:t>ứng</a:t>
            </a:r>
            <a:r>
              <a:rPr lang="en-US" dirty="0"/>
              <a:t> </a:t>
            </a:r>
            <a:r>
              <a:rPr lang="en-US" dirty="0" err="1"/>
              <a:t>dụng</a:t>
            </a:r>
            <a:r>
              <a:rPr lang="en-US" dirty="0"/>
              <a:t> </a:t>
            </a:r>
            <a:r>
              <a:rPr lang="en-US" dirty="0" err="1"/>
              <a:t>mvc</a:t>
            </a:r>
            <a:r>
              <a:rPr lang="en-US" dirty="0"/>
              <a:t> </a:t>
            </a:r>
            <a:r>
              <a:rPr lang="en-US" dirty="0" err="1"/>
              <a:t>với</a:t>
            </a:r>
            <a:r>
              <a:rPr lang="en-US" dirty="0"/>
              <a:t> Vs:</a:t>
            </a:r>
            <a:endParaRPr lang="en-US" sz="32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F0D8B5CF-207D-E4F6-0934-6F6B3D523F4B}"/>
              </a:ext>
            </a:extLst>
          </p:cNvPr>
          <p:cNvPicPr>
            <a:picLocks noChangeAspect="1"/>
          </p:cNvPicPr>
          <p:nvPr/>
        </p:nvPicPr>
        <p:blipFill>
          <a:blip r:embed="rId3"/>
          <a:stretch>
            <a:fillRect/>
          </a:stretch>
        </p:blipFill>
        <p:spPr>
          <a:xfrm>
            <a:off x="2033954" y="2612303"/>
            <a:ext cx="7876076" cy="4245697"/>
          </a:xfrm>
          <a:prstGeom prst="rect">
            <a:avLst/>
          </a:prstGeom>
        </p:spPr>
      </p:pic>
    </p:spTree>
    <p:extLst>
      <p:ext uri="{BB962C8B-B14F-4D97-AF65-F5344CB8AC3E}">
        <p14:creationId xmlns:p14="http://schemas.microsoft.com/office/powerpoint/2010/main" val="18065965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rPr>
              <a:t>Asp.net core </a:t>
            </a:r>
            <a:r>
              <a:rPr lang="vi-VN" sz="4800" b="1" dirty="0">
                <a:solidFill>
                  <a:srgbClr val="FF0000"/>
                </a:solidFill>
              </a:rPr>
              <a:t>MVC</a:t>
            </a:r>
            <a:r>
              <a:rPr lang="en-US" sz="4800" b="1" dirty="0">
                <a:solidFill>
                  <a:srgbClr val="FF0000"/>
                </a:solidFill>
              </a:rPr>
              <a:t> template</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Cấu</a:t>
            </a:r>
            <a:r>
              <a:rPr lang="en-US" dirty="0"/>
              <a:t> </a:t>
            </a:r>
            <a:r>
              <a:rPr lang="en-US" dirty="0" err="1"/>
              <a:t>trúc</a:t>
            </a:r>
            <a:r>
              <a:rPr lang="en-US" dirty="0"/>
              <a:t> </a:t>
            </a:r>
            <a:r>
              <a:rPr lang="en-US" dirty="0" err="1"/>
              <a:t>ứng</a:t>
            </a:r>
            <a:r>
              <a:rPr lang="en-US" dirty="0"/>
              <a:t> </a:t>
            </a:r>
            <a:r>
              <a:rPr lang="en-US" dirty="0" err="1"/>
              <a:t>dụng</a:t>
            </a:r>
            <a:r>
              <a:rPr lang="en-US" dirty="0"/>
              <a:t>:</a:t>
            </a:r>
          </a:p>
          <a:p>
            <a:pPr lvl="1"/>
            <a:r>
              <a:rPr lang="vi-VN" dirty="0" smtClean="0"/>
              <a:t>Controllers:</a:t>
            </a:r>
            <a:r>
              <a:rPr lang="en-US" dirty="0" smtClean="0"/>
              <a:t> </a:t>
            </a:r>
            <a:r>
              <a:rPr lang="vi-VN" dirty="0" smtClean="0"/>
              <a:t>chứa </a:t>
            </a:r>
            <a:r>
              <a:rPr lang="vi-VN" dirty="0"/>
              <a:t>các lớp nhận yêu cầu </a:t>
            </a:r>
            <a:endParaRPr lang="en-US" dirty="0"/>
          </a:p>
          <a:p>
            <a:pPr marL="457200" lvl="1" indent="0">
              <a:buNone/>
            </a:pPr>
            <a:r>
              <a:rPr lang="vi-VN" dirty="0"/>
              <a:t>gửi đến và trả về nội dung Http Response</a:t>
            </a:r>
            <a:endParaRPr lang="en-US" dirty="0"/>
          </a:p>
          <a:p>
            <a:pPr lvl="1"/>
            <a:r>
              <a:rPr lang="vi-VN" dirty="0"/>
              <a:t>Models: nơi chứa các lớp cung cấp, </a:t>
            </a:r>
            <a:endParaRPr lang="en-US" dirty="0"/>
          </a:p>
          <a:p>
            <a:pPr marL="457200" lvl="1" indent="0">
              <a:buNone/>
            </a:pPr>
            <a:r>
              <a:rPr lang="vi-VN" dirty="0"/>
              <a:t>xử lý dữ liệu</a:t>
            </a:r>
            <a:endParaRPr lang="en-US" dirty="0"/>
          </a:p>
          <a:p>
            <a:pPr lvl="1"/>
            <a:r>
              <a:rPr lang="en-US" dirty="0"/>
              <a:t>Views: </a:t>
            </a:r>
            <a:r>
              <a:rPr lang="en-US" dirty="0" err="1"/>
              <a:t>chứa</a:t>
            </a:r>
            <a:r>
              <a:rPr lang="en-US" dirty="0"/>
              <a:t> </a:t>
            </a:r>
            <a:r>
              <a:rPr lang="en-US" dirty="0" err="1"/>
              <a:t>các</a:t>
            </a:r>
            <a:r>
              <a:rPr lang="en-US" dirty="0"/>
              <a:t> file .</a:t>
            </a:r>
            <a:r>
              <a:rPr lang="en-US" dirty="0" err="1"/>
              <a:t>cshtml</a:t>
            </a:r>
            <a:r>
              <a:rPr lang="en-US" dirty="0"/>
              <a:t> </a:t>
            </a:r>
            <a:r>
              <a:rPr lang="en-US" dirty="0" err="1"/>
              <a:t>dựng</a:t>
            </a:r>
            <a:endParaRPr lang="en-US" dirty="0"/>
          </a:p>
          <a:p>
            <a:pPr marL="457200" lvl="1" indent="0">
              <a:buNone/>
            </a:pPr>
            <a:r>
              <a:rPr lang="en-US" dirty="0"/>
              <a:t>HTML</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570301B6-0FAF-29DB-D1D7-94A4DD2903BA}"/>
              </a:ext>
            </a:extLst>
          </p:cNvPr>
          <p:cNvPicPr>
            <a:picLocks noChangeAspect="1"/>
          </p:cNvPicPr>
          <p:nvPr/>
        </p:nvPicPr>
        <p:blipFill>
          <a:blip r:embed="rId3"/>
          <a:stretch>
            <a:fillRect/>
          </a:stretch>
        </p:blipFill>
        <p:spPr>
          <a:xfrm>
            <a:off x="7151335" y="1496900"/>
            <a:ext cx="3381850" cy="3581400"/>
          </a:xfrm>
          <a:prstGeom prst="rect">
            <a:avLst/>
          </a:prstGeom>
        </p:spPr>
      </p:pic>
    </p:spTree>
    <p:extLst>
      <p:ext uri="{BB962C8B-B14F-4D97-AF65-F5344CB8AC3E}">
        <p14:creationId xmlns:p14="http://schemas.microsoft.com/office/powerpoint/2010/main" val="16210379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rPr>
              <a:t>Asp.net core </a:t>
            </a:r>
            <a:r>
              <a:rPr lang="vi-VN" sz="4800" b="1" dirty="0">
                <a:solidFill>
                  <a:srgbClr val="FF0000"/>
                </a:solidFill>
              </a:rPr>
              <a:t>MVC</a:t>
            </a:r>
            <a:r>
              <a:rPr lang="en-US" sz="4800" b="1" dirty="0">
                <a:solidFill>
                  <a:srgbClr val="FF0000"/>
                </a:solidFill>
              </a:rPr>
              <a:t> template</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Trong</a:t>
            </a:r>
            <a:r>
              <a:rPr lang="en-US" dirty="0"/>
              <a:t> </a:t>
            </a:r>
            <a:r>
              <a:rPr lang="en-US" dirty="0" err="1"/>
              <a:t>Program.cs</a:t>
            </a:r>
            <a:r>
              <a:rPr lang="en-US" dirty="0"/>
              <a:t> class </a:t>
            </a:r>
            <a:r>
              <a:rPr lang="en-US" dirty="0" err="1"/>
              <a:t>thì</a:t>
            </a:r>
            <a:r>
              <a:rPr lang="en-US" dirty="0"/>
              <a:t> framework </a:t>
            </a:r>
            <a:r>
              <a:rPr lang="en-US" dirty="0" err="1"/>
              <a:t>đã</a:t>
            </a:r>
            <a:r>
              <a:rPr lang="en-US" dirty="0"/>
              <a:t> </a:t>
            </a:r>
            <a:r>
              <a:rPr lang="en-US" dirty="0" err="1"/>
              <a:t>thêm</a:t>
            </a:r>
            <a:r>
              <a:rPr lang="en-US" dirty="0"/>
              <a:t> </a:t>
            </a:r>
            <a:r>
              <a:rPr lang="en-US" dirty="0">
                <a:solidFill>
                  <a:srgbClr val="000000"/>
                </a:solidFill>
                <a:highlight>
                  <a:srgbClr val="FFFFFF"/>
                </a:highlight>
                <a:latin typeface="arial" panose="020B0604020202020204" pitchFamily="34" charset="0"/>
              </a:rPr>
              <a:t>MVC Services </a:t>
            </a:r>
            <a:r>
              <a:rPr lang="en-US" dirty="0" err="1">
                <a:solidFill>
                  <a:srgbClr val="000000"/>
                </a:solidFill>
                <a:highlight>
                  <a:srgbClr val="FFFFFF"/>
                </a:highlight>
                <a:latin typeface="arial" panose="020B0604020202020204" pitchFamily="34" charset="0"/>
              </a:rPr>
              <a:t>và</a:t>
            </a:r>
            <a:r>
              <a:rPr lang="en-US" dirty="0">
                <a:solidFill>
                  <a:srgbClr val="000000"/>
                </a:solidFill>
                <a:highlight>
                  <a:srgbClr val="FFFFFF"/>
                </a:highlight>
                <a:latin typeface="arial" panose="020B0604020202020204" pitchFamily="34" charset="0"/>
              </a:rPr>
              <a:t> MVC Request </a:t>
            </a:r>
            <a:r>
              <a:rPr lang="en-US" dirty="0" err="1">
                <a:solidFill>
                  <a:srgbClr val="000000"/>
                </a:solidFill>
                <a:highlight>
                  <a:srgbClr val="FFFFFF"/>
                </a:highlight>
                <a:latin typeface="arial" panose="020B0604020202020204" pitchFamily="34" charset="0"/>
              </a:rPr>
              <a:t>thông</a:t>
            </a:r>
            <a:r>
              <a:rPr lang="en-US" dirty="0">
                <a:solidFill>
                  <a:srgbClr val="000000"/>
                </a:solidFill>
                <a:highlight>
                  <a:srgbClr val="FFFFFF"/>
                </a:highlight>
                <a:latin typeface="arial" panose="020B0604020202020204" pitchFamily="34" charset="0"/>
              </a:rPr>
              <a:t> qua middleware pipeline</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FFC9546B-4ED6-0F5B-934C-3071A94BFF65}"/>
              </a:ext>
            </a:extLst>
          </p:cNvPr>
          <p:cNvPicPr>
            <a:picLocks noChangeAspect="1"/>
          </p:cNvPicPr>
          <p:nvPr/>
        </p:nvPicPr>
        <p:blipFill>
          <a:blip r:embed="rId3"/>
          <a:stretch>
            <a:fillRect/>
          </a:stretch>
        </p:blipFill>
        <p:spPr>
          <a:xfrm>
            <a:off x="2730459" y="2716456"/>
            <a:ext cx="6391113" cy="2957513"/>
          </a:xfrm>
          <a:prstGeom prst="rect">
            <a:avLst/>
          </a:prstGeom>
        </p:spPr>
      </p:pic>
    </p:spTree>
    <p:extLst>
      <p:ext uri="{BB962C8B-B14F-4D97-AF65-F5344CB8AC3E}">
        <p14:creationId xmlns:p14="http://schemas.microsoft.com/office/powerpoint/2010/main" val="32375118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rPr>
              <a:t>Tạo</a:t>
            </a:r>
            <a:r>
              <a:rPr lang="en-US" sz="4800" b="1" dirty="0" smtClean="0">
                <a:solidFill>
                  <a:srgbClr val="FF0000"/>
                </a:solidFill>
              </a:rPr>
              <a:t> model</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Tạo</a:t>
            </a:r>
            <a:r>
              <a:rPr lang="en-US" dirty="0"/>
              <a:t> model </a:t>
            </a:r>
            <a:r>
              <a:rPr lang="en-US" dirty="0" err="1"/>
              <a:t>Customer.cs</a:t>
            </a:r>
            <a:endParaRPr lang="en-US" dirty="0"/>
          </a:p>
          <a:p>
            <a:endParaRPr lang="en-US" dirty="0"/>
          </a:p>
          <a:p>
            <a:r>
              <a:rPr lang="en-US" dirty="0" err="1"/>
              <a:t>Tạo</a:t>
            </a:r>
            <a:r>
              <a:rPr lang="en-US" dirty="0"/>
              <a:t> controller </a:t>
            </a:r>
            <a:r>
              <a:rPr lang="en-US" dirty="0" err="1"/>
              <a:t>yêu</a:t>
            </a:r>
            <a:r>
              <a:rPr lang="en-US" dirty="0"/>
              <a:t> </a:t>
            </a:r>
            <a:r>
              <a:rPr lang="en-US" dirty="0" err="1"/>
              <a:t>cầu</a:t>
            </a:r>
            <a:r>
              <a:rPr lang="en-US" dirty="0"/>
              <a:t> </a:t>
            </a:r>
          </a:p>
          <a:p>
            <a:pPr marL="0" indent="0">
              <a:buNone/>
            </a:pPr>
            <a:r>
              <a:rPr lang="en-US" dirty="0" err="1"/>
              <a:t>lấy</a:t>
            </a:r>
            <a:r>
              <a:rPr lang="en-US" dirty="0"/>
              <a:t> </a:t>
            </a:r>
            <a:r>
              <a:rPr lang="en-US" dirty="0" err="1"/>
              <a:t>dữ</a:t>
            </a:r>
            <a:r>
              <a:rPr lang="en-US" dirty="0"/>
              <a:t> </a:t>
            </a:r>
            <a:r>
              <a:rPr lang="en-US" dirty="0" err="1"/>
              <a:t>liệu</a:t>
            </a:r>
            <a:r>
              <a:rPr lang="en-US" dirty="0"/>
              <a:t> </a:t>
            </a:r>
            <a:r>
              <a:rPr lang="en-US" dirty="0" err="1"/>
              <a:t>từ</a:t>
            </a:r>
            <a:r>
              <a:rPr lang="en-US" dirty="0"/>
              <a:t> model </a:t>
            </a:r>
            <a:r>
              <a:rPr lang="en-US" dirty="0" err="1"/>
              <a:t>và</a:t>
            </a:r>
            <a:r>
              <a:rPr lang="en-US" dirty="0"/>
              <a:t> </a:t>
            </a:r>
          </a:p>
          <a:p>
            <a:pPr marL="0" indent="0">
              <a:buNone/>
            </a:pPr>
            <a:r>
              <a:rPr lang="en-US" dirty="0" err="1"/>
              <a:t>trả</a:t>
            </a:r>
            <a:r>
              <a:rPr lang="en-US" dirty="0"/>
              <a:t> </a:t>
            </a:r>
            <a:r>
              <a:rPr lang="en-US" dirty="0" err="1"/>
              <a:t>về</a:t>
            </a:r>
            <a:r>
              <a:rPr lang="en-US" dirty="0"/>
              <a:t> view </a:t>
            </a:r>
            <a:r>
              <a:rPr lang="en-US" dirty="0" err="1"/>
              <a:t>hiển</a:t>
            </a:r>
            <a:r>
              <a:rPr lang="en-US" dirty="0"/>
              <a:t> </a:t>
            </a:r>
            <a:r>
              <a:rPr lang="en-US" dirty="0" err="1"/>
              <a:t>thị</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3" name="Picture 2"/>
          <p:cNvPicPr>
            <a:picLocks noChangeAspect="1"/>
          </p:cNvPicPr>
          <p:nvPr/>
        </p:nvPicPr>
        <p:blipFill>
          <a:blip r:embed="rId3"/>
          <a:stretch>
            <a:fillRect/>
          </a:stretch>
        </p:blipFill>
        <p:spPr>
          <a:xfrm>
            <a:off x="6431131" y="777680"/>
            <a:ext cx="3444538" cy="3368332"/>
          </a:xfrm>
          <a:prstGeom prst="rect">
            <a:avLst/>
          </a:prstGeom>
        </p:spPr>
      </p:pic>
      <p:pic>
        <p:nvPicPr>
          <p:cNvPr id="7" name="Picture 6"/>
          <p:cNvPicPr>
            <a:picLocks noChangeAspect="1"/>
          </p:cNvPicPr>
          <p:nvPr/>
        </p:nvPicPr>
        <p:blipFill>
          <a:blip r:embed="rId4"/>
          <a:stretch>
            <a:fillRect/>
          </a:stretch>
        </p:blipFill>
        <p:spPr>
          <a:xfrm>
            <a:off x="708939" y="4047030"/>
            <a:ext cx="3543607" cy="1577477"/>
          </a:xfrm>
          <a:prstGeom prst="rect">
            <a:avLst/>
          </a:prstGeom>
        </p:spPr>
      </p:pic>
    </p:spTree>
    <p:extLst>
      <p:ext uri="{BB962C8B-B14F-4D97-AF65-F5344CB8AC3E}">
        <p14:creationId xmlns:p14="http://schemas.microsoft.com/office/powerpoint/2010/main" val="40087496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rPr>
              <a:t>Tạo</a:t>
            </a:r>
            <a:r>
              <a:rPr lang="en-US" sz="4800" b="1" dirty="0" smtClean="0">
                <a:solidFill>
                  <a:srgbClr val="FF0000"/>
                </a:solidFill>
              </a:rPr>
              <a:t> view</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Cần</a:t>
            </a:r>
            <a:r>
              <a:rPr lang="en-US" dirty="0"/>
              <a:t> </a:t>
            </a:r>
            <a:r>
              <a:rPr lang="en-US" dirty="0" err="1"/>
              <a:t>hiển</a:t>
            </a:r>
            <a:r>
              <a:rPr lang="en-US" dirty="0"/>
              <a:t> </a:t>
            </a:r>
            <a:r>
              <a:rPr lang="en-US" dirty="0" err="1"/>
              <a:t>thị</a:t>
            </a:r>
            <a:r>
              <a:rPr lang="en-US" dirty="0"/>
              <a:t> </a:t>
            </a:r>
            <a:r>
              <a:rPr lang="en-US" dirty="0" err="1"/>
              <a:t>thông</a:t>
            </a:r>
            <a:r>
              <a:rPr lang="en-US" dirty="0"/>
              <a:t> tin Customer </a:t>
            </a:r>
            <a:endParaRPr lang="en-US" dirty="0" smtClean="0"/>
          </a:p>
          <a:p>
            <a:pPr marL="0" indent="0">
              <a:buNone/>
            </a:pPr>
            <a:r>
              <a:rPr lang="en-US" dirty="0" err="1" smtClean="0"/>
              <a:t>nên</a:t>
            </a:r>
            <a:r>
              <a:rPr lang="en-US" dirty="0" smtClean="0"/>
              <a:t> </a:t>
            </a:r>
            <a:r>
              <a:rPr lang="en-US" dirty="0" err="1"/>
              <a:t>sẽ</a:t>
            </a:r>
            <a:r>
              <a:rPr lang="en-US" dirty="0"/>
              <a:t> </a:t>
            </a:r>
            <a:r>
              <a:rPr lang="en-US" dirty="0" err="1"/>
              <a:t>tạo</a:t>
            </a:r>
            <a:r>
              <a:rPr lang="en-US" dirty="0"/>
              <a:t> view </a:t>
            </a:r>
            <a:r>
              <a:rPr lang="en-US" dirty="0" err="1"/>
              <a:t>chứa</a:t>
            </a:r>
            <a:r>
              <a:rPr lang="en-US" dirty="0"/>
              <a:t> html </a:t>
            </a:r>
            <a:r>
              <a:rPr lang="en-US" dirty="0" err="1"/>
              <a:t>cùng</a:t>
            </a:r>
            <a:r>
              <a:rPr lang="en-US" dirty="0"/>
              <a:t> </a:t>
            </a:r>
            <a:r>
              <a:rPr lang="en-US" dirty="0" err="1"/>
              <a:t>với</a:t>
            </a:r>
            <a:r>
              <a:rPr lang="en-US" dirty="0"/>
              <a:t> </a:t>
            </a:r>
            <a:endParaRPr lang="en-US" dirty="0" smtClean="0"/>
          </a:p>
          <a:p>
            <a:pPr marL="0" indent="0">
              <a:buNone/>
            </a:pPr>
            <a:r>
              <a:rPr lang="en-US" dirty="0" err="1" smtClean="0"/>
              <a:t>các</a:t>
            </a:r>
            <a:r>
              <a:rPr lang="en-US" dirty="0" smtClean="0"/>
              <a:t> </a:t>
            </a:r>
            <a:r>
              <a:rPr lang="en-US" dirty="0" err="1"/>
              <a:t>thông</a:t>
            </a:r>
            <a:r>
              <a:rPr lang="en-US" dirty="0"/>
              <a:t> tin </a:t>
            </a:r>
            <a:r>
              <a:rPr lang="en-US" dirty="0" err="1"/>
              <a:t>từ</a:t>
            </a:r>
            <a:r>
              <a:rPr lang="en-US" dirty="0"/>
              <a:t> </a:t>
            </a:r>
            <a:r>
              <a:rPr lang="en-US" dirty="0" err="1"/>
              <a:t>đối</a:t>
            </a:r>
            <a:r>
              <a:rPr lang="en-US" dirty="0"/>
              <a:t> t</a:t>
            </a:r>
            <a:r>
              <a:rPr lang="vi-VN" dirty="0"/>
              <a:t>ư</a:t>
            </a:r>
            <a:r>
              <a:rPr lang="en-US" dirty="0" err="1"/>
              <a:t>ợng</a:t>
            </a:r>
            <a:r>
              <a:rPr lang="en-US" dirty="0"/>
              <a:t> customer</a:t>
            </a:r>
          </a:p>
          <a:p>
            <a:endParaRPr lang="en-US" dirty="0"/>
          </a:p>
          <a:p>
            <a:r>
              <a:rPr lang="en-US" dirty="0"/>
              <a:t>Run </a:t>
            </a:r>
            <a:r>
              <a:rPr lang="en-US" dirty="0" err="1"/>
              <a:t>ứng</a:t>
            </a:r>
            <a:r>
              <a:rPr lang="en-US" dirty="0"/>
              <a:t> </a:t>
            </a:r>
            <a:r>
              <a:rPr lang="en-US" dirty="0" err="1"/>
              <a:t>dụng</a:t>
            </a:r>
            <a:r>
              <a:rPr lang="en-US" dirty="0"/>
              <a:t>:</a:t>
            </a:r>
          </a:p>
          <a:p>
            <a:pPr marL="0" indent="0">
              <a:buNone/>
            </a:pP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p:cNvPicPr>
            <a:picLocks noChangeAspect="1"/>
          </p:cNvPicPr>
          <p:nvPr/>
        </p:nvPicPr>
        <p:blipFill>
          <a:blip r:embed="rId3"/>
          <a:stretch>
            <a:fillRect/>
          </a:stretch>
        </p:blipFill>
        <p:spPr>
          <a:xfrm>
            <a:off x="6962469" y="426671"/>
            <a:ext cx="3992746" cy="6109482"/>
          </a:xfrm>
          <a:prstGeom prst="rect">
            <a:avLst/>
          </a:prstGeom>
        </p:spPr>
      </p:pic>
      <p:pic>
        <p:nvPicPr>
          <p:cNvPr id="10" name="Picture 9"/>
          <p:cNvPicPr>
            <a:picLocks noChangeAspect="1"/>
          </p:cNvPicPr>
          <p:nvPr/>
        </p:nvPicPr>
        <p:blipFill>
          <a:blip r:embed="rId4"/>
          <a:stretch>
            <a:fillRect/>
          </a:stretch>
        </p:blipFill>
        <p:spPr>
          <a:xfrm>
            <a:off x="585209" y="4314494"/>
            <a:ext cx="4915326" cy="2118544"/>
          </a:xfrm>
          <a:prstGeom prst="rect">
            <a:avLst/>
          </a:prstGeom>
        </p:spPr>
      </p:pic>
    </p:spTree>
    <p:extLst>
      <p:ext uri="{BB962C8B-B14F-4D97-AF65-F5344CB8AC3E}">
        <p14:creationId xmlns:p14="http://schemas.microsoft.com/office/powerpoint/2010/main" val="27625571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4800" dirty="0" err="1" smtClean="0">
                <a:solidFill>
                  <a:srgbClr val="FFC000"/>
                </a:solidFill>
              </a:rPr>
              <a:t>Thực</a:t>
            </a:r>
            <a:r>
              <a:rPr lang="en-US" sz="4800" dirty="0" smtClean="0">
                <a:solidFill>
                  <a:srgbClr val="FFC000"/>
                </a:solidFill>
              </a:rPr>
              <a:t> </a:t>
            </a:r>
            <a:r>
              <a:rPr lang="en-US" sz="4800" dirty="0" err="1" smtClean="0">
                <a:solidFill>
                  <a:srgbClr val="FFC000"/>
                </a:solidFill>
              </a:rPr>
              <a:t>hiện</a:t>
            </a:r>
            <a:r>
              <a:rPr lang="en-US" sz="4800" dirty="0" smtClean="0">
                <a:solidFill>
                  <a:srgbClr val="FFC000"/>
                </a:solidFill>
              </a:rPr>
              <a:t> </a:t>
            </a:r>
            <a:r>
              <a:rPr lang="en-US" sz="4800" dirty="0" err="1" smtClean="0">
                <a:solidFill>
                  <a:srgbClr val="FFC000"/>
                </a:solidFill>
              </a:rPr>
              <a:t>các</a:t>
            </a:r>
            <a:r>
              <a:rPr lang="en-US" sz="4800" dirty="0" smtClean="0">
                <a:solidFill>
                  <a:srgbClr val="FFC000"/>
                </a:solidFill>
              </a:rPr>
              <a:t> </a:t>
            </a:r>
            <a:r>
              <a:rPr lang="en-US" sz="4800" dirty="0" err="1" smtClean="0">
                <a:solidFill>
                  <a:srgbClr val="FFC000"/>
                </a:solidFill>
              </a:rPr>
              <a:t>ví</a:t>
            </a:r>
            <a:r>
              <a:rPr lang="en-US" sz="4800" dirty="0" smtClean="0">
                <a:solidFill>
                  <a:srgbClr val="FFC000"/>
                </a:solidFill>
              </a:rPr>
              <a:t> </a:t>
            </a:r>
            <a:r>
              <a:rPr lang="en-US" sz="4800" dirty="0" err="1" smtClean="0">
                <a:solidFill>
                  <a:srgbClr val="FFC000"/>
                </a:solidFill>
              </a:rPr>
              <a:t>dụ</a:t>
            </a:r>
            <a:endParaRPr lang="en-US" sz="48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432550"/>
            <a:ext cx="4114800" cy="365125"/>
          </a:xfrm>
          <a:prstGeom prst="rect">
            <a:avLst/>
          </a:prstGeom>
        </p:spPr>
        <p:txBody>
          <a:bodyPr/>
          <a:lstStyle/>
          <a:p>
            <a:r>
              <a:rPr lang="vi-VN" dirty="0"/>
              <a:t>Lập trình C#3</a:t>
            </a:r>
            <a:endParaRPr lang="en-US" dirty="0"/>
          </a:p>
        </p:txBody>
      </p:sp>
      <p:sp>
        <p:nvSpPr>
          <p:cNvPr id="5" name="Slide Number Placeholder 4"/>
          <p:cNvSpPr>
            <a:spLocks noGrp="1"/>
          </p:cNvSpPr>
          <p:nvPr>
            <p:ph type="sldNum" sz="quarter" idx="4294967295"/>
          </p:nvPr>
        </p:nvSpPr>
        <p:spPr>
          <a:xfrm>
            <a:off x="0" y="6340475"/>
            <a:ext cx="303213" cy="365125"/>
          </a:xfrm>
          <a:prstGeom prst="rect">
            <a:avLst/>
          </a:prstGeom>
        </p:spPr>
        <p:txBody>
          <a:bodyPr/>
          <a:lstStyle/>
          <a:p>
            <a:fld id="{8AACEE26-D979-411F-B229-D9F26BAEDF07}" type="slidenum">
              <a:rPr lang="en-US" smtClean="0"/>
              <a:t>10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31001868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Tự</a:t>
            </a:r>
            <a:r>
              <a:rPr lang="en-US" sz="4800" b="1" dirty="0">
                <a:solidFill>
                  <a:srgbClr val="FF0000"/>
                </a:solidFill>
                <a:latin typeface="+mn-lt"/>
              </a:rPr>
              <a:t> </a:t>
            </a:r>
            <a:r>
              <a:rPr lang="en-US" sz="4800" b="1" dirty="0" err="1">
                <a:solidFill>
                  <a:srgbClr val="FF0000"/>
                </a:solidFill>
                <a:latin typeface="+mn-lt"/>
              </a:rPr>
              <a:t>tạo</a:t>
            </a:r>
            <a:r>
              <a:rPr lang="en-US" sz="4800" b="1" dirty="0">
                <a:solidFill>
                  <a:srgbClr val="FF0000"/>
                </a:solidFill>
                <a:latin typeface="+mn-lt"/>
              </a:rPr>
              <a:t> Asp.net core </a:t>
            </a:r>
            <a:r>
              <a:rPr lang="vi-VN" sz="4800" b="1" dirty="0">
                <a:solidFill>
                  <a:srgbClr val="FF0000"/>
                </a:solidFill>
                <a:latin typeface="+mn-lt"/>
              </a:rPr>
              <a:t>MVC</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11</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Có</a:t>
            </a:r>
            <a:r>
              <a:rPr lang="en-US" dirty="0"/>
              <a:t> </a:t>
            </a:r>
            <a:r>
              <a:rPr lang="en-US" dirty="0" err="1"/>
              <a:t>thể</a:t>
            </a:r>
            <a:r>
              <a:rPr lang="en-US" dirty="0"/>
              <a:t> </a:t>
            </a:r>
            <a:r>
              <a:rPr lang="en-US" dirty="0" err="1"/>
              <a:t>tự</a:t>
            </a:r>
            <a:r>
              <a:rPr lang="en-US" dirty="0"/>
              <a:t> </a:t>
            </a:r>
            <a:r>
              <a:rPr lang="en-US" dirty="0" err="1"/>
              <a:t>tạo</a:t>
            </a:r>
            <a:r>
              <a:rPr lang="en-US" dirty="0"/>
              <a:t> project Asp.net core </a:t>
            </a:r>
            <a:r>
              <a:rPr lang="en-US" dirty="0" err="1"/>
              <a:t>mvc</a:t>
            </a:r>
            <a:r>
              <a:rPr lang="en-US" dirty="0"/>
              <a:t> </a:t>
            </a:r>
            <a:r>
              <a:rPr lang="en-US" dirty="0" err="1"/>
              <a:t>mà</a:t>
            </a:r>
            <a:r>
              <a:rPr lang="en-US" dirty="0"/>
              <a:t> </a:t>
            </a:r>
            <a:r>
              <a:rPr lang="en-US" dirty="0" err="1"/>
              <a:t>không</a:t>
            </a:r>
            <a:r>
              <a:rPr lang="en-US" dirty="0"/>
              <a:t> </a:t>
            </a:r>
            <a:r>
              <a:rPr lang="en-US" dirty="0" err="1"/>
              <a:t>cần</a:t>
            </a:r>
            <a:r>
              <a:rPr lang="en-US" dirty="0"/>
              <a:t> </a:t>
            </a:r>
            <a:r>
              <a:rPr lang="en-US" dirty="0" err="1"/>
              <a:t>dùng</a:t>
            </a:r>
            <a:r>
              <a:rPr lang="en-US" dirty="0"/>
              <a:t> template </a:t>
            </a:r>
            <a:r>
              <a:rPr lang="en-US" dirty="0" err="1"/>
              <a:t>mvc</a:t>
            </a:r>
            <a:r>
              <a:rPr lang="en-US" dirty="0"/>
              <a:t> </a:t>
            </a:r>
            <a:r>
              <a:rPr lang="en-US" dirty="0" err="1"/>
              <a:t>gợi</a:t>
            </a:r>
            <a:r>
              <a:rPr lang="en-US" dirty="0"/>
              <a:t> ý </a:t>
            </a:r>
            <a:r>
              <a:rPr lang="en-US" dirty="0" err="1"/>
              <a:t>của</a:t>
            </a:r>
            <a:r>
              <a:rPr lang="en-US" dirty="0"/>
              <a:t> Vs.</a:t>
            </a:r>
          </a:p>
          <a:p>
            <a:r>
              <a:rPr lang="en-US" dirty="0" err="1"/>
              <a:t>Bạn</a:t>
            </a:r>
            <a:r>
              <a:rPr lang="en-US" dirty="0"/>
              <a:t> </a:t>
            </a:r>
            <a:r>
              <a:rPr lang="en-US" dirty="0" err="1"/>
              <a:t>cần</a:t>
            </a:r>
            <a:r>
              <a:rPr lang="en-US" dirty="0"/>
              <a:t> </a:t>
            </a:r>
            <a:r>
              <a:rPr lang="en-US" dirty="0" err="1"/>
              <a:t>tự</a:t>
            </a:r>
            <a:r>
              <a:rPr lang="en-US" dirty="0"/>
              <a:t> </a:t>
            </a:r>
            <a:r>
              <a:rPr lang="en-US" dirty="0" err="1"/>
              <a:t>tay</a:t>
            </a:r>
            <a:r>
              <a:rPr lang="en-US" dirty="0"/>
              <a:t> code </a:t>
            </a:r>
            <a:r>
              <a:rPr lang="en-US" dirty="0" err="1"/>
              <a:t>thêm</a:t>
            </a:r>
            <a:r>
              <a:rPr lang="en-US" dirty="0"/>
              <a:t> </a:t>
            </a:r>
            <a:r>
              <a:rPr lang="en-US" dirty="0" err="1"/>
              <a:t>các</a:t>
            </a:r>
            <a:r>
              <a:rPr lang="en-US" dirty="0"/>
              <a:t> middleware, </a:t>
            </a:r>
            <a:r>
              <a:rPr lang="en-US" dirty="0" err="1"/>
              <a:t>modle</a:t>
            </a:r>
            <a:r>
              <a:rPr lang="en-US" dirty="0"/>
              <a:t>, controller, view </a:t>
            </a:r>
            <a:r>
              <a:rPr lang="en-US" dirty="0" err="1"/>
              <a:t>cho</a:t>
            </a:r>
            <a:r>
              <a:rPr lang="en-US" dirty="0"/>
              <a:t> </a:t>
            </a:r>
            <a:r>
              <a:rPr lang="en-US" dirty="0" err="1"/>
              <a:t>dự</a:t>
            </a:r>
            <a:r>
              <a:rPr lang="en-US" dirty="0"/>
              <a:t> </a:t>
            </a:r>
            <a:r>
              <a:rPr lang="en-US" dirty="0" err="1"/>
              <a:t>án</a:t>
            </a:r>
            <a:endParaRPr lang="en-US" dirty="0"/>
          </a:p>
          <a:p>
            <a:pPr marL="0" indent="0">
              <a:buNone/>
            </a:pP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1" name="Picture 10">
            <a:extLst>
              <a:ext uri="{FF2B5EF4-FFF2-40B4-BE49-F238E27FC236}">
                <a16:creationId xmlns:a16="http://schemas.microsoft.com/office/drawing/2014/main" id="{6930E983-1CA2-1A2A-4240-E340D86C217E}"/>
              </a:ext>
            </a:extLst>
          </p:cNvPr>
          <p:cNvPicPr>
            <a:picLocks noChangeAspect="1"/>
          </p:cNvPicPr>
          <p:nvPr/>
        </p:nvPicPr>
        <p:blipFill>
          <a:blip r:embed="rId3"/>
          <a:stretch>
            <a:fillRect/>
          </a:stretch>
        </p:blipFill>
        <p:spPr>
          <a:xfrm>
            <a:off x="2775438" y="2772767"/>
            <a:ext cx="6477000" cy="3491508"/>
          </a:xfrm>
          <a:prstGeom prst="rect">
            <a:avLst/>
          </a:prstGeom>
        </p:spPr>
      </p:pic>
    </p:spTree>
    <p:extLst>
      <p:ext uri="{BB962C8B-B14F-4D97-AF65-F5344CB8AC3E}">
        <p14:creationId xmlns:p14="http://schemas.microsoft.com/office/powerpoint/2010/main" val="4283660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Thêm</a:t>
            </a:r>
            <a:r>
              <a:rPr lang="en-US" sz="4800" b="1" dirty="0">
                <a:solidFill>
                  <a:srgbClr val="FF0000"/>
                </a:solidFill>
                <a:latin typeface="+mn-lt"/>
              </a:rPr>
              <a:t> MVC Service</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Thêm</a:t>
            </a:r>
            <a:r>
              <a:rPr lang="en-US" dirty="0"/>
              <a:t> extension method </a:t>
            </a:r>
            <a:r>
              <a:rPr lang="en-US" dirty="0" err="1"/>
              <a:t>AddMvc</a:t>
            </a:r>
            <a:r>
              <a:rPr lang="en-US" dirty="0"/>
              <a:t>() </a:t>
            </a:r>
            <a:r>
              <a:rPr lang="en-US" dirty="0" err="1"/>
              <a:t>vào</a:t>
            </a:r>
            <a:r>
              <a:rPr lang="en-US" dirty="0"/>
              <a:t> </a:t>
            </a:r>
            <a:r>
              <a:rPr lang="vi-VN" dirty="0"/>
              <a:t>phương thức </a:t>
            </a:r>
            <a:r>
              <a:rPr lang="en-US" dirty="0"/>
              <a:t>Program</a:t>
            </a:r>
            <a:r>
              <a:rPr lang="vi-VN" dirty="0"/>
              <a:t>.cs</a:t>
            </a:r>
            <a:r>
              <a:rPr lang="en-US" dirty="0"/>
              <a:t> (</a:t>
            </a:r>
            <a:r>
              <a:rPr lang="en-US" dirty="0" err="1">
                <a:solidFill>
                  <a:srgbClr val="000000"/>
                </a:solidFill>
                <a:highlight>
                  <a:srgbClr val="FFFFFF"/>
                </a:highlight>
                <a:latin typeface="arial" panose="020B0604020202020204" pitchFamily="34" charset="0"/>
              </a:rPr>
              <a:t>AddControllersWithViews</a:t>
            </a:r>
            <a:r>
              <a:rPr lang="en-US" dirty="0">
                <a:solidFill>
                  <a:srgbClr val="000000"/>
                </a:solidFill>
                <a:highlight>
                  <a:srgbClr val="FFFFFF"/>
                </a:highlight>
                <a:latin typeface="arial" panose="020B0604020202020204" pitchFamily="34" charset="0"/>
              </a:rPr>
              <a:t>())</a:t>
            </a:r>
            <a:endParaRPr lang="en-US" dirty="0"/>
          </a:p>
          <a:p>
            <a:r>
              <a:rPr lang="en-US" dirty="0" err="1"/>
              <a:t>Dùng</a:t>
            </a:r>
            <a:r>
              <a:rPr lang="en-US" dirty="0"/>
              <a:t> </a:t>
            </a:r>
            <a:r>
              <a:rPr lang="en-US" dirty="0" err="1"/>
              <a:t>ph</a:t>
            </a:r>
            <a:r>
              <a:rPr lang="vi-VN" dirty="0"/>
              <a:t>ư</a:t>
            </a:r>
            <a:r>
              <a:rPr lang="en-US" dirty="0" err="1"/>
              <a:t>ơng</a:t>
            </a:r>
            <a:r>
              <a:rPr lang="en-US" dirty="0"/>
              <a:t> </a:t>
            </a:r>
            <a:r>
              <a:rPr lang="en-US" dirty="0" err="1"/>
              <a:t>thức</a:t>
            </a:r>
            <a:r>
              <a:rPr lang="en-US" dirty="0"/>
              <a:t> </a:t>
            </a:r>
            <a:r>
              <a:rPr lang="vi-VN" dirty="0"/>
              <a:t>AddMvc()</a:t>
            </a:r>
            <a:r>
              <a:rPr lang="en-US" dirty="0"/>
              <a:t> </a:t>
            </a:r>
            <a:r>
              <a:rPr lang="en-US" dirty="0" err="1"/>
              <a:t>sẽ</a:t>
            </a:r>
            <a:r>
              <a:rPr lang="en-US" dirty="0"/>
              <a:t> </a:t>
            </a:r>
            <a:r>
              <a:rPr lang="vi-VN" dirty="0"/>
              <a:t>thêm tất cả các service liên quan đến MVC như Authorization, RazorViewEngine, Tag Helper, Data Annotaion, JsonFomatters, Cors…vào service collection</a:t>
            </a:r>
            <a:endParaRPr lang="en-US" dirty="0"/>
          </a:p>
          <a:p>
            <a:endParaRPr lang="en-US" dirty="0"/>
          </a:p>
          <a:p>
            <a:pPr marL="0" indent="0">
              <a:buNone/>
            </a:pP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03518A08-9683-7678-D96B-DECB918B1681}"/>
              </a:ext>
            </a:extLst>
          </p:cNvPr>
          <p:cNvPicPr>
            <a:picLocks noChangeAspect="1"/>
          </p:cNvPicPr>
          <p:nvPr/>
        </p:nvPicPr>
        <p:blipFill>
          <a:blip r:embed="rId3"/>
          <a:stretch>
            <a:fillRect/>
          </a:stretch>
        </p:blipFill>
        <p:spPr>
          <a:xfrm>
            <a:off x="2807677" y="3365897"/>
            <a:ext cx="6781800" cy="3355578"/>
          </a:xfrm>
          <a:prstGeom prst="rect">
            <a:avLst/>
          </a:prstGeom>
        </p:spPr>
      </p:pic>
    </p:spTree>
    <p:extLst>
      <p:ext uri="{BB962C8B-B14F-4D97-AF65-F5344CB8AC3E}">
        <p14:creationId xmlns:p14="http://schemas.microsoft.com/office/powerpoint/2010/main" val="18077646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Thêm</a:t>
            </a:r>
            <a:r>
              <a:rPr lang="en-US" sz="4800" b="1" dirty="0">
                <a:solidFill>
                  <a:srgbClr val="FF0000"/>
                </a:solidFill>
                <a:latin typeface="+mn-lt"/>
              </a:rPr>
              <a:t> MVC Middleware</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Ứng</a:t>
            </a:r>
            <a:r>
              <a:rPr lang="en-US" dirty="0"/>
              <a:t> </a:t>
            </a:r>
            <a:r>
              <a:rPr lang="en-US" dirty="0" err="1"/>
              <a:t>dụng</a:t>
            </a:r>
            <a:r>
              <a:rPr lang="en-US" dirty="0"/>
              <a:t> </a:t>
            </a:r>
            <a:r>
              <a:rPr lang="en-US" dirty="0" err="1"/>
              <a:t>tới</a:t>
            </a:r>
            <a:r>
              <a:rPr lang="en-US" dirty="0"/>
              <a:t> </a:t>
            </a:r>
            <a:r>
              <a:rPr lang="en-US" dirty="0" err="1"/>
              <a:t>thời</a:t>
            </a:r>
            <a:r>
              <a:rPr lang="en-US" dirty="0"/>
              <a:t> </a:t>
            </a:r>
            <a:r>
              <a:rPr lang="en-US" dirty="0" err="1"/>
              <a:t>điểm</a:t>
            </a:r>
            <a:r>
              <a:rPr lang="en-US" dirty="0"/>
              <a:t> </a:t>
            </a:r>
            <a:r>
              <a:rPr lang="en-US" dirty="0" err="1"/>
              <a:t>này</a:t>
            </a:r>
            <a:r>
              <a:rPr lang="en-US" dirty="0"/>
              <a:t> </a:t>
            </a:r>
            <a:r>
              <a:rPr lang="en-US" dirty="0" err="1"/>
              <a:t>ch</a:t>
            </a:r>
            <a:r>
              <a:rPr lang="vi-VN" dirty="0"/>
              <a:t>ư</a:t>
            </a:r>
            <a:r>
              <a:rPr lang="en-US" dirty="0"/>
              <a:t>a </a:t>
            </a:r>
            <a:r>
              <a:rPr lang="en-US" dirty="0" err="1"/>
              <a:t>tồn</a:t>
            </a:r>
            <a:r>
              <a:rPr lang="en-US" dirty="0"/>
              <a:t> </a:t>
            </a:r>
            <a:r>
              <a:rPr lang="en-US" dirty="0" err="1"/>
              <a:t>tại</a:t>
            </a:r>
            <a:r>
              <a:rPr lang="en-US" dirty="0"/>
              <a:t> controller </a:t>
            </a:r>
            <a:r>
              <a:rPr lang="en-US" dirty="0" err="1"/>
              <a:t>và</a:t>
            </a:r>
            <a:r>
              <a:rPr lang="en-US" dirty="0"/>
              <a:t> action, </a:t>
            </a:r>
            <a:r>
              <a:rPr lang="en-US" dirty="0" err="1"/>
              <a:t>cần</a:t>
            </a:r>
            <a:r>
              <a:rPr lang="en-US" dirty="0"/>
              <a:t> </a:t>
            </a:r>
            <a:r>
              <a:rPr lang="en-US" dirty="0" err="1"/>
              <a:t>thêm</a:t>
            </a:r>
            <a:r>
              <a:rPr lang="en-US" dirty="0"/>
              <a:t> controller </a:t>
            </a:r>
            <a:r>
              <a:rPr lang="en-US" dirty="0" err="1"/>
              <a:t>cho</a:t>
            </a:r>
            <a:r>
              <a:rPr lang="en-US" dirty="0"/>
              <a:t> </a:t>
            </a:r>
            <a:r>
              <a:rPr lang="en-US" dirty="0" err="1"/>
              <a:t>ứng</a:t>
            </a:r>
            <a:r>
              <a:rPr lang="en-US" dirty="0"/>
              <a:t> </a:t>
            </a:r>
            <a:r>
              <a:rPr lang="en-US" dirty="0" err="1"/>
              <a:t>dụng</a:t>
            </a:r>
            <a:endParaRPr lang="en-US" dirty="0"/>
          </a:p>
          <a:p>
            <a:r>
              <a:rPr lang="vi-VN" dirty="0"/>
              <a:t>HomeController kế thừa Controller và có một phương thức public là Index. Phương thức public này trong controller gọi là Action Methods</a:t>
            </a:r>
            <a:endParaRPr lang="en-US" dirty="0"/>
          </a:p>
          <a:p>
            <a:endParaRPr lang="en-US" dirty="0"/>
          </a:p>
          <a:p>
            <a:r>
              <a:rPr lang="en-US" dirty="0" err="1"/>
              <a:t>Bổ</a:t>
            </a:r>
            <a:r>
              <a:rPr lang="en-US" dirty="0"/>
              <a:t> sung middleware </a:t>
            </a:r>
            <a:r>
              <a:rPr lang="en-US" dirty="0" err="1"/>
              <a:t>giúp</a:t>
            </a:r>
            <a:r>
              <a:rPr lang="en-US" dirty="0"/>
              <a:t> </a:t>
            </a:r>
            <a:r>
              <a:rPr lang="en-US" dirty="0" err="1"/>
              <a:t>định</a:t>
            </a:r>
            <a:r>
              <a:rPr lang="en-US" dirty="0"/>
              <a:t> </a:t>
            </a:r>
            <a:r>
              <a:rPr lang="en-US" dirty="0" err="1"/>
              <a:t>tuyến</a:t>
            </a:r>
            <a:endParaRPr lang="en-US" dirty="0"/>
          </a:p>
          <a:p>
            <a:pPr marL="0" indent="0">
              <a:buNone/>
            </a:pPr>
            <a:r>
              <a:rPr lang="en-US" dirty="0"/>
              <a:t>controller</a:t>
            </a:r>
          </a:p>
          <a:p>
            <a:endParaRPr lang="en-US" dirty="0"/>
          </a:p>
          <a:p>
            <a:pPr marL="0" indent="0">
              <a:buNone/>
            </a:pP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F0BA4D7F-D9E0-E26E-706C-B6349B872E2D}"/>
              </a:ext>
            </a:extLst>
          </p:cNvPr>
          <p:cNvPicPr>
            <a:picLocks noChangeAspect="1"/>
          </p:cNvPicPr>
          <p:nvPr/>
        </p:nvPicPr>
        <p:blipFill>
          <a:blip r:embed="rId3"/>
          <a:stretch>
            <a:fillRect/>
          </a:stretch>
        </p:blipFill>
        <p:spPr>
          <a:xfrm>
            <a:off x="8147538" y="3074377"/>
            <a:ext cx="2888673" cy="2028825"/>
          </a:xfrm>
          <a:prstGeom prst="rect">
            <a:avLst/>
          </a:prstGeom>
        </p:spPr>
      </p:pic>
      <p:pic>
        <p:nvPicPr>
          <p:cNvPr id="10" name="Picture 9">
            <a:extLst>
              <a:ext uri="{FF2B5EF4-FFF2-40B4-BE49-F238E27FC236}">
                <a16:creationId xmlns:a16="http://schemas.microsoft.com/office/drawing/2014/main" id="{0D68B70B-DE03-9990-3A1A-0938EBD6E60B}"/>
              </a:ext>
            </a:extLst>
          </p:cNvPr>
          <p:cNvPicPr>
            <a:picLocks noChangeAspect="1"/>
          </p:cNvPicPr>
          <p:nvPr/>
        </p:nvPicPr>
        <p:blipFill>
          <a:blip r:embed="rId4"/>
          <a:stretch>
            <a:fillRect/>
          </a:stretch>
        </p:blipFill>
        <p:spPr>
          <a:xfrm>
            <a:off x="542924" y="4566137"/>
            <a:ext cx="6534153" cy="1866901"/>
          </a:xfrm>
          <a:prstGeom prst="rect">
            <a:avLst/>
          </a:prstGeom>
        </p:spPr>
      </p:pic>
    </p:spTree>
    <p:extLst>
      <p:ext uri="{BB962C8B-B14F-4D97-AF65-F5344CB8AC3E}">
        <p14:creationId xmlns:p14="http://schemas.microsoft.com/office/powerpoint/2010/main" val="20910243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Adding Home Controller</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dirty="0"/>
              <a:t>Controller trong MVC pattern có trách nhiệm nhận thông tin request và phản hồi lại cho người dùng</a:t>
            </a:r>
            <a:r>
              <a:rPr lang="en-US" dirty="0"/>
              <a:t>. </a:t>
            </a:r>
            <a:r>
              <a:rPr lang="en-US" dirty="0" err="1"/>
              <a:t>Ví</a:t>
            </a:r>
            <a:r>
              <a:rPr lang="en-US" dirty="0"/>
              <a:t> </a:t>
            </a:r>
            <a:r>
              <a:rPr lang="en-US" dirty="0" err="1"/>
              <a:t>dụ</a:t>
            </a:r>
            <a:r>
              <a:rPr lang="en-US" dirty="0"/>
              <a:t> action </a:t>
            </a:r>
            <a:r>
              <a:rPr lang="en-US" dirty="0" err="1"/>
              <a:t>trả</a:t>
            </a:r>
            <a:r>
              <a:rPr lang="en-US" dirty="0"/>
              <a:t> </a:t>
            </a:r>
            <a:r>
              <a:rPr lang="en-US" dirty="0" err="1"/>
              <a:t>về</a:t>
            </a:r>
            <a:r>
              <a:rPr lang="en-US" dirty="0"/>
              <a:t> </a:t>
            </a:r>
            <a:r>
              <a:rPr lang="en-US" dirty="0" err="1"/>
              <a:t>một</a:t>
            </a:r>
            <a:r>
              <a:rPr lang="en-US" dirty="0"/>
              <a:t> </a:t>
            </a:r>
            <a:r>
              <a:rPr lang="en-US" dirty="0" err="1"/>
              <a:t>chuỗi</a:t>
            </a:r>
            <a:r>
              <a:rPr lang="en-US" dirty="0"/>
              <a:t> (</a:t>
            </a:r>
            <a:r>
              <a:rPr lang="en-US" dirty="0" err="1"/>
              <a:t>không</a:t>
            </a:r>
            <a:r>
              <a:rPr lang="en-US" dirty="0"/>
              <a:t> </a:t>
            </a:r>
            <a:r>
              <a:rPr lang="en-US" dirty="0" err="1"/>
              <a:t>trả</a:t>
            </a:r>
            <a:r>
              <a:rPr lang="en-US" dirty="0"/>
              <a:t> </a:t>
            </a:r>
            <a:r>
              <a:rPr lang="en-US" dirty="0" err="1"/>
              <a:t>về</a:t>
            </a:r>
            <a:r>
              <a:rPr lang="en-US" dirty="0"/>
              <a:t> view):</a:t>
            </a:r>
          </a:p>
          <a:p>
            <a:endParaRPr lang="en-US" dirty="0"/>
          </a:p>
          <a:p>
            <a:endParaRPr lang="en-US" dirty="0"/>
          </a:p>
          <a:p>
            <a:endParaRPr lang="en-US" dirty="0"/>
          </a:p>
          <a:p>
            <a:r>
              <a:rPr lang="en-US" dirty="0"/>
              <a:t>Run </a:t>
            </a:r>
            <a:r>
              <a:rPr lang="en-US" dirty="0" err="1"/>
              <a:t>dự</a:t>
            </a:r>
            <a:r>
              <a:rPr lang="en-US" dirty="0"/>
              <a:t> </a:t>
            </a:r>
            <a:r>
              <a:rPr lang="en-US" dirty="0" err="1"/>
              <a:t>án</a:t>
            </a:r>
            <a:r>
              <a:rPr lang="en-US" dirty="0"/>
              <a:t> </a:t>
            </a:r>
          </a:p>
          <a:p>
            <a:endParaRPr lang="en-US" dirty="0"/>
          </a:p>
          <a:p>
            <a:r>
              <a:rPr lang="en-US" dirty="0" err="1"/>
              <a:t>Có</a:t>
            </a:r>
            <a:r>
              <a:rPr lang="en-US" dirty="0"/>
              <a:t> </a:t>
            </a:r>
            <a:r>
              <a:rPr lang="en-US" dirty="0" err="1"/>
              <a:t>thể</a:t>
            </a:r>
            <a:r>
              <a:rPr lang="en-US" dirty="0"/>
              <a:t> </a:t>
            </a:r>
            <a:r>
              <a:rPr lang="vi-VN" dirty="0"/>
              <a:t>thay đổi URL với /Home hoặc /Home/Index nó cũng trả về kết quả tương tự.</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1" name="Picture 10">
            <a:extLst>
              <a:ext uri="{FF2B5EF4-FFF2-40B4-BE49-F238E27FC236}">
                <a16:creationId xmlns:a16="http://schemas.microsoft.com/office/drawing/2014/main" id="{F03F2658-47EB-4A29-A4A5-93242D6F6C0C}"/>
              </a:ext>
            </a:extLst>
          </p:cNvPr>
          <p:cNvPicPr>
            <a:picLocks noChangeAspect="1"/>
          </p:cNvPicPr>
          <p:nvPr/>
        </p:nvPicPr>
        <p:blipFill>
          <a:blip r:embed="rId3"/>
          <a:stretch>
            <a:fillRect/>
          </a:stretch>
        </p:blipFill>
        <p:spPr>
          <a:xfrm>
            <a:off x="3150210" y="2100874"/>
            <a:ext cx="5229225" cy="1409700"/>
          </a:xfrm>
          <a:prstGeom prst="rect">
            <a:avLst/>
          </a:prstGeom>
        </p:spPr>
      </p:pic>
      <p:pic>
        <p:nvPicPr>
          <p:cNvPr id="13" name="Picture 12">
            <a:extLst>
              <a:ext uri="{FF2B5EF4-FFF2-40B4-BE49-F238E27FC236}">
                <a16:creationId xmlns:a16="http://schemas.microsoft.com/office/drawing/2014/main" id="{96215C93-FDAA-40DF-A0CF-6CFBEB9A5B3D}"/>
              </a:ext>
            </a:extLst>
          </p:cNvPr>
          <p:cNvPicPr>
            <a:picLocks noChangeAspect="1"/>
          </p:cNvPicPr>
          <p:nvPr/>
        </p:nvPicPr>
        <p:blipFill>
          <a:blip r:embed="rId4"/>
          <a:stretch>
            <a:fillRect/>
          </a:stretch>
        </p:blipFill>
        <p:spPr>
          <a:xfrm>
            <a:off x="3709621" y="3850787"/>
            <a:ext cx="2867025" cy="990600"/>
          </a:xfrm>
          <a:prstGeom prst="rect">
            <a:avLst/>
          </a:prstGeom>
        </p:spPr>
      </p:pic>
      <p:pic>
        <p:nvPicPr>
          <p:cNvPr id="14" name="Picture 13">
            <a:extLst>
              <a:ext uri="{FF2B5EF4-FFF2-40B4-BE49-F238E27FC236}">
                <a16:creationId xmlns:a16="http://schemas.microsoft.com/office/drawing/2014/main" id="{0A1562B1-A3A4-45FC-8B82-58F99C3E0854}"/>
              </a:ext>
            </a:extLst>
          </p:cNvPr>
          <p:cNvPicPr>
            <a:picLocks noChangeAspect="1"/>
          </p:cNvPicPr>
          <p:nvPr/>
        </p:nvPicPr>
        <p:blipFill>
          <a:blip r:embed="rId5"/>
          <a:stretch>
            <a:fillRect/>
          </a:stretch>
        </p:blipFill>
        <p:spPr>
          <a:xfrm>
            <a:off x="5356346" y="5702300"/>
            <a:ext cx="3619500" cy="1019175"/>
          </a:xfrm>
          <a:prstGeom prst="rect">
            <a:avLst/>
          </a:prstGeom>
        </p:spPr>
      </p:pic>
    </p:spTree>
    <p:extLst>
      <p:ext uri="{BB962C8B-B14F-4D97-AF65-F5344CB8AC3E}">
        <p14:creationId xmlns:p14="http://schemas.microsoft.com/office/powerpoint/2010/main" val="24136095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3600" dirty="0" err="1" smtClean="0">
                <a:solidFill>
                  <a:srgbClr val="FFC000"/>
                </a:solidFill>
              </a:rPr>
              <a:t>Hãy</a:t>
            </a:r>
            <a:r>
              <a:rPr lang="en-US" sz="3600" dirty="0" smtClean="0">
                <a:solidFill>
                  <a:srgbClr val="FFC000"/>
                </a:solidFill>
              </a:rPr>
              <a:t> </a:t>
            </a:r>
            <a:r>
              <a:rPr lang="en-US" sz="3600" dirty="0" err="1" smtClean="0">
                <a:solidFill>
                  <a:srgbClr val="FFC000"/>
                </a:solidFill>
              </a:rPr>
              <a:t>thự</a:t>
            </a:r>
            <a:r>
              <a:rPr lang="en-US" sz="3600" dirty="0" err="1" smtClean="0">
                <a:solidFill>
                  <a:srgbClr val="FFC000"/>
                </a:solidFill>
              </a:rPr>
              <a:t>c</a:t>
            </a:r>
            <a:r>
              <a:rPr lang="en-US" sz="3600" dirty="0" smtClean="0">
                <a:solidFill>
                  <a:srgbClr val="FFC000"/>
                </a:solidFill>
              </a:rPr>
              <a:t> </a:t>
            </a:r>
            <a:r>
              <a:rPr lang="en-US" sz="3600" dirty="0" err="1" smtClean="0">
                <a:solidFill>
                  <a:srgbClr val="FFC000"/>
                </a:solidFill>
              </a:rPr>
              <a:t>hiện</a:t>
            </a:r>
            <a:r>
              <a:rPr lang="en-US" sz="3600" dirty="0" smtClean="0">
                <a:solidFill>
                  <a:srgbClr val="FFC000"/>
                </a:solidFill>
              </a:rPr>
              <a:t> </a:t>
            </a:r>
            <a:r>
              <a:rPr lang="en-US" sz="3600" dirty="0" err="1" smtClean="0">
                <a:solidFill>
                  <a:srgbClr val="FFC000"/>
                </a:solidFill>
              </a:rPr>
              <a:t>các</a:t>
            </a:r>
            <a:r>
              <a:rPr lang="en-US" sz="3600" dirty="0" smtClean="0">
                <a:solidFill>
                  <a:srgbClr val="FFC000"/>
                </a:solidFill>
              </a:rPr>
              <a:t> </a:t>
            </a:r>
            <a:r>
              <a:rPr lang="en-US" sz="3600" dirty="0" err="1" smtClean="0">
                <a:solidFill>
                  <a:srgbClr val="FFC000"/>
                </a:solidFill>
              </a:rPr>
              <a:t>ví</a:t>
            </a:r>
            <a:r>
              <a:rPr lang="en-US" sz="3600" dirty="0" smtClean="0">
                <a:solidFill>
                  <a:srgbClr val="FFC000"/>
                </a:solidFill>
              </a:rPr>
              <a:t> </a:t>
            </a:r>
            <a:r>
              <a:rPr lang="en-US" sz="3600" dirty="0" err="1" smtClean="0">
                <a:solidFill>
                  <a:srgbClr val="FFC000"/>
                </a:solidFill>
              </a:rPr>
              <a:t>dụ</a:t>
            </a:r>
            <a:endParaRPr lang="en-US" sz="36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432550"/>
            <a:ext cx="4114800" cy="365125"/>
          </a:xfrm>
          <a:prstGeom prst="rect">
            <a:avLst/>
          </a:prstGeom>
        </p:spPr>
        <p:txBody>
          <a:bodyPr/>
          <a:lstStyle/>
          <a:p>
            <a:r>
              <a:rPr lang="vi-VN" dirty="0"/>
              <a:t>Lập trình C#3</a:t>
            </a:r>
            <a:endParaRPr lang="en-US" dirty="0"/>
          </a:p>
        </p:txBody>
      </p:sp>
      <p:sp>
        <p:nvSpPr>
          <p:cNvPr id="5" name="Slide Number Placeholder 4"/>
          <p:cNvSpPr>
            <a:spLocks noGrp="1"/>
          </p:cNvSpPr>
          <p:nvPr>
            <p:ph type="sldNum" sz="quarter" idx="4294967295"/>
          </p:nvPr>
        </p:nvSpPr>
        <p:spPr>
          <a:xfrm>
            <a:off x="0" y="6340475"/>
            <a:ext cx="303213" cy="365125"/>
          </a:xfrm>
          <a:prstGeom prst="rect">
            <a:avLst/>
          </a:prstGeom>
        </p:spPr>
        <p:txBody>
          <a:bodyPr/>
          <a:lstStyle/>
          <a:p>
            <a:fld id="{8AACEE26-D979-411F-B229-D9F26BAEDF07}" type="slidenum">
              <a:rPr lang="en-US" smtClean="0"/>
              <a:t>15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13633905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Action method</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a:t>
            </a:r>
            <a:r>
              <a:rPr lang="vi-VN" dirty="0"/>
              <a:t>ác phương thức public của lớp Controller được gọi là Phương thức hành động</a:t>
            </a:r>
            <a:r>
              <a:rPr lang="en-US" dirty="0"/>
              <a:t> (Action method)</a:t>
            </a:r>
          </a:p>
          <a:p>
            <a:pPr lvl="1"/>
            <a:r>
              <a:rPr lang="vi-VN" dirty="0"/>
              <a:t>Phương thức Action phải là public. Không thể private hay protected</a:t>
            </a:r>
            <a:endParaRPr lang="en-US" dirty="0"/>
          </a:p>
          <a:p>
            <a:pPr lvl="1"/>
            <a:r>
              <a:rPr lang="vi-VN" dirty="0"/>
              <a:t>Phương thức Action không thể nap chồng (overloaded)</a:t>
            </a:r>
            <a:endParaRPr lang="en-US" dirty="0"/>
          </a:p>
          <a:p>
            <a:pPr lvl="1"/>
            <a:r>
              <a:rPr lang="vi-VN" dirty="0"/>
              <a:t>Phương thức Action không thể là phương thức static</a:t>
            </a:r>
            <a:endParaRPr lang="en-US" dirty="0"/>
          </a:p>
          <a:p>
            <a:pPr marL="457200" lvl="1" indent="0">
              <a:buNone/>
            </a:pPr>
            <a:r>
              <a:rPr lang="vi-VN" dirty="0"/>
              <a:t>Ví dụ sau về phương thức action là Index của lớp StudentControlle</a:t>
            </a:r>
            <a:endParaRPr lang="en-US" dirty="0"/>
          </a:p>
          <a:p>
            <a:pPr marL="457200" lvl="1" indent="0">
              <a:buNone/>
            </a:pPr>
            <a:endParaRPr lang="en-US" dirty="0"/>
          </a:p>
          <a:p>
            <a:pPr marL="457200" lvl="1" indent="0">
              <a:buNone/>
            </a:pPr>
            <a:endParaRPr lang="en-US" dirty="0"/>
          </a:p>
          <a:p>
            <a:endParaRPr lang="en-US" dirty="0"/>
          </a:p>
          <a:p>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0" name="Picture 2" descr="Action Method in ASP.NET MVC">
            <a:extLst>
              <a:ext uri="{FF2B5EF4-FFF2-40B4-BE49-F238E27FC236}">
                <a16:creationId xmlns:a16="http://schemas.microsoft.com/office/drawing/2014/main" id="{9DBC042B-2FFD-490F-809F-F6AE77671C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25" y="3948112"/>
            <a:ext cx="5286375"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75516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Action </a:t>
            </a:r>
            <a:r>
              <a:rPr lang="en-US" sz="4800" b="1" dirty="0" err="1" smtClean="0">
                <a:solidFill>
                  <a:srgbClr val="FF0000"/>
                </a:solidFill>
                <a:latin typeface="+mn-lt"/>
              </a:rPr>
              <a:t>trả</a:t>
            </a:r>
            <a:r>
              <a:rPr lang="en-US" sz="4800" b="1" dirty="0" smtClean="0">
                <a:solidFill>
                  <a:srgbClr val="FF0000"/>
                </a:solidFill>
                <a:latin typeface="+mn-lt"/>
              </a:rPr>
              <a:t> </a:t>
            </a:r>
            <a:r>
              <a:rPr lang="en-US" sz="4800" b="1" dirty="0" err="1" smtClean="0">
                <a:solidFill>
                  <a:srgbClr val="FF0000"/>
                </a:solidFill>
                <a:latin typeface="+mn-lt"/>
              </a:rPr>
              <a:t>về</a:t>
            </a:r>
            <a:r>
              <a:rPr lang="en-US" sz="4800" b="1" dirty="0" smtClean="0">
                <a:solidFill>
                  <a:srgbClr val="FF0000"/>
                </a:solidFill>
                <a:latin typeface="+mn-lt"/>
              </a:rPr>
              <a:t> view</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Tạo</a:t>
            </a:r>
            <a:r>
              <a:rPr lang="en-US" dirty="0"/>
              <a:t> action </a:t>
            </a:r>
            <a:r>
              <a:rPr lang="en-US" dirty="0" err="1"/>
              <a:t>trả</a:t>
            </a:r>
            <a:r>
              <a:rPr lang="en-US" dirty="0"/>
              <a:t> </a:t>
            </a:r>
            <a:r>
              <a:rPr lang="en-US" dirty="0" err="1"/>
              <a:t>về</a:t>
            </a:r>
            <a:r>
              <a:rPr lang="en-US" dirty="0"/>
              <a:t> view:</a:t>
            </a:r>
          </a:p>
          <a:p>
            <a:pPr lvl="1"/>
            <a:r>
              <a:rPr lang="en-US" dirty="0" err="1"/>
              <a:t>Kiểu</a:t>
            </a:r>
            <a:r>
              <a:rPr lang="en-US" dirty="0"/>
              <a:t> </a:t>
            </a:r>
            <a:r>
              <a:rPr lang="en-US" dirty="0" err="1"/>
              <a:t>trả</a:t>
            </a:r>
            <a:r>
              <a:rPr lang="en-US" dirty="0"/>
              <a:t> </a:t>
            </a:r>
            <a:r>
              <a:rPr lang="en-US" dirty="0" err="1"/>
              <a:t>về</a:t>
            </a:r>
            <a:r>
              <a:rPr lang="en-US" dirty="0"/>
              <a:t> </a:t>
            </a:r>
            <a:r>
              <a:rPr lang="en-US" dirty="0" err="1"/>
              <a:t>của</a:t>
            </a:r>
            <a:r>
              <a:rPr lang="en-US" dirty="0"/>
              <a:t> </a:t>
            </a:r>
            <a:r>
              <a:rPr lang="en-US" dirty="0" err="1"/>
              <a:t>các</a:t>
            </a:r>
            <a:r>
              <a:rPr lang="en-US" dirty="0"/>
              <a:t> action </a:t>
            </a:r>
            <a:r>
              <a:rPr lang="en-US" dirty="0" err="1"/>
              <a:t>nên</a:t>
            </a:r>
            <a:r>
              <a:rPr lang="en-US" dirty="0"/>
              <a:t> </a:t>
            </a:r>
            <a:r>
              <a:rPr lang="en-US" dirty="0" err="1"/>
              <a:t>là</a:t>
            </a:r>
            <a:r>
              <a:rPr lang="en-US" dirty="0"/>
              <a:t> </a:t>
            </a:r>
            <a:r>
              <a:rPr lang="en-US" dirty="0" err="1"/>
              <a:t>IActionResult</a:t>
            </a:r>
            <a:r>
              <a:rPr lang="en-US" dirty="0"/>
              <a:t> </a:t>
            </a:r>
            <a:r>
              <a:rPr lang="en-US" dirty="0" err="1"/>
              <a:t>IActionResult</a:t>
            </a:r>
            <a:r>
              <a:rPr lang="en-US" dirty="0"/>
              <a:t> </a:t>
            </a:r>
            <a:r>
              <a:rPr lang="en-US" dirty="0" err="1"/>
              <a:t>hoặc</a:t>
            </a:r>
            <a:r>
              <a:rPr lang="en-US" dirty="0"/>
              <a:t> </a:t>
            </a:r>
            <a:r>
              <a:rPr lang="en-US" dirty="0" err="1"/>
              <a:t>các</a:t>
            </a:r>
            <a:r>
              <a:rPr lang="en-US" dirty="0"/>
              <a:t> </a:t>
            </a:r>
            <a:r>
              <a:rPr lang="en-US" dirty="0" err="1"/>
              <a:t>kế</a:t>
            </a:r>
            <a:r>
              <a:rPr lang="en-US" dirty="0"/>
              <a:t> </a:t>
            </a:r>
            <a:r>
              <a:rPr lang="en-US" dirty="0" err="1"/>
              <a:t>thừa</a:t>
            </a:r>
            <a:r>
              <a:rPr lang="en-US" dirty="0"/>
              <a:t> </a:t>
            </a:r>
            <a:r>
              <a:rPr lang="en-US" dirty="0" err="1"/>
              <a:t>của</a:t>
            </a:r>
            <a:r>
              <a:rPr lang="en-US" dirty="0"/>
              <a:t> </a:t>
            </a:r>
            <a:r>
              <a:rPr lang="en-US" dirty="0" err="1"/>
              <a:t>nó</a:t>
            </a:r>
            <a:endParaRPr lang="en-US" dirty="0"/>
          </a:p>
          <a:p>
            <a:pPr lvl="1"/>
            <a:endParaRPr lang="en-US" dirty="0"/>
          </a:p>
          <a:p>
            <a:pPr lvl="1"/>
            <a:endParaRPr lang="en-US" dirty="0"/>
          </a:p>
          <a:p>
            <a:pPr marL="457200" lvl="1" indent="0">
              <a:buNone/>
            </a:pPr>
            <a:endParaRPr lang="en-US" dirty="0"/>
          </a:p>
          <a:p>
            <a:pPr lvl="0"/>
            <a:r>
              <a:rPr lang="en-US" dirty="0" err="1">
                <a:solidFill>
                  <a:prstClr val="black"/>
                </a:solidFill>
              </a:rPr>
              <a:t>Tạo</a:t>
            </a:r>
            <a:r>
              <a:rPr lang="en-US" dirty="0">
                <a:solidFill>
                  <a:prstClr val="black"/>
                </a:solidFill>
              </a:rPr>
              <a:t> view</a:t>
            </a:r>
          </a:p>
          <a:p>
            <a:pPr lvl="1"/>
            <a:r>
              <a:rPr lang="en-US" dirty="0"/>
              <a:t>T</a:t>
            </a:r>
            <a:r>
              <a:rPr lang="vi-VN" dirty="0"/>
              <a:t>ất cả các View sẽ nằm trong thư mục Views thuộc thư mục gốc</a:t>
            </a:r>
            <a:endParaRPr lang="en-US" dirty="0"/>
          </a:p>
          <a:p>
            <a:pPr lvl="1"/>
            <a:r>
              <a:rPr lang="vi-VN" dirty="0"/>
              <a:t>Mỗi Action Method trong Controller sẽ được tạo ra một file view tương ứng giống tên của Action Method</a:t>
            </a:r>
            <a:endParaRPr lang="en-US" dirty="0">
              <a:solidFill>
                <a:prstClr val="black"/>
              </a:solidFill>
            </a:endParaRPr>
          </a:p>
          <a:p>
            <a:pPr marL="457200" lvl="1" indent="0">
              <a:buNone/>
            </a:pPr>
            <a:endParaRPr lang="en-US" dirty="0"/>
          </a:p>
          <a:p>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14E6CD2E-E0AB-455E-B1B8-01DE29047B42}"/>
              </a:ext>
            </a:extLst>
          </p:cNvPr>
          <p:cNvPicPr>
            <a:picLocks noChangeAspect="1"/>
          </p:cNvPicPr>
          <p:nvPr/>
        </p:nvPicPr>
        <p:blipFill>
          <a:blip r:embed="rId3"/>
          <a:stretch>
            <a:fillRect/>
          </a:stretch>
        </p:blipFill>
        <p:spPr>
          <a:xfrm>
            <a:off x="4259141" y="2485781"/>
            <a:ext cx="2200275" cy="1171575"/>
          </a:xfrm>
          <a:prstGeom prst="rect">
            <a:avLst/>
          </a:prstGeom>
        </p:spPr>
      </p:pic>
    </p:spTree>
    <p:extLst>
      <p:ext uri="{BB962C8B-B14F-4D97-AF65-F5344CB8AC3E}">
        <p14:creationId xmlns:p14="http://schemas.microsoft.com/office/powerpoint/2010/main" val="33651734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Action </a:t>
            </a:r>
            <a:r>
              <a:rPr lang="en-US" sz="4800" b="1" dirty="0" err="1" smtClean="0">
                <a:solidFill>
                  <a:srgbClr val="FF0000"/>
                </a:solidFill>
                <a:latin typeface="+mn-lt"/>
              </a:rPr>
              <a:t>trả</a:t>
            </a:r>
            <a:r>
              <a:rPr lang="en-US" sz="4800" b="1" dirty="0" smtClean="0">
                <a:solidFill>
                  <a:srgbClr val="FF0000"/>
                </a:solidFill>
                <a:latin typeface="+mn-lt"/>
              </a:rPr>
              <a:t> </a:t>
            </a:r>
            <a:r>
              <a:rPr lang="en-US" sz="4800" b="1" dirty="0" err="1" smtClean="0">
                <a:solidFill>
                  <a:srgbClr val="FF0000"/>
                </a:solidFill>
                <a:latin typeface="+mn-lt"/>
              </a:rPr>
              <a:t>về</a:t>
            </a:r>
            <a:r>
              <a:rPr lang="en-US" sz="4800" b="1" dirty="0" smtClean="0">
                <a:solidFill>
                  <a:srgbClr val="FF0000"/>
                </a:solidFill>
                <a:latin typeface="+mn-lt"/>
              </a:rPr>
              <a:t> view</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dirty="0" err="1">
                <a:solidFill>
                  <a:prstClr val="black"/>
                </a:solidFill>
              </a:rPr>
              <a:t>Tạo</a:t>
            </a:r>
            <a:r>
              <a:rPr lang="en-US" dirty="0">
                <a:solidFill>
                  <a:prstClr val="black"/>
                </a:solidFill>
              </a:rPr>
              <a:t> view</a:t>
            </a:r>
          </a:p>
          <a:p>
            <a:pPr lvl="1"/>
            <a:r>
              <a:rPr lang="en-US" dirty="0" err="1"/>
              <a:t>Ví</a:t>
            </a:r>
            <a:r>
              <a:rPr lang="en-US" dirty="0"/>
              <a:t> </a:t>
            </a:r>
            <a:r>
              <a:rPr lang="en-US" dirty="0" err="1"/>
              <a:t>dụ</a:t>
            </a:r>
            <a:r>
              <a:rPr lang="en-US" dirty="0"/>
              <a:t> </a:t>
            </a:r>
            <a:r>
              <a:rPr lang="vi-VN" dirty="0"/>
              <a:t>HomeController sẽ có một file Index.cshtml trong thư mục Views/Home</a:t>
            </a:r>
            <a:endParaRPr lang="en-US" dirty="0"/>
          </a:p>
          <a:p>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6E367243-E547-4383-899F-DFD02FB0AEFA}"/>
              </a:ext>
            </a:extLst>
          </p:cNvPr>
          <p:cNvPicPr>
            <a:picLocks noChangeAspect="1"/>
          </p:cNvPicPr>
          <p:nvPr/>
        </p:nvPicPr>
        <p:blipFill>
          <a:blip r:embed="rId3"/>
          <a:stretch>
            <a:fillRect/>
          </a:stretch>
        </p:blipFill>
        <p:spPr>
          <a:xfrm>
            <a:off x="7004538" y="2322063"/>
            <a:ext cx="4467225" cy="2438952"/>
          </a:xfrm>
          <a:prstGeom prst="rect">
            <a:avLst/>
          </a:prstGeom>
        </p:spPr>
      </p:pic>
      <p:pic>
        <p:nvPicPr>
          <p:cNvPr id="10" name="Picture 9">
            <a:extLst>
              <a:ext uri="{FF2B5EF4-FFF2-40B4-BE49-F238E27FC236}">
                <a16:creationId xmlns:a16="http://schemas.microsoft.com/office/drawing/2014/main" id="{3B4A63FA-B55A-40A3-9DCE-1CF63E10B8BB}"/>
              </a:ext>
            </a:extLst>
          </p:cNvPr>
          <p:cNvPicPr>
            <a:picLocks noChangeAspect="1"/>
          </p:cNvPicPr>
          <p:nvPr/>
        </p:nvPicPr>
        <p:blipFill>
          <a:blip r:embed="rId4"/>
          <a:stretch>
            <a:fillRect/>
          </a:stretch>
        </p:blipFill>
        <p:spPr>
          <a:xfrm>
            <a:off x="1128346" y="2426310"/>
            <a:ext cx="3352800" cy="1419225"/>
          </a:xfrm>
          <a:prstGeom prst="rect">
            <a:avLst/>
          </a:prstGeom>
        </p:spPr>
      </p:pic>
      <p:pic>
        <p:nvPicPr>
          <p:cNvPr id="11" name="Picture 10">
            <a:extLst>
              <a:ext uri="{FF2B5EF4-FFF2-40B4-BE49-F238E27FC236}">
                <a16:creationId xmlns:a16="http://schemas.microsoft.com/office/drawing/2014/main" id="{7640ED3A-4F55-499A-8567-07A62A2E43D5}"/>
              </a:ext>
            </a:extLst>
          </p:cNvPr>
          <p:cNvPicPr>
            <a:picLocks noChangeAspect="1"/>
          </p:cNvPicPr>
          <p:nvPr/>
        </p:nvPicPr>
        <p:blipFill>
          <a:blip r:embed="rId5"/>
          <a:stretch>
            <a:fillRect/>
          </a:stretch>
        </p:blipFill>
        <p:spPr>
          <a:xfrm>
            <a:off x="1776046" y="4505476"/>
            <a:ext cx="2057400" cy="1247714"/>
          </a:xfrm>
          <a:prstGeom prst="rect">
            <a:avLst/>
          </a:prstGeom>
        </p:spPr>
      </p:pic>
      <p:cxnSp>
        <p:nvCxnSpPr>
          <p:cNvPr id="7" name="Straight Arrow Connector 6"/>
          <p:cNvCxnSpPr/>
          <p:nvPr/>
        </p:nvCxnSpPr>
        <p:spPr>
          <a:xfrm>
            <a:off x="2672861" y="3510481"/>
            <a:ext cx="175846" cy="18058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1809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Action </a:t>
            </a:r>
            <a:r>
              <a:rPr lang="en-US" sz="4800" b="1" dirty="0" err="1" smtClean="0">
                <a:solidFill>
                  <a:srgbClr val="FF0000"/>
                </a:solidFill>
                <a:latin typeface="+mn-lt"/>
              </a:rPr>
              <a:t>trả</a:t>
            </a:r>
            <a:r>
              <a:rPr lang="en-US" sz="4800" b="1" dirty="0" smtClean="0">
                <a:solidFill>
                  <a:srgbClr val="FF0000"/>
                </a:solidFill>
                <a:latin typeface="+mn-lt"/>
              </a:rPr>
              <a:t> </a:t>
            </a:r>
            <a:r>
              <a:rPr lang="en-US" sz="4800" b="1" dirty="0" err="1" smtClean="0">
                <a:solidFill>
                  <a:srgbClr val="FF0000"/>
                </a:solidFill>
                <a:latin typeface="+mn-lt"/>
              </a:rPr>
              <a:t>về</a:t>
            </a:r>
            <a:r>
              <a:rPr lang="en-US" sz="4800" b="1" dirty="0" smtClean="0">
                <a:solidFill>
                  <a:srgbClr val="FF0000"/>
                </a:solidFill>
                <a:latin typeface="+mn-lt"/>
              </a:rPr>
              <a:t> view</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dirty="0" err="1">
                <a:solidFill>
                  <a:prstClr val="black"/>
                </a:solidFill>
              </a:rPr>
              <a:t>Tạo</a:t>
            </a:r>
            <a:r>
              <a:rPr lang="en-US" dirty="0">
                <a:solidFill>
                  <a:prstClr val="black"/>
                </a:solidFill>
              </a:rPr>
              <a:t> view</a:t>
            </a:r>
          </a:p>
          <a:p>
            <a:pPr lvl="1"/>
            <a:r>
              <a:rPr lang="en-US" dirty="0" err="1"/>
              <a:t>Ví</a:t>
            </a:r>
            <a:r>
              <a:rPr lang="en-US" dirty="0"/>
              <a:t> </a:t>
            </a:r>
            <a:r>
              <a:rPr lang="en-US" dirty="0" err="1"/>
              <a:t>dụ</a:t>
            </a:r>
            <a:r>
              <a:rPr lang="en-US" dirty="0"/>
              <a:t> </a:t>
            </a:r>
            <a:r>
              <a:rPr lang="en-US" dirty="0" err="1"/>
              <a:t>thay</a:t>
            </a:r>
            <a:r>
              <a:rPr lang="en-US" dirty="0"/>
              <a:t> </a:t>
            </a:r>
            <a:r>
              <a:rPr lang="en-US" dirty="0" err="1"/>
              <a:t>đổi</a:t>
            </a:r>
            <a:r>
              <a:rPr lang="en-US" dirty="0"/>
              <a:t> </a:t>
            </a:r>
            <a:r>
              <a:rPr lang="en-US" dirty="0" err="1"/>
              <a:t>nội</a:t>
            </a:r>
            <a:r>
              <a:rPr lang="en-US" dirty="0"/>
              <a:t> dung </a:t>
            </a:r>
            <a:r>
              <a:rPr lang="en-US" dirty="0" err="1"/>
              <a:t>Index.cshtml</a:t>
            </a:r>
            <a:endParaRPr lang="en-US" dirty="0"/>
          </a:p>
          <a:p>
            <a:pPr lvl="1"/>
            <a:endParaRPr lang="en-US" dirty="0"/>
          </a:p>
          <a:p>
            <a:pPr lvl="1"/>
            <a:endParaRPr lang="en-US" dirty="0"/>
          </a:p>
          <a:p>
            <a:pPr lvl="1"/>
            <a:r>
              <a:rPr lang="en-US" dirty="0" smtClean="0"/>
              <a:t>Run </a:t>
            </a:r>
            <a:r>
              <a:rPr lang="en-US" dirty="0" err="1"/>
              <a:t>ứng</a:t>
            </a:r>
            <a:r>
              <a:rPr lang="en-US" dirty="0"/>
              <a:t> </a:t>
            </a:r>
            <a:r>
              <a:rPr lang="en-US" dirty="0" err="1"/>
              <a:t>dụng</a:t>
            </a:r>
            <a:r>
              <a:rPr lang="en-US" dirty="0"/>
              <a:t>, </a:t>
            </a:r>
            <a:r>
              <a:rPr lang="vi-VN" dirty="0"/>
              <a:t>Action method gọi View bằng </a:t>
            </a:r>
            <a:endParaRPr lang="en-US" dirty="0" smtClean="0"/>
          </a:p>
          <a:p>
            <a:pPr marL="457200" lvl="1" indent="0">
              <a:buNone/>
            </a:pPr>
            <a:r>
              <a:rPr lang="en-US" dirty="0" smtClean="0"/>
              <a:t>   </a:t>
            </a:r>
            <a:r>
              <a:rPr lang="vi-VN" dirty="0" smtClean="0"/>
              <a:t>cách </a:t>
            </a:r>
            <a:r>
              <a:rPr lang="vi-VN" dirty="0"/>
              <a:t>sử dụng phương thức View()</a:t>
            </a:r>
            <a:r>
              <a:rPr lang="en-US" dirty="0"/>
              <a:t>, </a:t>
            </a:r>
            <a:endParaRPr lang="en-US" dirty="0" smtClean="0"/>
          </a:p>
          <a:p>
            <a:pPr marL="457200" lvl="1" indent="0">
              <a:buNone/>
            </a:pPr>
            <a:r>
              <a:rPr lang="en-US" dirty="0" smtClean="0"/>
              <a:t>   </a:t>
            </a:r>
            <a:r>
              <a:rPr lang="en-US" dirty="0" err="1" smtClean="0"/>
              <a:t>tr</a:t>
            </a:r>
            <a:r>
              <a:rPr lang="vi-VN" dirty="0"/>
              <a:t>ư</a:t>
            </a:r>
            <a:r>
              <a:rPr lang="en-US" dirty="0" err="1"/>
              <a:t>ờng</a:t>
            </a:r>
            <a:r>
              <a:rPr lang="en-US" dirty="0"/>
              <a:t> </a:t>
            </a:r>
            <a:r>
              <a:rPr lang="en-US" dirty="0" err="1"/>
              <a:t>hợp</a:t>
            </a:r>
            <a:r>
              <a:rPr lang="en-US" dirty="0"/>
              <a:t> </a:t>
            </a:r>
            <a:r>
              <a:rPr lang="en-US" dirty="0" err="1"/>
              <a:t>này</a:t>
            </a:r>
            <a:r>
              <a:rPr lang="en-US" dirty="0"/>
              <a:t> action index </a:t>
            </a:r>
            <a:r>
              <a:rPr lang="en-US" dirty="0" err="1"/>
              <a:t>tìm</a:t>
            </a:r>
            <a:r>
              <a:rPr lang="en-US" dirty="0"/>
              <a:t> view </a:t>
            </a:r>
            <a:r>
              <a:rPr lang="en-US" dirty="0" err="1"/>
              <a:t>index.chtml</a:t>
            </a:r>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p:cNvPicPr>
            <a:picLocks noChangeAspect="1"/>
          </p:cNvPicPr>
          <p:nvPr/>
        </p:nvPicPr>
        <p:blipFill>
          <a:blip r:embed="rId3"/>
          <a:stretch>
            <a:fillRect/>
          </a:stretch>
        </p:blipFill>
        <p:spPr>
          <a:xfrm>
            <a:off x="1180674" y="4497056"/>
            <a:ext cx="4915326" cy="2118544"/>
          </a:xfrm>
          <a:prstGeom prst="rect">
            <a:avLst/>
          </a:prstGeom>
        </p:spPr>
      </p:pic>
      <p:pic>
        <p:nvPicPr>
          <p:cNvPr id="13" name="Picture 12"/>
          <p:cNvPicPr>
            <a:picLocks noChangeAspect="1"/>
          </p:cNvPicPr>
          <p:nvPr/>
        </p:nvPicPr>
        <p:blipFill>
          <a:blip r:embed="rId4"/>
          <a:stretch>
            <a:fillRect/>
          </a:stretch>
        </p:blipFill>
        <p:spPr>
          <a:xfrm>
            <a:off x="8153400" y="1142512"/>
            <a:ext cx="3520745" cy="5547841"/>
          </a:xfrm>
          <a:prstGeom prst="rect">
            <a:avLst/>
          </a:prstGeom>
        </p:spPr>
      </p:pic>
    </p:spTree>
    <p:extLst>
      <p:ext uri="{BB962C8B-B14F-4D97-AF65-F5344CB8AC3E}">
        <p14:creationId xmlns:p14="http://schemas.microsoft.com/office/powerpoint/2010/main" val="31920775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Kết</a:t>
            </a:r>
            <a:r>
              <a:rPr lang="en-US" sz="4800" b="1" dirty="0">
                <a:solidFill>
                  <a:srgbClr val="FF0000"/>
                </a:solidFill>
                <a:latin typeface="+mn-lt"/>
              </a:rPr>
              <a:t> </a:t>
            </a:r>
            <a:r>
              <a:rPr lang="en-US" sz="4800" b="1" dirty="0" err="1">
                <a:solidFill>
                  <a:srgbClr val="FF0000"/>
                </a:solidFill>
                <a:latin typeface="+mn-lt"/>
              </a:rPr>
              <a:t>hợp</a:t>
            </a:r>
            <a:r>
              <a:rPr lang="en-US" sz="4800" b="1" dirty="0">
                <a:solidFill>
                  <a:srgbClr val="FF0000"/>
                </a:solidFill>
                <a:latin typeface="+mn-lt"/>
              </a:rPr>
              <a:t> model-controller-view</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dirty="0" err="1">
                <a:solidFill>
                  <a:prstClr val="black"/>
                </a:solidFill>
              </a:rPr>
              <a:t>Ví</a:t>
            </a:r>
            <a:r>
              <a:rPr lang="en-US" dirty="0">
                <a:solidFill>
                  <a:prstClr val="black"/>
                </a:solidFill>
              </a:rPr>
              <a:t> </a:t>
            </a:r>
            <a:r>
              <a:rPr lang="en-US" dirty="0" err="1">
                <a:solidFill>
                  <a:prstClr val="black"/>
                </a:solidFill>
              </a:rPr>
              <a:t>dụ</a:t>
            </a:r>
            <a:r>
              <a:rPr lang="en-US" dirty="0">
                <a:solidFill>
                  <a:prstClr val="black"/>
                </a:solidFill>
              </a:rPr>
              <a:t> </a:t>
            </a:r>
            <a:r>
              <a:rPr lang="en-US" dirty="0" err="1">
                <a:solidFill>
                  <a:prstClr val="black"/>
                </a:solidFill>
              </a:rPr>
              <a:t>tạo</a:t>
            </a:r>
            <a:r>
              <a:rPr lang="en-US" dirty="0">
                <a:solidFill>
                  <a:prstClr val="black"/>
                </a:solidFill>
              </a:rPr>
              <a:t> project </a:t>
            </a:r>
            <a:r>
              <a:rPr lang="en-US" dirty="0" err="1">
                <a:solidFill>
                  <a:prstClr val="black"/>
                </a:solidFill>
              </a:rPr>
              <a:t>hiển</a:t>
            </a:r>
            <a:r>
              <a:rPr lang="en-US" dirty="0">
                <a:solidFill>
                  <a:prstClr val="black"/>
                </a:solidFill>
              </a:rPr>
              <a:t> </a:t>
            </a:r>
            <a:r>
              <a:rPr lang="en-US" dirty="0" err="1">
                <a:solidFill>
                  <a:prstClr val="black"/>
                </a:solidFill>
              </a:rPr>
              <a:t>thị</a:t>
            </a:r>
            <a:r>
              <a:rPr lang="en-US" dirty="0">
                <a:solidFill>
                  <a:prstClr val="black"/>
                </a:solidFill>
              </a:rPr>
              <a:t> </a:t>
            </a:r>
            <a:r>
              <a:rPr lang="en-US" dirty="0" err="1">
                <a:solidFill>
                  <a:prstClr val="black"/>
                </a:solidFill>
              </a:rPr>
              <a:t>thông</a:t>
            </a:r>
            <a:r>
              <a:rPr lang="en-US" dirty="0">
                <a:solidFill>
                  <a:prstClr val="black"/>
                </a:solidFill>
              </a:rPr>
              <a:t> tin </a:t>
            </a:r>
            <a:r>
              <a:rPr lang="en-US" dirty="0" err="1">
                <a:solidFill>
                  <a:prstClr val="black"/>
                </a:solidFill>
              </a:rPr>
              <a:t>các</a:t>
            </a:r>
            <a:r>
              <a:rPr lang="en-US" dirty="0">
                <a:solidFill>
                  <a:prstClr val="black"/>
                </a:solidFill>
              </a:rPr>
              <a:t> Customer </a:t>
            </a:r>
            <a:r>
              <a:rPr lang="en-US" dirty="0" err="1">
                <a:solidFill>
                  <a:prstClr val="black"/>
                </a:solidFill>
              </a:rPr>
              <a:t>gồm</a:t>
            </a:r>
            <a:r>
              <a:rPr lang="en-US" dirty="0" smtClean="0">
                <a:solidFill>
                  <a:prstClr val="black"/>
                </a:solidFill>
              </a:rPr>
              <a:t>: </a:t>
            </a:r>
            <a:r>
              <a:rPr lang="en-US" dirty="0" smtClean="0"/>
              <a:t>ID</a:t>
            </a:r>
            <a:r>
              <a:rPr lang="en-US" dirty="0"/>
              <a:t>, </a:t>
            </a:r>
            <a:r>
              <a:rPr lang="en-US" dirty="0" smtClean="0"/>
              <a:t>Name, Address, City</a:t>
            </a:r>
            <a:endParaRPr lang="en-US" dirty="0"/>
          </a:p>
          <a:p>
            <a:pPr lvl="0"/>
            <a:r>
              <a:rPr lang="en-US" dirty="0">
                <a:solidFill>
                  <a:prstClr val="black"/>
                </a:solidFill>
              </a:rPr>
              <a:t>B1: </a:t>
            </a:r>
            <a:r>
              <a:rPr lang="en-US" dirty="0" err="1">
                <a:solidFill>
                  <a:prstClr val="black"/>
                </a:solidFill>
              </a:rPr>
              <a:t>tạo</a:t>
            </a:r>
            <a:r>
              <a:rPr lang="en-US" dirty="0">
                <a:solidFill>
                  <a:prstClr val="black"/>
                </a:solidFill>
              </a:rPr>
              <a:t> model </a:t>
            </a:r>
            <a:r>
              <a:rPr lang="en-US" dirty="0" err="1">
                <a:solidFill>
                  <a:prstClr val="black"/>
                </a:solidFill>
              </a:rPr>
              <a:t>với</a:t>
            </a:r>
            <a:r>
              <a:rPr lang="en-US" dirty="0">
                <a:solidFill>
                  <a:prstClr val="black"/>
                </a:solidFill>
              </a:rPr>
              <a:t> </a:t>
            </a:r>
            <a:endParaRPr lang="en-US" dirty="0" smtClean="0">
              <a:solidFill>
                <a:prstClr val="black"/>
              </a:solidFill>
            </a:endParaRPr>
          </a:p>
          <a:p>
            <a:pPr marL="0" lvl="0" indent="0">
              <a:buNone/>
            </a:pPr>
            <a:r>
              <a:rPr lang="en-US" dirty="0">
                <a:solidFill>
                  <a:prstClr val="black"/>
                </a:solidFill>
              </a:rPr>
              <a:t> </a:t>
            </a:r>
            <a:r>
              <a:rPr lang="en-US" dirty="0" smtClean="0">
                <a:solidFill>
                  <a:prstClr val="black"/>
                </a:solidFill>
              </a:rPr>
              <a:t> </a:t>
            </a:r>
            <a:r>
              <a:rPr lang="en-US" dirty="0" err="1" smtClean="0">
                <a:solidFill>
                  <a:prstClr val="black"/>
                </a:solidFill>
              </a:rPr>
              <a:t>dữ</a:t>
            </a:r>
            <a:r>
              <a:rPr lang="en-US" dirty="0" smtClean="0">
                <a:solidFill>
                  <a:prstClr val="black"/>
                </a:solidFill>
              </a:rPr>
              <a:t> </a:t>
            </a:r>
            <a:r>
              <a:rPr lang="en-US" dirty="0" err="1">
                <a:solidFill>
                  <a:prstClr val="black"/>
                </a:solidFill>
              </a:rPr>
              <a:t>liệu</a:t>
            </a:r>
            <a:r>
              <a:rPr lang="en-US" dirty="0">
                <a:solidFill>
                  <a:prstClr val="black"/>
                </a:solidFill>
              </a:rPr>
              <a:t> </a:t>
            </a:r>
            <a:r>
              <a:rPr lang="en-US" dirty="0" err="1">
                <a:solidFill>
                  <a:prstClr val="black"/>
                </a:solidFill>
              </a:rPr>
              <a:t>mẫu</a:t>
            </a:r>
            <a:endParaRPr lang="en-US" dirty="0">
              <a:solidFill>
                <a:prstClr val="black"/>
              </a:solidFill>
            </a:endParaRPr>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p:cNvPicPr>
            <a:picLocks noChangeAspect="1"/>
          </p:cNvPicPr>
          <p:nvPr/>
        </p:nvPicPr>
        <p:blipFill>
          <a:blip r:embed="rId3"/>
          <a:stretch>
            <a:fillRect/>
          </a:stretch>
        </p:blipFill>
        <p:spPr>
          <a:xfrm>
            <a:off x="8549410" y="1677875"/>
            <a:ext cx="3475021" cy="3787468"/>
          </a:xfrm>
          <a:prstGeom prst="rect">
            <a:avLst/>
          </a:prstGeom>
        </p:spPr>
      </p:pic>
      <p:pic>
        <p:nvPicPr>
          <p:cNvPr id="11" name="Picture 10"/>
          <p:cNvPicPr>
            <a:picLocks noChangeAspect="1"/>
          </p:cNvPicPr>
          <p:nvPr/>
        </p:nvPicPr>
        <p:blipFill>
          <a:blip r:embed="rId4"/>
          <a:stretch>
            <a:fillRect/>
          </a:stretch>
        </p:blipFill>
        <p:spPr>
          <a:xfrm>
            <a:off x="4921976" y="1677875"/>
            <a:ext cx="3231424" cy="2518611"/>
          </a:xfrm>
          <a:prstGeom prst="rect">
            <a:avLst/>
          </a:prstGeom>
        </p:spPr>
      </p:pic>
      <p:pic>
        <p:nvPicPr>
          <p:cNvPr id="14" name="Picture 13"/>
          <p:cNvPicPr>
            <a:picLocks noChangeAspect="1"/>
          </p:cNvPicPr>
          <p:nvPr/>
        </p:nvPicPr>
        <p:blipFill>
          <a:blip r:embed="rId5"/>
          <a:stretch>
            <a:fillRect/>
          </a:stretch>
        </p:blipFill>
        <p:spPr>
          <a:xfrm>
            <a:off x="342900" y="3885347"/>
            <a:ext cx="7056732" cy="2606266"/>
          </a:xfrm>
          <a:prstGeom prst="rect">
            <a:avLst/>
          </a:prstGeom>
        </p:spPr>
      </p:pic>
    </p:spTree>
    <p:extLst>
      <p:ext uri="{BB962C8B-B14F-4D97-AF65-F5344CB8AC3E}">
        <p14:creationId xmlns:p14="http://schemas.microsoft.com/office/powerpoint/2010/main" val="30669361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Kết</a:t>
            </a:r>
            <a:r>
              <a:rPr lang="en-US" sz="4800" b="1" dirty="0">
                <a:solidFill>
                  <a:srgbClr val="FF0000"/>
                </a:solidFill>
                <a:latin typeface="+mn-lt"/>
              </a:rPr>
              <a:t> </a:t>
            </a:r>
            <a:r>
              <a:rPr lang="en-US" sz="4800" b="1" dirty="0" err="1">
                <a:solidFill>
                  <a:srgbClr val="FF0000"/>
                </a:solidFill>
                <a:latin typeface="+mn-lt"/>
              </a:rPr>
              <a:t>hợp</a:t>
            </a:r>
            <a:r>
              <a:rPr lang="en-US" sz="4800" b="1" dirty="0">
                <a:solidFill>
                  <a:srgbClr val="FF0000"/>
                </a:solidFill>
                <a:latin typeface="+mn-lt"/>
              </a:rPr>
              <a:t> model-controller-view</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21</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dirty="0">
                <a:solidFill>
                  <a:prstClr val="black"/>
                </a:solidFill>
              </a:rPr>
              <a:t>B2: </a:t>
            </a:r>
            <a:r>
              <a:rPr lang="en-US" dirty="0" err="1">
                <a:solidFill>
                  <a:prstClr val="black"/>
                </a:solidFill>
              </a:rPr>
              <a:t>tạo</a:t>
            </a:r>
            <a:r>
              <a:rPr lang="en-US" dirty="0">
                <a:solidFill>
                  <a:prstClr val="black"/>
                </a:solidFill>
              </a:rPr>
              <a:t> </a:t>
            </a:r>
            <a:r>
              <a:rPr lang="en-US" dirty="0" err="1" smtClean="0"/>
              <a:t>CustomerController</a:t>
            </a:r>
            <a:r>
              <a:rPr lang="en-US" dirty="0" smtClean="0"/>
              <a:t> </a:t>
            </a:r>
            <a:r>
              <a:rPr lang="en-US" dirty="0" err="1"/>
              <a:t>trả</a:t>
            </a:r>
            <a:r>
              <a:rPr lang="en-US" dirty="0"/>
              <a:t> </a:t>
            </a:r>
            <a:r>
              <a:rPr lang="en-US" dirty="0" err="1"/>
              <a:t>về</a:t>
            </a:r>
            <a:r>
              <a:rPr lang="en-US" dirty="0"/>
              <a:t> </a:t>
            </a:r>
            <a:r>
              <a:rPr lang="en-US" dirty="0" err="1"/>
              <a:t>danh</a:t>
            </a:r>
            <a:r>
              <a:rPr lang="en-US" dirty="0"/>
              <a:t> </a:t>
            </a:r>
            <a:r>
              <a:rPr lang="en-US" dirty="0" err="1"/>
              <a:t>sách</a:t>
            </a:r>
            <a:r>
              <a:rPr lang="en-US" dirty="0"/>
              <a:t> customer</a:t>
            </a:r>
          </a:p>
          <a:p>
            <a:pPr lvl="0"/>
            <a:endParaRPr lang="en-US" dirty="0">
              <a:solidFill>
                <a:prstClr val="black"/>
              </a:solidFill>
            </a:endParaRPr>
          </a:p>
          <a:p>
            <a:pPr lvl="0"/>
            <a:endParaRPr lang="en-US" dirty="0">
              <a:solidFill>
                <a:prstClr val="black"/>
              </a:solidFill>
            </a:endParaRPr>
          </a:p>
          <a:p>
            <a:pPr marL="0" lvl="0" indent="0">
              <a:buNone/>
            </a:pPr>
            <a:endParaRPr lang="en-US" dirty="0">
              <a:solidFill>
                <a:prstClr val="black"/>
              </a:solidFill>
            </a:endParaRPr>
          </a:p>
          <a:p>
            <a:pPr marL="0" lvl="0" indent="0">
              <a:buNone/>
            </a:pPr>
            <a:endParaRPr lang="en-US" dirty="0">
              <a:solidFill>
                <a:prstClr val="black"/>
              </a:solidFill>
            </a:endParaRPr>
          </a:p>
          <a:p>
            <a:pPr lvl="0"/>
            <a:r>
              <a:rPr lang="en-US" dirty="0">
                <a:solidFill>
                  <a:prstClr val="black"/>
                </a:solidFill>
              </a:rPr>
              <a:t>B3:Tạo view </a:t>
            </a:r>
            <a:r>
              <a:rPr lang="en-US" dirty="0" err="1">
                <a:solidFill>
                  <a:prstClr val="black"/>
                </a:solidFill>
              </a:rPr>
              <a:t>và</a:t>
            </a:r>
            <a:r>
              <a:rPr lang="en-US" dirty="0">
                <a:solidFill>
                  <a:prstClr val="black"/>
                </a:solidFill>
              </a:rPr>
              <a:t> </a:t>
            </a:r>
            <a:r>
              <a:rPr lang="en-US" dirty="0" err="1">
                <a:solidFill>
                  <a:prstClr val="black"/>
                </a:solidFill>
              </a:rPr>
              <a:t>khai</a:t>
            </a:r>
            <a:r>
              <a:rPr lang="en-US" dirty="0">
                <a:solidFill>
                  <a:prstClr val="black"/>
                </a:solidFill>
              </a:rPr>
              <a:t> </a:t>
            </a:r>
            <a:r>
              <a:rPr lang="en-US" dirty="0" err="1">
                <a:solidFill>
                  <a:prstClr val="black"/>
                </a:solidFill>
              </a:rPr>
              <a:t>báo</a:t>
            </a:r>
            <a:r>
              <a:rPr lang="en-US" dirty="0">
                <a:solidFill>
                  <a:prstClr val="black"/>
                </a:solidFill>
              </a:rPr>
              <a:t> </a:t>
            </a:r>
            <a:r>
              <a:rPr lang="en-US" dirty="0" err="1">
                <a:solidFill>
                  <a:prstClr val="black"/>
                </a:solidFill>
              </a:rPr>
              <a:t>dùng</a:t>
            </a:r>
            <a:r>
              <a:rPr lang="en-US" dirty="0">
                <a:solidFill>
                  <a:prstClr val="black"/>
                </a:solidFill>
              </a:rPr>
              <a:t> model </a:t>
            </a:r>
          </a:p>
          <a:p>
            <a:pPr marL="457200" lvl="1" indent="0">
              <a:buNone/>
            </a:pPr>
            <a:endParaRPr lang="en-US" dirty="0"/>
          </a:p>
          <a:p>
            <a:pPr lvl="1"/>
            <a:endParaRPr lang="en-US" dirty="0"/>
          </a:p>
          <a:p>
            <a:pPr lvl="1"/>
            <a:endParaRPr lang="en-US" dirty="0"/>
          </a:p>
          <a:p>
            <a:pPr lvl="1"/>
            <a:endParaRPr lang="en-US" dirty="0"/>
          </a:p>
          <a:p>
            <a:pPr lvl="1"/>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1" name="Picture 10"/>
          <p:cNvPicPr>
            <a:picLocks noChangeAspect="1"/>
          </p:cNvPicPr>
          <p:nvPr/>
        </p:nvPicPr>
        <p:blipFill>
          <a:blip r:embed="rId3"/>
          <a:stretch>
            <a:fillRect/>
          </a:stretch>
        </p:blipFill>
        <p:spPr>
          <a:xfrm>
            <a:off x="3169165" y="1882085"/>
            <a:ext cx="3901778" cy="1265030"/>
          </a:xfrm>
          <a:prstGeom prst="rect">
            <a:avLst/>
          </a:prstGeom>
        </p:spPr>
      </p:pic>
      <p:pic>
        <p:nvPicPr>
          <p:cNvPr id="13" name="Picture 12"/>
          <p:cNvPicPr>
            <a:picLocks noChangeAspect="1"/>
          </p:cNvPicPr>
          <p:nvPr/>
        </p:nvPicPr>
        <p:blipFill>
          <a:blip r:embed="rId4"/>
          <a:stretch>
            <a:fillRect/>
          </a:stretch>
        </p:blipFill>
        <p:spPr>
          <a:xfrm>
            <a:off x="3391540" y="4968225"/>
            <a:ext cx="2758679" cy="350550"/>
          </a:xfrm>
          <a:prstGeom prst="rect">
            <a:avLst/>
          </a:prstGeom>
        </p:spPr>
      </p:pic>
    </p:spTree>
    <p:extLst>
      <p:ext uri="{BB962C8B-B14F-4D97-AF65-F5344CB8AC3E}">
        <p14:creationId xmlns:p14="http://schemas.microsoft.com/office/powerpoint/2010/main" val="35597396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Kết</a:t>
            </a:r>
            <a:r>
              <a:rPr lang="en-US" sz="4800" b="1" dirty="0">
                <a:solidFill>
                  <a:srgbClr val="FF0000"/>
                </a:solidFill>
                <a:latin typeface="+mn-lt"/>
              </a:rPr>
              <a:t> </a:t>
            </a:r>
            <a:r>
              <a:rPr lang="en-US" sz="4800" b="1" dirty="0" err="1">
                <a:solidFill>
                  <a:srgbClr val="FF0000"/>
                </a:solidFill>
                <a:latin typeface="+mn-lt"/>
              </a:rPr>
              <a:t>hợp</a:t>
            </a:r>
            <a:r>
              <a:rPr lang="en-US" sz="4800" b="1" dirty="0">
                <a:solidFill>
                  <a:srgbClr val="FF0000"/>
                </a:solidFill>
                <a:latin typeface="+mn-lt"/>
              </a:rPr>
              <a:t> model-controller-view</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dirty="0">
                <a:solidFill>
                  <a:prstClr val="black"/>
                </a:solidFill>
              </a:rPr>
              <a:t>B4: </a:t>
            </a:r>
            <a:r>
              <a:rPr lang="en-US" dirty="0" err="1">
                <a:solidFill>
                  <a:prstClr val="black"/>
                </a:solidFill>
              </a:rPr>
              <a:t>Tạo</a:t>
            </a:r>
            <a:r>
              <a:rPr lang="en-US" dirty="0">
                <a:solidFill>
                  <a:prstClr val="black"/>
                </a:solidFill>
              </a:rPr>
              <a:t> view </a:t>
            </a:r>
            <a:r>
              <a:rPr lang="en-US" dirty="0" err="1">
                <a:solidFill>
                  <a:prstClr val="black"/>
                </a:solidFill>
              </a:rPr>
              <a:t>hiển</a:t>
            </a:r>
            <a:r>
              <a:rPr lang="en-US" dirty="0">
                <a:solidFill>
                  <a:prstClr val="black"/>
                </a:solidFill>
              </a:rPr>
              <a:t> </a:t>
            </a:r>
            <a:r>
              <a:rPr lang="en-US" dirty="0" err="1">
                <a:solidFill>
                  <a:prstClr val="black"/>
                </a:solidFill>
              </a:rPr>
              <a:t>thị</a:t>
            </a:r>
            <a:r>
              <a:rPr lang="en-US" dirty="0">
                <a:solidFill>
                  <a:prstClr val="black"/>
                </a:solidFill>
              </a:rPr>
              <a:t> </a:t>
            </a:r>
            <a:r>
              <a:rPr lang="en-US" dirty="0" err="1">
                <a:solidFill>
                  <a:prstClr val="black"/>
                </a:solidFill>
              </a:rPr>
              <a:t>danh</a:t>
            </a:r>
            <a:r>
              <a:rPr lang="en-US" dirty="0">
                <a:solidFill>
                  <a:prstClr val="black"/>
                </a:solidFill>
              </a:rPr>
              <a:t> </a:t>
            </a:r>
            <a:r>
              <a:rPr lang="en-US" dirty="0" err="1">
                <a:solidFill>
                  <a:prstClr val="black"/>
                </a:solidFill>
              </a:rPr>
              <a:t>sách</a:t>
            </a:r>
            <a:r>
              <a:rPr lang="en-US" dirty="0">
                <a:solidFill>
                  <a:prstClr val="black"/>
                </a:solidFill>
              </a:rPr>
              <a:t> customer  </a:t>
            </a:r>
          </a:p>
          <a:p>
            <a:pPr marL="457200" lvl="1" indent="0">
              <a:buNone/>
            </a:pPr>
            <a:endParaRPr lang="en-US" dirty="0"/>
          </a:p>
          <a:p>
            <a:pPr lvl="1"/>
            <a:endParaRPr lang="en-US" dirty="0"/>
          </a:p>
          <a:p>
            <a:pPr lvl="1"/>
            <a:endParaRPr lang="en-US" dirty="0"/>
          </a:p>
          <a:p>
            <a:pPr lvl="1"/>
            <a:endParaRPr lang="en-US" dirty="0"/>
          </a:p>
          <a:p>
            <a:pPr lvl="1"/>
            <a:endParaRPr lang="en-US" dirty="0"/>
          </a:p>
          <a:p>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p:cNvPicPr>
            <a:picLocks noChangeAspect="1"/>
          </p:cNvPicPr>
          <p:nvPr/>
        </p:nvPicPr>
        <p:blipFill>
          <a:blip r:embed="rId3"/>
          <a:stretch>
            <a:fillRect/>
          </a:stretch>
        </p:blipFill>
        <p:spPr>
          <a:xfrm>
            <a:off x="3903726" y="1760631"/>
            <a:ext cx="3664833" cy="4778281"/>
          </a:xfrm>
          <a:prstGeom prst="rect">
            <a:avLst/>
          </a:prstGeom>
        </p:spPr>
      </p:pic>
    </p:spTree>
    <p:extLst>
      <p:ext uri="{BB962C8B-B14F-4D97-AF65-F5344CB8AC3E}">
        <p14:creationId xmlns:p14="http://schemas.microsoft.com/office/powerpoint/2010/main" val="13963512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Kết</a:t>
            </a:r>
            <a:r>
              <a:rPr lang="en-US" sz="4800" b="1" dirty="0">
                <a:solidFill>
                  <a:srgbClr val="FF0000"/>
                </a:solidFill>
                <a:latin typeface="+mn-lt"/>
              </a:rPr>
              <a:t> </a:t>
            </a:r>
            <a:r>
              <a:rPr lang="en-US" sz="4800" b="1" dirty="0" err="1">
                <a:solidFill>
                  <a:srgbClr val="FF0000"/>
                </a:solidFill>
                <a:latin typeface="+mn-lt"/>
              </a:rPr>
              <a:t>hợp</a:t>
            </a:r>
            <a:r>
              <a:rPr lang="en-US" sz="4800" b="1" dirty="0">
                <a:solidFill>
                  <a:srgbClr val="FF0000"/>
                </a:solidFill>
                <a:latin typeface="+mn-lt"/>
              </a:rPr>
              <a:t> model-controller-view</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dirty="0">
                <a:solidFill>
                  <a:prstClr val="black"/>
                </a:solidFill>
              </a:rPr>
              <a:t>B5: </a:t>
            </a:r>
            <a:r>
              <a:rPr lang="en-US" dirty="0" err="1">
                <a:solidFill>
                  <a:prstClr val="black"/>
                </a:solidFill>
              </a:rPr>
              <a:t>chạy</a:t>
            </a:r>
            <a:r>
              <a:rPr lang="en-US" dirty="0">
                <a:solidFill>
                  <a:prstClr val="black"/>
                </a:solidFill>
              </a:rPr>
              <a:t> </a:t>
            </a:r>
            <a:r>
              <a:rPr lang="en-US" dirty="0" err="1">
                <a:solidFill>
                  <a:prstClr val="black"/>
                </a:solidFill>
              </a:rPr>
              <a:t>ứng</a:t>
            </a:r>
            <a:r>
              <a:rPr lang="en-US" dirty="0">
                <a:solidFill>
                  <a:prstClr val="black"/>
                </a:solidFill>
              </a:rPr>
              <a:t> </a:t>
            </a:r>
            <a:r>
              <a:rPr lang="en-US" dirty="0" err="1">
                <a:solidFill>
                  <a:prstClr val="black"/>
                </a:solidFill>
              </a:rPr>
              <a:t>dụng</a:t>
            </a:r>
            <a:r>
              <a:rPr lang="en-US" dirty="0">
                <a:solidFill>
                  <a:prstClr val="black"/>
                </a:solidFill>
              </a:rPr>
              <a:t> </a:t>
            </a:r>
            <a:r>
              <a:rPr lang="en-US" dirty="0" err="1">
                <a:solidFill>
                  <a:prstClr val="black"/>
                </a:solidFill>
              </a:rPr>
              <a:t>với</a:t>
            </a:r>
            <a:r>
              <a:rPr lang="en-US" dirty="0">
                <a:solidFill>
                  <a:prstClr val="black"/>
                </a:solidFill>
              </a:rPr>
              <a:t> </a:t>
            </a:r>
            <a:r>
              <a:rPr lang="en-US" dirty="0" err="1">
                <a:solidFill>
                  <a:prstClr val="black"/>
                </a:solidFill>
              </a:rPr>
              <a:t>định</a:t>
            </a:r>
            <a:r>
              <a:rPr lang="en-US" dirty="0">
                <a:solidFill>
                  <a:prstClr val="black"/>
                </a:solidFill>
              </a:rPr>
              <a:t> </a:t>
            </a:r>
            <a:r>
              <a:rPr lang="en-US" dirty="0" err="1">
                <a:solidFill>
                  <a:prstClr val="black"/>
                </a:solidFill>
              </a:rPr>
              <a:t>dạng</a:t>
            </a:r>
            <a:r>
              <a:rPr lang="en-US" dirty="0">
                <a:solidFill>
                  <a:prstClr val="black"/>
                </a:solidFill>
              </a:rPr>
              <a:t> </a:t>
            </a:r>
            <a:r>
              <a:rPr lang="en-US" dirty="0" err="1">
                <a:solidFill>
                  <a:prstClr val="black"/>
                </a:solidFill>
              </a:rPr>
              <a:t>localhost:port</a:t>
            </a:r>
            <a:r>
              <a:rPr lang="en-US" dirty="0">
                <a:solidFill>
                  <a:prstClr val="black"/>
                </a:solidFill>
              </a:rPr>
              <a:t>/controller/action</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p:cNvPicPr>
            <a:picLocks noChangeAspect="1"/>
          </p:cNvPicPr>
          <p:nvPr/>
        </p:nvPicPr>
        <p:blipFill>
          <a:blip r:embed="rId3"/>
          <a:stretch>
            <a:fillRect/>
          </a:stretch>
        </p:blipFill>
        <p:spPr>
          <a:xfrm>
            <a:off x="2898001" y="2418957"/>
            <a:ext cx="5464013" cy="2301439"/>
          </a:xfrm>
          <a:prstGeom prst="rect">
            <a:avLst/>
          </a:prstGeom>
        </p:spPr>
      </p:pic>
    </p:spTree>
    <p:extLst>
      <p:ext uri="{BB962C8B-B14F-4D97-AF65-F5344CB8AC3E}">
        <p14:creationId xmlns:p14="http://schemas.microsoft.com/office/powerpoint/2010/main" val="3841549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3600" dirty="0" err="1" smtClean="0">
                <a:solidFill>
                  <a:srgbClr val="FFC000"/>
                </a:solidFill>
              </a:rPr>
              <a:t>Hãy</a:t>
            </a:r>
            <a:r>
              <a:rPr lang="en-US" sz="3600" dirty="0" smtClean="0">
                <a:solidFill>
                  <a:srgbClr val="FFC000"/>
                </a:solidFill>
              </a:rPr>
              <a:t> </a:t>
            </a:r>
            <a:r>
              <a:rPr lang="en-US" sz="3600" dirty="0" err="1" smtClean="0">
                <a:solidFill>
                  <a:srgbClr val="FFC000"/>
                </a:solidFill>
              </a:rPr>
              <a:t>thự</a:t>
            </a:r>
            <a:r>
              <a:rPr lang="en-US" sz="3600" dirty="0" err="1" smtClean="0">
                <a:solidFill>
                  <a:srgbClr val="FFC000"/>
                </a:solidFill>
              </a:rPr>
              <a:t>c</a:t>
            </a:r>
            <a:r>
              <a:rPr lang="en-US" sz="3600" dirty="0" smtClean="0">
                <a:solidFill>
                  <a:srgbClr val="FFC000"/>
                </a:solidFill>
              </a:rPr>
              <a:t> </a:t>
            </a:r>
            <a:r>
              <a:rPr lang="en-US" sz="3600" dirty="0" err="1" smtClean="0">
                <a:solidFill>
                  <a:srgbClr val="FFC000"/>
                </a:solidFill>
              </a:rPr>
              <a:t>hiện</a:t>
            </a:r>
            <a:r>
              <a:rPr lang="en-US" sz="3600" dirty="0" smtClean="0">
                <a:solidFill>
                  <a:srgbClr val="FFC000"/>
                </a:solidFill>
              </a:rPr>
              <a:t> </a:t>
            </a:r>
            <a:r>
              <a:rPr lang="en-US" sz="3600" dirty="0" err="1" smtClean="0">
                <a:solidFill>
                  <a:srgbClr val="FFC000"/>
                </a:solidFill>
              </a:rPr>
              <a:t>các</a:t>
            </a:r>
            <a:r>
              <a:rPr lang="en-US" sz="3600" dirty="0" smtClean="0">
                <a:solidFill>
                  <a:srgbClr val="FFC000"/>
                </a:solidFill>
              </a:rPr>
              <a:t> </a:t>
            </a:r>
            <a:r>
              <a:rPr lang="en-US" sz="3600" dirty="0" err="1" smtClean="0">
                <a:solidFill>
                  <a:srgbClr val="FFC000"/>
                </a:solidFill>
              </a:rPr>
              <a:t>ví</a:t>
            </a:r>
            <a:r>
              <a:rPr lang="en-US" sz="3600" dirty="0" smtClean="0">
                <a:solidFill>
                  <a:srgbClr val="FFC000"/>
                </a:solidFill>
              </a:rPr>
              <a:t> </a:t>
            </a:r>
            <a:r>
              <a:rPr lang="en-US" sz="3600" dirty="0" err="1" smtClean="0">
                <a:solidFill>
                  <a:srgbClr val="FFC000"/>
                </a:solidFill>
              </a:rPr>
              <a:t>dụ</a:t>
            </a:r>
            <a:endParaRPr lang="en-US" sz="36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005146"/>
            <a:ext cx="12054254" cy="792529"/>
          </a:xfrm>
          <a:prstGeom prst="rect">
            <a:avLst/>
          </a:prstGeom>
        </p:spPr>
        <p:txBody>
          <a:bodyPr/>
          <a:lstStyle/>
          <a:p>
            <a:pPr algn="ctr"/>
            <a:r>
              <a:rPr lang="vi-VN" dirty="0"/>
              <a:t>Lập trình C#3</a:t>
            </a:r>
            <a:endParaRPr lang="en-US" dirty="0"/>
          </a:p>
        </p:txBody>
      </p:sp>
      <p:sp>
        <p:nvSpPr>
          <p:cNvPr id="5" name="Slide Number Placeholder 4"/>
          <p:cNvSpPr>
            <a:spLocks noGrp="1"/>
          </p:cNvSpPr>
          <p:nvPr>
            <p:ph type="sldNum" sz="quarter" idx="4294967295"/>
          </p:nvPr>
        </p:nvSpPr>
        <p:spPr>
          <a:xfrm>
            <a:off x="0" y="6340475"/>
            <a:ext cx="533400" cy="517525"/>
          </a:xfrm>
          <a:prstGeom prst="rect">
            <a:avLst/>
          </a:prstGeom>
        </p:spPr>
        <p:txBody>
          <a:bodyPr/>
          <a:lstStyle/>
          <a:p>
            <a:fld id="{8AACEE26-D979-411F-B229-D9F26BAEDF07}" type="slidenum">
              <a:rPr lang="en-US" smtClean="0"/>
              <a:t>24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1184851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Action Selector</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vi-VN" dirty="0"/>
              <a:t>Action selector là một attribute có thể được áp dụng </a:t>
            </a:r>
            <a:r>
              <a:rPr lang="en-US" dirty="0" err="1"/>
              <a:t>vào</a:t>
            </a:r>
            <a:r>
              <a:rPr lang="vi-VN" dirty="0"/>
              <a:t> controller action. Các attribute này giúp Routing Engine chọn đúng action method để xử lý request. ASP.NET Core bao gồm 3 kiểu Action Selector</a:t>
            </a:r>
            <a:r>
              <a:rPr lang="en-US" dirty="0"/>
              <a:t>: Action Name, Non Action, Action Verbs</a:t>
            </a:r>
          </a:p>
          <a:p>
            <a:pPr marL="0" lvl="0" indent="0">
              <a:buNone/>
            </a:pPr>
            <a:endParaRPr lang="en-US" dirty="0">
              <a:solidFill>
                <a:prstClr val="black"/>
              </a:solidFill>
            </a:endParaRPr>
          </a:p>
          <a:p>
            <a:pPr marL="457200" lvl="1" indent="0">
              <a:buNone/>
            </a:pPr>
            <a:endParaRPr lang="en-US" dirty="0"/>
          </a:p>
          <a:p>
            <a:pPr lvl="1"/>
            <a:endParaRPr lang="en-US" dirty="0"/>
          </a:p>
          <a:p>
            <a:pPr lvl="1"/>
            <a:endParaRPr lang="en-US" dirty="0"/>
          </a:p>
          <a:p>
            <a:pPr lvl="1"/>
            <a:endParaRPr lang="en-US" dirty="0"/>
          </a:p>
          <a:p>
            <a:pPr lvl="1"/>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2" descr="Action Method Selector in ASP.NET MVC | DotNetCurry">
            <a:extLst>
              <a:ext uri="{FF2B5EF4-FFF2-40B4-BE49-F238E27FC236}">
                <a16:creationId xmlns:a16="http://schemas.microsoft.com/office/drawing/2014/main" id="{FA640D84-865E-4AEF-BC27-1EFFB3AD2F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0057" y="2957512"/>
            <a:ext cx="64008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24569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Action </a:t>
            </a:r>
            <a:r>
              <a:rPr lang="en-US" sz="4800" b="1" dirty="0" smtClean="0">
                <a:solidFill>
                  <a:srgbClr val="FF0000"/>
                </a:solidFill>
                <a:latin typeface="+mn-lt"/>
              </a:rPr>
              <a:t>name</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dirty="0"/>
              <a:t>Đ</a:t>
            </a:r>
            <a:r>
              <a:rPr lang="vi-VN" dirty="0"/>
              <a:t>ịnh nghĩa tên của một action. Routing engine sẽ sử dụng tên này thay vì tên phương thức để match với action name trong routing</a:t>
            </a:r>
            <a:endParaRPr lang="en-US" dirty="0"/>
          </a:p>
          <a:p>
            <a:pPr lvl="0"/>
            <a:endParaRPr lang="en-US" dirty="0">
              <a:solidFill>
                <a:prstClr val="black"/>
              </a:solidFill>
            </a:endParaRPr>
          </a:p>
          <a:p>
            <a:pPr lvl="0"/>
            <a:endParaRPr lang="en-US" dirty="0">
              <a:solidFill>
                <a:prstClr val="black"/>
              </a:solidFill>
            </a:endParaRPr>
          </a:p>
          <a:p>
            <a:pPr lvl="0"/>
            <a:endParaRPr lang="en-US" dirty="0">
              <a:solidFill>
                <a:prstClr val="black"/>
              </a:solidFill>
            </a:endParaRPr>
          </a:p>
          <a:p>
            <a:pPr lvl="0"/>
            <a:endParaRPr lang="en-US" dirty="0">
              <a:solidFill>
                <a:prstClr val="black"/>
              </a:solidFill>
            </a:endParaRPr>
          </a:p>
          <a:p>
            <a:pPr lvl="0"/>
            <a:r>
              <a:rPr lang="en-US" dirty="0" err="1">
                <a:solidFill>
                  <a:prstClr val="black"/>
                </a:solidFill>
              </a:rPr>
              <a:t>Ví</a:t>
            </a:r>
            <a:r>
              <a:rPr lang="en-US" dirty="0">
                <a:solidFill>
                  <a:prstClr val="black"/>
                </a:solidFill>
              </a:rPr>
              <a:t> </a:t>
            </a:r>
            <a:r>
              <a:rPr lang="en-US" dirty="0" err="1">
                <a:solidFill>
                  <a:prstClr val="black"/>
                </a:solidFill>
              </a:rPr>
              <a:t>dụ</a:t>
            </a:r>
            <a:r>
              <a:rPr lang="en-US" dirty="0">
                <a:solidFill>
                  <a:prstClr val="black"/>
                </a:solidFill>
              </a:rPr>
              <a:t> </a:t>
            </a:r>
            <a:r>
              <a:rPr lang="en-US" dirty="0" err="1">
                <a:solidFill>
                  <a:prstClr val="black"/>
                </a:solidFill>
              </a:rPr>
              <a:t>trên</a:t>
            </a:r>
            <a:r>
              <a:rPr lang="en-US" dirty="0">
                <a:solidFill>
                  <a:prstClr val="black"/>
                </a:solidFill>
              </a:rPr>
              <a:t> </a:t>
            </a:r>
            <a:r>
              <a:rPr lang="en-US" dirty="0" err="1">
                <a:solidFill>
                  <a:prstClr val="black"/>
                </a:solidFill>
              </a:rPr>
              <a:t>áp</a:t>
            </a:r>
            <a:r>
              <a:rPr lang="en-US" dirty="0">
                <a:solidFill>
                  <a:prstClr val="black"/>
                </a:solidFill>
              </a:rPr>
              <a:t> </a:t>
            </a:r>
            <a:r>
              <a:rPr lang="en-US" dirty="0" err="1">
                <a:solidFill>
                  <a:prstClr val="black"/>
                </a:solidFill>
              </a:rPr>
              <a:t>dụng</a:t>
            </a:r>
            <a:r>
              <a:rPr lang="en-US" dirty="0">
                <a:solidFill>
                  <a:prstClr val="black"/>
                </a:solidFill>
              </a:rPr>
              <a:t> </a:t>
            </a:r>
            <a:r>
              <a:rPr lang="en-US" dirty="0" err="1">
                <a:solidFill>
                  <a:prstClr val="black"/>
                </a:solidFill>
              </a:rPr>
              <a:t>ActionName</a:t>
            </a:r>
            <a:r>
              <a:rPr lang="en-US" dirty="0">
                <a:solidFill>
                  <a:prstClr val="black"/>
                </a:solidFill>
              </a:rPr>
              <a:t>("find") </a:t>
            </a:r>
            <a:r>
              <a:rPr lang="en-US" dirty="0" err="1">
                <a:solidFill>
                  <a:prstClr val="black"/>
                </a:solidFill>
              </a:rPr>
              <a:t>cho</a:t>
            </a:r>
            <a:r>
              <a:rPr lang="en-US" dirty="0">
                <a:solidFill>
                  <a:prstClr val="black"/>
                </a:solidFill>
              </a:rPr>
              <a:t> action method </a:t>
            </a:r>
            <a:r>
              <a:rPr lang="en-US" dirty="0" err="1">
                <a:solidFill>
                  <a:prstClr val="black"/>
                </a:solidFill>
              </a:rPr>
              <a:t>GetById</a:t>
            </a:r>
            <a:r>
              <a:rPr lang="en-US" dirty="0" err="1">
                <a:solidFill>
                  <a:prstClr val="black"/>
                </a:solidFill>
                <a:sym typeface="Wingdings" panose="05000000000000000000" pitchFamily="2" charset="2"/>
              </a:rPr>
              <a:t>khi</a:t>
            </a:r>
            <a:r>
              <a:rPr lang="en-US" dirty="0">
                <a:solidFill>
                  <a:prstClr val="black"/>
                </a:solidFill>
                <a:sym typeface="Wingdings" panose="05000000000000000000" pitchFamily="2" charset="2"/>
              </a:rPr>
              <a:t> run </a:t>
            </a:r>
            <a:r>
              <a:rPr lang="en-US" dirty="0" err="1">
                <a:solidFill>
                  <a:prstClr val="black"/>
                </a:solidFill>
                <a:sym typeface="Wingdings" panose="05000000000000000000" pitchFamily="2" charset="2"/>
              </a:rPr>
              <a:t>ứng</a:t>
            </a:r>
            <a:r>
              <a:rPr lang="en-US" dirty="0">
                <a:solidFill>
                  <a:prstClr val="black"/>
                </a:solidFill>
                <a:sym typeface="Wingdings" panose="05000000000000000000" pitchFamily="2" charset="2"/>
              </a:rPr>
              <a:t> </a:t>
            </a:r>
            <a:r>
              <a:rPr lang="en-US" dirty="0" err="1">
                <a:solidFill>
                  <a:prstClr val="black"/>
                </a:solidFill>
                <a:sym typeface="Wingdings" panose="05000000000000000000" pitchFamily="2" charset="2"/>
              </a:rPr>
              <a:t>dụng</a:t>
            </a:r>
            <a:r>
              <a:rPr lang="en-US" dirty="0">
                <a:solidFill>
                  <a:prstClr val="black"/>
                </a:solidFill>
                <a:sym typeface="Wingdings" panose="05000000000000000000" pitchFamily="2" charset="2"/>
              </a:rPr>
              <a:t> </a:t>
            </a:r>
            <a:r>
              <a:rPr lang="en-US" dirty="0" err="1">
                <a:solidFill>
                  <a:prstClr val="black"/>
                </a:solidFill>
                <a:sym typeface="Wingdings" panose="05000000000000000000" pitchFamily="2" charset="2"/>
              </a:rPr>
              <a:t>sẽ</a:t>
            </a:r>
            <a:r>
              <a:rPr lang="en-US" dirty="0">
                <a:solidFill>
                  <a:prstClr val="black"/>
                </a:solidFill>
                <a:sym typeface="Wingdings" panose="05000000000000000000" pitchFamily="2" charset="2"/>
              </a:rPr>
              <a:t> </a:t>
            </a:r>
            <a:r>
              <a:rPr lang="en-US" dirty="0" err="1">
                <a:solidFill>
                  <a:prstClr val="black"/>
                </a:solidFill>
                <a:sym typeface="Wingdings" panose="05000000000000000000" pitchFamily="2" charset="2"/>
              </a:rPr>
              <a:t>dùng</a:t>
            </a:r>
            <a:r>
              <a:rPr lang="en-US" dirty="0">
                <a:solidFill>
                  <a:prstClr val="black"/>
                </a:solidFill>
                <a:sym typeface="Wingdings" panose="05000000000000000000" pitchFamily="2" charset="2"/>
              </a:rPr>
              <a:t> Action Name : http://localhost/student/</a:t>
            </a:r>
            <a:r>
              <a:rPr lang="en-US" dirty="0">
                <a:solidFill>
                  <a:srgbClr val="FF0000"/>
                </a:solidFill>
                <a:sym typeface="Wingdings" panose="05000000000000000000" pitchFamily="2" charset="2"/>
              </a:rPr>
              <a:t>find</a:t>
            </a:r>
            <a:r>
              <a:rPr lang="en-US" dirty="0">
                <a:solidFill>
                  <a:prstClr val="black"/>
                </a:solidFill>
                <a:sym typeface="Wingdings" panose="05000000000000000000" pitchFamily="2" charset="2"/>
              </a:rPr>
              <a:t>/1</a:t>
            </a:r>
            <a:endParaRPr lang="en-US" dirty="0">
              <a:solidFill>
                <a:prstClr val="black"/>
              </a:solidFill>
            </a:endParaRPr>
          </a:p>
          <a:p>
            <a:pPr marL="457200" lvl="1" indent="0">
              <a:buNone/>
            </a:pPr>
            <a:endParaRPr lang="en-US" dirty="0"/>
          </a:p>
          <a:p>
            <a:pPr lvl="1"/>
            <a:endParaRPr lang="en-US" dirty="0"/>
          </a:p>
          <a:p>
            <a:pPr lvl="1"/>
            <a:endParaRPr lang="en-US" dirty="0"/>
          </a:p>
          <a:p>
            <a:pPr lvl="1"/>
            <a:endParaRPr lang="en-US" dirty="0"/>
          </a:p>
          <a:p>
            <a:pPr lvl="1"/>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3C63F37F-0662-4214-994D-0A44F5684F1B}"/>
              </a:ext>
            </a:extLst>
          </p:cNvPr>
          <p:cNvPicPr>
            <a:picLocks noChangeAspect="1"/>
          </p:cNvPicPr>
          <p:nvPr/>
        </p:nvPicPr>
        <p:blipFill>
          <a:blip r:embed="rId3"/>
          <a:stretch>
            <a:fillRect/>
          </a:stretch>
        </p:blipFill>
        <p:spPr>
          <a:xfrm>
            <a:off x="3302038" y="2283679"/>
            <a:ext cx="3512939" cy="1470025"/>
          </a:xfrm>
          <a:prstGeom prst="rect">
            <a:avLst/>
          </a:prstGeom>
        </p:spPr>
      </p:pic>
    </p:spTree>
    <p:extLst>
      <p:ext uri="{BB962C8B-B14F-4D97-AF65-F5344CB8AC3E}">
        <p14:creationId xmlns:p14="http://schemas.microsoft.com/office/powerpoint/2010/main" val="3710928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NonAction</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dirty="0"/>
              <a:t>Đ</a:t>
            </a:r>
            <a:r>
              <a:rPr lang="vi-VN" dirty="0"/>
              <a:t>ịnh</a:t>
            </a:r>
            <a:r>
              <a:rPr lang="en-US" dirty="0"/>
              <a:t> </a:t>
            </a:r>
            <a:r>
              <a:rPr lang="en-US" dirty="0" err="1"/>
              <a:t>một</a:t>
            </a:r>
            <a:r>
              <a:rPr lang="en-US" dirty="0"/>
              <a:t> </a:t>
            </a:r>
            <a:r>
              <a:rPr lang="en-US" dirty="0" err="1"/>
              <a:t>phương</a:t>
            </a:r>
            <a:r>
              <a:rPr lang="en-US" dirty="0"/>
              <a:t> </a:t>
            </a:r>
            <a:r>
              <a:rPr lang="en-US" dirty="0" err="1"/>
              <a:t>thức</a:t>
            </a:r>
            <a:r>
              <a:rPr lang="en-US" dirty="0"/>
              <a:t> </a:t>
            </a:r>
            <a:r>
              <a:rPr lang="en-US" dirty="0" err="1"/>
              <a:t>trong</a:t>
            </a:r>
            <a:r>
              <a:rPr lang="en-US" dirty="0"/>
              <a:t> controller </a:t>
            </a:r>
            <a:r>
              <a:rPr lang="en-US" dirty="0" err="1"/>
              <a:t>nhưng</a:t>
            </a:r>
            <a:r>
              <a:rPr lang="en-US" dirty="0"/>
              <a:t> </a:t>
            </a:r>
            <a:r>
              <a:rPr lang="en-US" dirty="0" err="1"/>
              <a:t>phương</a:t>
            </a:r>
            <a:r>
              <a:rPr lang="en-US" dirty="0"/>
              <a:t> </a:t>
            </a:r>
            <a:r>
              <a:rPr lang="en-US" dirty="0" err="1"/>
              <a:t>thức</a:t>
            </a:r>
            <a:r>
              <a:rPr lang="en-US" dirty="0"/>
              <a:t> </a:t>
            </a:r>
            <a:r>
              <a:rPr lang="en-US" dirty="0" err="1"/>
              <a:t>này</a:t>
            </a:r>
            <a:r>
              <a:rPr lang="en-US" dirty="0"/>
              <a:t> </a:t>
            </a:r>
            <a:r>
              <a:rPr lang="en-US" dirty="0" err="1"/>
              <a:t>không</a:t>
            </a:r>
            <a:r>
              <a:rPr lang="en-US" dirty="0"/>
              <a:t> </a:t>
            </a:r>
            <a:r>
              <a:rPr lang="en-US" dirty="0" err="1"/>
              <a:t>là</a:t>
            </a:r>
            <a:r>
              <a:rPr lang="en-US" dirty="0"/>
              <a:t> </a:t>
            </a:r>
            <a:r>
              <a:rPr lang="en-US" dirty="0" err="1"/>
              <a:t>một</a:t>
            </a:r>
            <a:r>
              <a:rPr lang="en-US" dirty="0"/>
              <a:t> action method</a:t>
            </a:r>
          </a:p>
          <a:p>
            <a:pPr lvl="0"/>
            <a:endParaRPr lang="en-US" dirty="0">
              <a:solidFill>
                <a:prstClr val="black"/>
              </a:solidFill>
            </a:endParaRPr>
          </a:p>
          <a:p>
            <a:pPr lvl="0"/>
            <a:endParaRPr lang="en-US" dirty="0">
              <a:solidFill>
                <a:prstClr val="black"/>
              </a:solidFill>
            </a:endParaRPr>
          </a:p>
          <a:p>
            <a:pPr lvl="0"/>
            <a:endParaRPr lang="en-US" dirty="0">
              <a:solidFill>
                <a:prstClr val="black"/>
              </a:solidFill>
            </a:endParaRPr>
          </a:p>
          <a:p>
            <a:pPr lvl="0"/>
            <a:endParaRPr lang="en-US" dirty="0">
              <a:solidFill>
                <a:prstClr val="black"/>
              </a:solidFill>
            </a:endParaRPr>
          </a:p>
          <a:p>
            <a:pPr lvl="0"/>
            <a:r>
              <a:rPr lang="en-US" dirty="0" err="1">
                <a:solidFill>
                  <a:prstClr val="black"/>
                </a:solidFill>
              </a:rPr>
              <a:t>GetStudent</a:t>
            </a:r>
            <a:r>
              <a:rPr lang="en-US" dirty="0">
                <a:solidFill>
                  <a:prstClr val="black"/>
                </a:solidFill>
              </a:rPr>
              <a:t>(</a:t>
            </a:r>
            <a:r>
              <a:rPr lang="en-US" dirty="0" err="1">
                <a:solidFill>
                  <a:prstClr val="black"/>
                </a:solidFill>
              </a:rPr>
              <a:t>int</a:t>
            </a:r>
            <a:r>
              <a:rPr lang="en-US" dirty="0">
                <a:solidFill>
                  <a:prstClr val="black"/>
                </a:solidFill>
              </a:rPr>
              <a:t> id) </a:t>
            </a:r>
            <a:r>
              <a:rPr lang="en-US" dirty="0" err="1">
                <a:solidFill>
                  <a:prstClr val="black"/>
                </a:solidFill>
              </a:rPr>
              <a:t>là</a:t>
            </a:r>
            <a:r>
              <a:rPr lang="en-US" dirty="0">
                <a:solidFill>
                  <a:prstClr val="black"/>
                </a:solidFill>
              </a:rPr>
              <a:t> </a:t>
            </a:r>
            <a:r>
              <a:rPr lang="en-US" dirty="0" err="1">
                <a:solidFill>
                  <a:prstClr val="black"/>
                </a:solidFill>
              </a:rPr>
              <a:t>một</a:t>
            </a:r>
            <a:r>
              <a:rPr lang="en-US" dirty="0">
                <a:solidFill>
                  <a:prstClr val="black"/>
                </a:solidFill>
              </a:rPr>
              <a:t> </a:t>
            </a:r>
            <a:r>
              <a:rPr lang="en-US" dirty="0" err="1">
                <a:solidFill>
                  <a:prstClr val="black"/>
                </a:solidFill>
              </a:rPr>
              <a:t>phương</a:t>
            </a:r>
            <a:r>
              <a:rPr lang="en-US" dirty="0">
                <a:solidFill>
                  <a:prstClr val="black"/>
                </a:solidFill>
              </a:rPr>
              <a:t> </a:t>
            </a:r>
            <a:r>
              <a:rPr lang="en-US" dirty="0" err="1">
                <a:solidFill>
                  <a:prstClr val="black"/>
                </a:solidFill>
              </a:rPr>
              <a:t>thức</a:t>
            </a:r>
            <a:r>
              <a:rPr lang="en-US" dirty="0">
                <a:solidFill>
                  <a:prstClr val="black"/>
                </a:solidFill>
              </a:rPr>
              <a:t> </a:t>
            </a:r>
            <a:r>
              <a:rPr lang="en-US" dirty="0" err="1">
                <a:solidFill>
                  <a:prstClr val="black"/>
                </a:solidFill>
              </a:rPr>
              <a:t>trong</a:t>
            </a:r>
            <a:r>
              <a:rPr lang="en-US" dirty="0">
                <a:solidFill>
                  <a:prstClr val="black"/>
                </a:solidFill>
              </a:rPr>
              <a:t> controller </a:t>
            </a:r>
            <a:r>
              <a:rPr lang="en-US" dirty="0" err="1">
                <a:solidFill>
                  <a:prstClr val="black"/>
                </a:solidFill>
              </a:rPr>
              <a:t>nhưng</a:t>
            </a:r>
            <a:r>
              <a:rPr lang="en-US" dirty="0">
                <a:solidFill>
                  <a:prstClr val="black"/>
                </a:solidFill>
              </a:rPr>
              <a:t> </a:t>
            </a:r>
            <a:r>
              <a:rPr lang="en-US" dirty="0" err="1">
                <a:solidFill>
                  <a:prstClr val="black"/>
                </a:solidFill>
              </a:rPr>
              <a:t>nó</a:t>
            </a:r>
            <a:r>
              <a:rPr lang="en-US" dirty="0">
                <a:solidFill>
                  <a:prstClr val="black"/>
                </a:solidFill>
              </a:rPr>
              <a:t> </a:t>
            </a:r>
            <a:r>
              <a:rPr lang="en-US" dirty="0" err="1">
                <a:solidFill>
                  <a:prstClr val="black"/>
                </a:solidFill>
              </a:rPr>
              <a:t>không</a:t>
            </a:r>
            <a:r>
              <a:rPr lang="en-US" dirty="0">
                <a:solidFill>
                  <a:prstClr val="black"/>
                </a:solidFill>
              </a:rPr>
              <a:t> </a:t>
            </a:r>
            <a:r>
              <a:rPr lang="en-US" dirty="0" err="1">
                <a:solidFill>
                  <a:prstClr val="black"/>
                </a:solidFill>
              </a:rPr>
              <a:t>phải</a:t>
            </a:r>
            <a:r>
              <a:rPr lang="en-US" dirty="0">
                <a:solidFill>
                  <a:prstClr val="black"/>
                </a:solidFill>
              </a:rPr>
              <a:t> </a:t>
            </a:r>
            <a:r>
              <a:rPr lang="en-US" dirty="0" err="1">
                <a:solidFill>
                  <a:prstClr val="black"/>
                </a:solidFill>
              </a:rPr>
              <a:t>là</a:t>
            </a:r>
            <a:r>
              <a:rPr lang="en-US" dirty="0">
                <a:solidFill>
                  <a:prstClr val="black"/>
                </a:solidFill>
              </a:rPr>
              <a:t> action method </a:t>
            </a:r>
            <a:r>
              <a:rPr lang="en-US" dirty="0" err="1">
                <a:solidFill>
                  <a:prstClr val="black"/>
                </a:solidFill>
              </a:rPr>
              <a:t>được</a:t>
            </a:r>
            <a:r>
              <a:rPr lang="en-US" dirty="0">
                <a:solidFill>
                  <a:prstClr val="black"/>
                </a:solidFill>
              </a:rPr>
              <a:t> </a:t>
            </a:r>
            <a:r>
              <a:rPr lang="en-US" dirty="0" err="1">
                <a:solidFill>
                  <a:prstClr val="black"/>
                </a:solidFill>
              </a:rPr>
              <a:t>gọi</a:t>
            </a:r>
            <a:r>
              <a:rPr lang="en-US" dirty="0">
                <a:solidFill>
                  <a:prstClr val="black"/>
                </a:solidFill>
              </a:rPr>
              <a:t> </a:t>
            </a:r>
            <a:r>
              <a:rPr lang="en-US" dirty="0" err="1">
                <a:solidFill>
                  <a:prstClr val="black"/>
                </a:solidFill>
              </a:rPr>
              <a:t>trong</a:t>
            </a:r>
            <a:r>
              <a:rPr lang="en-US" dirty="0">
                <a:solidFill>
                  <a:prstClr val="black"/>
                </a:solidFill>
              </a:rPr>
              <a:t> routing</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550E403D-8395-4E71-96F9-B9831FC73E1F}"/>
              </a:ext>
            </a:extLst>
          </p:cNvPr>
          <p:cNvPicPr>
            <a:picLocks noChangeAspect="1"/>
          </p:cNvPicPr>
          <p:nvPr/>
        </p:nvPicPr>
        <p:blipFill>
          <a:blip r:embed="rId3"/>
          <a:stretch>
            <a:fillRect/>
          </a:stretch>
        </p:blipFill>
        <p:spPr>
          <a:xfrm>
            <a:off x="2540610" y="2193963"/>
            <a:ext cx="5815013" cy="1705527"/>
          </a:xfrm>
          <a:prstGeom prst="rect">
            <a:avLst/>
          </a:prstGeom>
        </p:spPr>
      </p:pic>
    </p:spTree>
    <p:extLst>
      <p:ext uri="{BB962C8B-B14F-4D97-AF65-F5344CB8AC3E}">
        <p14:creationId xmlns:p14="http://schemas.microsoft.com/office/powerpoint/2010/main" val="34192812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ActionVerb</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vi-VN" sz="3200" dirty="0"/>
              <a:t>Một phương thức action khi được định nghĩa có thể được gọi theo Get và Post</a:t>
            </a:r>
            <a:r>
              <a:rPr lang="en-US" sz="3200" dirty="0"/>
              <a:t> </a:t>
            </a:r>
            <a:r>
              <a:rPr lang="en-US" sz="3200" dirty="0" err="1"/>
              <a:t>dựa</a:t>
            </a:r>
            <a:r>
              <a:rPr lang="en-US" sz="3200" dirty="0"/>
              <a:t> </a:t>
            </a:r>
            <a:r>
              <a:rPr lang="en-US" sz="3200" dirty="0" err="1"/>
              <a:t>trên</a:t>
            </a:r>
            <a:r>
              <a:rPr lang="en-US" sz="3200" dirty="0"/>
              <a:t> HTTP Request</a:t>
            </a:r>
          </a:p>
          <a:p>
            <a:pPr lvl="0"/>
            <a:r>
              <a:rPr lang="en-US" sz="3200" dirty="0"/>
              <a:t>C</a:t>
            </a:r>
            <a:r>
              <a:rPr lang="vi-VN" sz="3200" dirty="0"/>
              <a:t>ho phép lập trình viên có thể định nghĩa hai phương thức khác nhau nhưng cùng tên, một phương thức có thể dùng Http Get và phương thức kia thì có thể dùng HttpPost</a:t>
            </a:r>
            <a:endParaRPr lang="en-US" sz="3200" dirty="0"/>
          </a:p>
          <a:p>
            <a:pPr lvl="0"/>
            <a:r>
              <a:rPr lang="en-US" sz="3200" dirty="0" err="1"/>
              <a:t>Asp.Net</a:t>
            </a:r>
            <a:r>
              <a:rPr lang="en-US" sz="3200" dirty="0"/>
              <a:t> core </a:t>
            </a:r>
            <a:r>
              <a:rPr lang="vi-VN" sz="3200" dirty="0"/>
              <a:t>hỗ trợ nhiều ActionVerb, như HttpGet, HttpPost, HttpPut, HttpDelete, HttpOptions &amp; HttpPatch.</a:t>
            </a:r>
            <a:endParaRPr lang="en-US" sz="3200" dirty="0"/>
          </a:p>
          <a:p>
            <a:pPr lvl="0"/>
            <a:r>
              <a:rPr lang="en-US" sz="3200" dirty="0" err="1"/>
              <a:t>Mặc</a:t>
            </a:r>
            <a:r>
              <a:rPr lang="en-US" sz="3200" dirty="0"/>
              <a:t> </a:t>
            </a:r>
            <a:r>
              <a:rPr lang="en-US" sz="3200" dirty="0" err="1"/>
              <a:t>định</a:t>
            </a:r>
            <a:r>
              <a:rPr lang="en-US" sz="3200" dirty="0"/>
              <a:t> </a:t>
            </a:r>
            <a:r>
              <a:rPr lang="en-US" sz="3200" dirty="0" err="1"/>
              <a:t>nếu</a:t>
            </a:r>
            <a:r>
              <a:rPr lang="en-US" sz="3200" dirty="0"/>
              <a:t> </a:t>
            </a:r>
            <a:r>
              <a:rPr lang="en-US" sz="3200" dirty="0" err="1"/>
              <a:t>không</a:t>
            </a:r>
            <a:r>
              <a:rPr lang="en-US" sz="3200" dirty="0"/>
              <a:t> </a:t>
            </a:r>
            <a:r>
              <a:rPr lang="en-US" sz="3200" dirty="0" err="1"/>
              <a:t>sử</a:t>
            </a:r>
            <a:r>
              <a:rPr lang="en-US" sz="3200" dirty="0"/>
              <a:t> </a:t>
            </a:r>
            <a:r>
              <a:rPr lang="en-US" sz="3200" dirty="0" err="1"/>
              <a:t>dụng</a:t>
            </a:r>
            <a:r>
              <a:rPr lang="en-US" sz="3200" dirty="0"/>
              <a:t> </a:t>
            </a:r>
            <a:r>
              <a:rPr lang="en-US" sz="3200" dirty="0" err="1"/>
              <a:t>ActionVerb</a:t>
            </a:r>
            <a:r>
              <a:rPr lang="en-US" sz="3200" dirty="0"/>
              <a:t> </a:t>
            </a:r>
            <a:r>
              <a:rPr lang="en-US" sz="3200" dirty="0" err="1"/>
              <a:t>nào</a:t>
            </a:r>
            <a:r>
              <a:rPr lang="en-US" sz="3200" dirty="0"/>
              <a:t>, </a:t>
            </a:r>
            <a:r>
              <a:rPr lang="en-US" sz="3200" dirty="0" err="1"/>
              <a:t>thì</a:t>
            </a:r>
            <a:r>
              <a:rPr lang="en-US" sz="3200" dirty="0"/>
              <a:t> MVC Framework </a:t>
            </a:r>
            <a:r>
              <a:rPr lang="en-US" sz="3200" dirty="0" err="1"/>
              <a:t>sẽ</a:t>
            </a:r>
            <a:r>
              <a:rPr lang="en-US" sz="3200" dirty="0"/>
              <a:t> </a:t>
            </a:r>
            <a:r>
              <a:rPr lang="en-US" sz="3200" dirty="0" err="1"/>
              <a:t>tự</a:t>
            </a:r>
            <a:r>
              <a:rPr lang="en-US" sz="3200" dirty="0"/>
              <a:t> </a:t>
            </a:r>
            <a:r>
              <a:rPr lang="en-US" sz="3200" dirty="0" err="1"/>
              <a:t>hiểu</a:t>
            </a:r>
            <a:r>
              <a:rPr lang="en-US" sz="3200" dirty="0"/>
              <a:t> </a:t>
            </a:r>
            <a:r>
              <a:rPr lang="en-US" sz="3200" dirty="0" err="1"/>
              <a:t>đó</a:t>
            </a:r>
            <a:r>
              <a:rPr lang="en-US" sz="3200" dirty="0"/>
              <a:t> </a:t>
            </a:r>
            <a:r>
              <a:rPr lang="en-US" sz="3200" dirty="0" err="1"/>
              <a:t>hà</a:t>
            </a:r>
            <a:r>
              <a:rPr lang="en-US" sz="3200" dirty="0"/>
              <a:t> </a:t>
            </a:r>
            <a:r>
              <a:rPr lang="en-US" sz="3200" dirty="0" err="1"/>
              <a:t>HttpGet</a:t>
            </a:r>
            <a:r>
              <a:rPr lang="en-US" sz="3200" dirty="0"/>
              <a:t>.</a:t>
            </a:r>
            <a:endParaRPr lang="en-US" sz="32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3691106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ActionVerb</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dirty="0" err="1"/>
              <a:t>Ví</a:t>
            </a:r>
            <a:r>
              <a:rPr lang="en-US" dirty="0"/>
              <a:t> </a:t>
            </a:r>
            <a:r>
              <a:rPr lang="en-US" dirty="0" err="1"/>
              <a:t>dụ</a:t>
            </a:r>
            <a:r>
              <a:rPr lang="en-US" dirty="0"/>
              <a:t> </a:t>
            </a:r>
            <a:r>
              <a:rPr lang="en-US" dirty="0" err="1"/>
              <a:t>ph</a:t>
            </a:r>
            <a:r>
              <a:rPr lang="vi-VN" dirty="0"/>
              <a:t>ư</a:t>
            </a:r>
            <a:r>
              <a:rPr lang="en-US" dirty="0" err="1"/>
              <a:t>ơng</a:t>
            </a:r>
            <a:r>
              <a:rPr lang="en-US" dirty="0"/>
              <a:t> </a:t>
            </a:r>
            <a:r>
              <a:rPr lang="en-US" dirty="0" err="1"/>
              <a:t>thức</a:t>
            </a:r>
            <a:r>
              <a:rPr lang="en-US" dirty="0"/>
              <a:t> Edit </a:t>
            </a:r>
            <a:r>
              <a:rPr lang="en-US" dirty="0" err="1"/>
              <a:t>với</a:t>
            </a:r>
            <a:r>
              <a:rPr lang="en-US" dirty="0"/>
              <a:t> </a:t>
            </a:r>
            <a:r>
              <a:rPr lang="en-US" dirty="0" err="1"/>
              <a:t>HttpGet</a:t>
            </a:r>
            <a:r>
              <a:rPr lang="en-US" dirty="0"/>
              <a:t> </a:t>
            </a:r>
            <a:r>
              <a:rPr lang="en-US" dirty="0" err="1"/>
              <a:t>trả</a:t>
            </a:r>
            <a:r>
              <a:rPr lang="en-US" dirty="0"/>
              <a:t> </a:t>
            </a:r>
            <a:r>
              <a:rPr lang="en-US" dirty="0" err="1"/>
              <a:t>về</a:t>
            </a:r>
            <a:r>
              <a:rPr lang="en-US" dirty="0"/>
              <a:t> </a:t>
            </a:r>
            <a:r>
              <a:rPr lang="en-US" dirty="0" err="1"/>
              <a:t>một</a:t>
            </a:r>
            <a:r>
              <a:rPr lang="en-US" dirty="0"/>
              <a:t> Get Request </a:t>
            </a:r>
            <a:r>
              <a:rPr lang="en-US" dirty="0" err="1"/>
              <a:t>và</a:t>
            </a:r>
            <a:r>
              <a:rPr lang="en-US" dirty="0"/>
              <a:t> </a:t>
            </a:r>
            <a:r>
              <a:rPr lang="en-US" dirty="0" err="1"/>
              <a:t>tạo</a:t>
            </a:r>
            <a:r>
              <a:rPr lang="en-US" dirty="0"/>
              <a:t> </a:t>
            </a:r>
            <a:r>
              <a:rPr lang="en-US" dirty="0" err="1"/>
              <a:t>ra</a:t>
            </a:r>
            <a:r>
              <a:rPr lang="en-US" dirty="0"/>
              <a:t> Edit Form. </a:t>
            </a:r>
            <a:r>
              <a:rPr lang="en-US" dirty="0" err="1"/>
              <a:t>Ph</a:t>
            </a:r>
            <a:r>
              <a:rPr lang="vi-VN" dirty="0"/>
              <a:t>ư</a:t>
            </a:r>
            <a:r>
              <a:rPr lang="en-US" dirty="0" err="1"/>
              <a:t>ơng</a:t>
            </a:r>
            <a:r>
              <a:rPr lang="en-US" dirty="0"/>
              <a:t> </a:t>
            </a:r>
            <a:r>
              <a:rPr lang="en-US" dirty="0" err="1"/>
              <a:t>thức</a:t>
            </a:r>
            <a:r>
              <a:rPr lang="en-US" dirty="0"/>
              <a:t> Edit </a:t>
            </a:r>
            <a:r>
              <a:rPr lang="en-US" dirty="0" err="1"/>
              <a:t>với</a:t>
            </a:r>
            <a:r>
              <a:rPr lang="en-US" dirty="0"/>
              <a:t> </a:t>
            </a:r>
            <a:r>
              <a:rPr lang="en-US" dirty="0" err="1"/>
              <a:t>HttpPost</a:t>
            </a:r>
            <a:r>
              <a:rPr lang="en-US" dirty="0"/>
              <a:t> </a:t>
            </a:r>
            <a:r>
              <a:rPr lang="en-US" dirty="0" err="1"/>
              <a:t>nhận</a:t>
            </a:r>
            <a:r>
              <a:rPr lang="en-US" dirty="0"/>
              <a:t> Post request </a:t>
            </a:r>
            <a:r>
              <a:rPr lang="en-US" dirty="0" err="1"/>
              <a:t>và</a:t>
            </a:r>
            <a:r>
              <a:rPr lang="en-US" dirty="0"/>
              <a:t> </a:t>
            </a:r>
            <a:r>
              <a:rPr lang="en-US" dirty="0" err="1"/>
              <a:t>cập</a:t>
            </a:r>
            <a:r>
              <a:rPr lang="en-US" dirty="0"/>
              <a:t> </a:t>
            </a:r>
            <a:r>
              <a:rPr lang="en-US" dirty="0" err="1"/>
              <a:t>nhật</a:t>
            </a:r>
            <a:r>
              <a:rPr lang="en-US" dirty="0"/>
              <a:t> database.</a:t>
            </a:r>
          </a:p>
          <a:p>
            <a:pPr marL="0" lvl="0" indent="0">
              <a:buNone/>
            </a:pPr>
            <a:endParaRPr lang="en-US" dirty="0">
              <a:solidFill>
                <a:prstClr val="black"/>
              </a:solidFill>
            </a:endParaRPr>
          </a:p>
          <a:p>
            <a:pPr lvl="0"/>
            <a:endParaRPr lang="en-US" dirty="0">
              <a:solidFill>
                <a:prstClr val="black"/>
              </a:solidFill>
            </a:endParaRPr>
          </a:p>
          <a:p>
            <a:pPr marL="457200" lvl="1" indent="0">
              <a:buNone/>
            </a:pPr>
            <a:endParaRPr lang="en-US" dirty="0"/>
          </a:p>
          <a:p>
            <a:pPr lvl="1"/>
            <a:endParaRPr lang="en-US" dirty="0"/>
          </a:p>
          <a:p>
            <a:pPr lvl="1"/>
            <a:endParaRPr lang="en-US" dirty="0"/>
          </a:p>
          <a:p>
            <a:pPr lvl="1"/>
            <a:endParaRPr lang="en-US" dirty="0"/>
          </a:p>
          <a:p>
            <a:pPr lvl="1"/>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3">
            <a:extLst>
              <a:ext uri="{FF2B5EF4-FFF2-40B4-BE49-F238E27FC236}">
                <a16:creationId xmlns:a16="http://schemas.microsoft.com/office/drawing/2014/main" id="{33D71A70-22CB-405E-ADC9-52F59A200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2377" y="2751382"/>
            <a:ext cx="8700799" cy="3243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09990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3600" dirty="0" err="1" smtClean="0">
                <a:solidFill>
                  <a:srgbClr val="FFC000"/>
                </a:solidFill>
              </a:rPr>
              <a:t>Hãy</a:t>
            </a:r>
            <a:r>
              <a:rPr lang="en-US" sz="3600" dirty="0" smtClean="0">
                <a:solidFill>
                  <a:srgbClr val="FFC000"/>
                </a:solidFill>
              </a:rPr>
              <a:t> </a:t>
            </a:r>
            <a:r>
              <a:rPr lang="en-US" sz="3600" dirty="0" err="1" smtClean="0">
                <a:solidFill>
                  <a:srgbClr val="FFC000"/>
                </a:solidFill>
              </a:rPr>
              <a:t>thự</a:t>
            </a:r>
            <a:r>
              <a:rPr lang="en-US" sz="3600" dirty="0" err="1" smtClean="0">
                <a:solidFill>
                  <a:srgbClr val="FFC000"/>
                </a:solidFill>
              </a:rPr>
              <a:t>c</a:t>
            </a:r>
            <a:r>
              <a:rPr lang="en-US" sz="3600" dirty="0" smtClean="0">
                <a:solidFill>
                  <a:srgbClr val="FFC000"/>
                </a:solidFill>
              </a:rPr>
              <a:t> </a:t>
            </a:r>
            <a:r>
              <a:rPr lang="en-US" sz="3600" dirty="0" err="1" smtClean="0">
                <a:solidFill>
                  <a:srgbClr val="FFC000"/>
                </a:solidFill>
              </a:rPr>
              <a:t>hiện</a:t>
            </a:r>
            <a:r>
              <a:rPr lang="en-US" sz="3600" dirty="0" smtClean="0">
                <a:solidFill>
                  <a:srgbClr val="FFC000"/>
                </a:solidFill>
              </a:rPr>
              <a:t> </a:t>
            </a:r>
            <a:r>
              <a:rPr lang="en-US" sz="3600" dirty="0" err="1" smtClean="0">
                <a:solidFill>
                  <a:srgbClr val="FFC000"/>
                </a:solidFill>
              </a:rPr>
              <a:t>các</a:t>
            </a:r>
            <a:r>
              <a:rPr lang="en-US" sz="3600" dirty="0" smtClean="0">
                <a:solidFill>
                  <a:srgbClr val="FFC000"/>
                </a:solidFill>
              </a:rPr>
              <a:t> </a:t>
            </a:r>
            <a:r>
              <a:rPr lang="en-US" sz="3600" dirty="0" err="1" smtClean="0">
                <a:solidFill>
                  <a:srgbClr val="FFC000"/>
                </a:solidFill>
              </a:rPr>
              <a:t>ví</a:t>
            </a:r>
            <a:r>
              <a:rPr lang="en-US" sz="3600" dirty="0" smtClean="0">
                <a:solidFill>
                  <a:srgbClr val="FFC000"/>
                </a:solidFill>
              </a:rPr>
              <a:t> </a:t>
            </a:r>
            <a:r>
              <a:rPr lang="en-US" sz="3600" dirty="0" err="1" smtClean="0">
                <a:solidFill>
                  <a:srgbClr val="FFC000"/>
                </a:solidFill>
              </a:rPr>
              <a:t>dụ</a:t>
            </a:r>
            <a:endParaRPr lang="en-US" sz="36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005146"/>
            <a:ext cx="12054254" cy="792529"/>
          </a:xfrm>
          <a:prstGeom prst="rect">
            <a:avLst/>
          </a:prstGeom>
        </p:spPr>
        <p:txBody>
          <a:bodyPr/>
          <a:lstStyle/>
          <a:p>
            <a:pPr algn="ctr"/>
            <a:r>
              <a:rPr lang="vi-VN" dirty="0"/>
              <a:t>Lập trình C#3</a:t>
            </a:r>
            <a:endParaRPr lang="en-US" dirty="0"/>
          </a:p>
        </p:txBody>
      </p:sp>
      <p:sp>
        <p:nvSpPr>
          <p:cNvPr id="5" name="Slide Number Placeholder 4"/>
          <p:cNvSpPr>
            <a:spLocks noGrp="1"/>
          </p:cNvSpPr>
          <p:nvPr>
            <p:ph type="sldNum" sz="quarter" idx="4294967295"/>
          </p:nvPr>
        </p:nvSpPr>
        <p:spPr>
          <a:xfrm>
            <a:off x="0" y="6340475"/>
            <a:ext cx="533400" cy="517525"/>
          </a:xfrm>
          <a:prstGeom prst="rect">
            <a:avLst/>
          </a:prstGeom>
        </p:spPr>
        <p:txBody>
          <a:bodyPr/>
          <a:lstStyle/>
          <a:p>
            <a:fld id="{8AACEE26-D979-411F-B229-D9F26BAEDF07}" type="slidenum">
              <a:rPr lang="en-US" smtClean="0"/>
              <a:t>30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26690711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a:xfrm>
            <a:off x="1085850" y="2057401"/>
            <a:ext cx="10511204" cy="3974122"/>
          </a:xfrm>
        </p:spPr>
        <p:txBody>
          <a:bodyPr>
            <a:noAutofit/>
          </a:bodyPr>
          <a:lstStyle/>
          <a:p>
            <a:pPr>
              <a:lnSpc>
                <a:spcPct val="150000"/>
              </a:lnSpc>
            </a:pPr>
            <a:r>
              <a:rPr lang="en-US" sz="3200" dirty="0" err="1">
                <a:solidFill>
                  <a:srgbClr val="FFC000"/>
                </a:solidFill>
              </a:rPr>
              <a:t>Mô</a:t>
            </a:r>
            <a:r>
              <a:rPr lang="en-US" sz="3200" dirty="0">
                <a:solidFill>
                  <a:srgbClr val="FFC000"/>
                </a:solidFill>
              </a:rPr>
              <a:t> </a:t>
            </a:r>
            <a:r>
              <a:rPr lang="en-US" sz="3200" dirty="0" err="1">
                <a:solidFill>
                  <a:srgbClr val="FFC000"/>
                </a:solidFill>
              </a:rPr>
              <a:t>hình</a:t>
            </a:r>
            <a:r>
              <a:rPr lang="en-US" sz="3200" dirty="0">
                <a:solidFill>
                  <a:srgbClr val="FFC000"/>
                </a:solidFill>
              </a:rPr>
              <a:t> MVC</a:t>
            </a:r>
            <a:br>
              <a:rPr lang="en-US" sz="3200" dirty="0">
                <a:solidFill>
                  <a:srgbClr val="FFC000"/>
                </a:solidFill>
              </a:rPr>
            </a:br>
            <a:r>
              <a:rPr lang="en-US" sz="3200" dirty="0">
                <a:solidFill>
                  <a:srgbClr val="FFC000"/>
                </a:solidFill>
              </a:rPr>
              <a:t>Asp.net core </a:t>
            </a:r>
            <a:r>
              <a:rPr lang="vi-VN" sz="3200" dirty="0">
                <a:solidFill>
                  <a:srgbClr val="FFC000"/>
                </a:solidFill>
              </a:rPr>
              <a:t>MVC</a:t>
            </a:r>
            <a:r>
              <a:rPr lang="en-US" sz="3200" dirty="0">
                <a:solidFill>
                  <a:srgbClr val="FFC000"/>
                </a:solidFill>
              </a:rPr>
              <a:t> template</a:t>
            </a:r>
            <a:r>
              <a:rPr lang="nl-NL" sz="3200" dirty="0">
                <a:solidFill>
                  <a:srgbClr val="FFC000"/>
                </a:solidFill>
              </a:rPr>
              <a:t/>
            </a:r>
            <a:br>
              <a:rPr lang="nl-NL" sz="3200" dirty="0">
                <a:solidFill>
                  <a:srgbClr val="FFC000"/>
                </a:solidFill>
              </a:rPr>
            </a:br>
            <a:r>
              <a:rPr lang="en-US" sz="3200" dirty="0" err="1">
                <a:solidFill>
                  <a:srgbClr val="FFC000"/>
                </a:solidFill>
              </a:rPr>
              <a:t>Cấu</a:t>
            </a:r>
            <a:r>
              <a:rPr lang="en-US" sz="3200" dirty="0">
                <a:solidFill>
                  <a:srgbClr val="FFC000"/>
                </a:solidFill>
              </a:rPr>
              <a:t> </a:t>
            </a:r>
            <a:r>
              <a:rPr lang="en-US" sz="3200" dirty="0" err="1">
                <a:solidFill>
                  <a:srgbClr val="FFC000"/>
                </a:solidFill>
              </a:rPr>
              <a:t>hình</a:t>
            </a:r>
            <a:r>
              <a:rPr lang="en-US" sz="3200" dirty="0">
                <a:solidFill>
                  <a:srgbClr val="FFC000"/>
                </a:solidFill>
              </a:rPr>
              <a:t> Asp.net core </a:t>
            </a:r>
            <a:r>
              <a:rPr lang="vi-VN" sz="3200" dirty="0" smtClean="0">
                <a:solidFill>
                  <a:srgbClr val="FFC000"/>
                </a:solidFill>
              </a:rPr>
              <a:t>MVC</a:t>
            </a:r>
            <a:endParaRPr lang="en-US" sz="32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1" y="6296202"/>
            <a:ext cx="11933241" cy="489129"/>
          </a:xfrm>
          <a:prstGeom prst="rect">
            <a:avLst/>
          </a:prstGeom>
        </p:spPr>
        <p:txBody>
          <a:bodyPr/>
          <a:lstStyle/>
          <a:p>
            <a:pPr algn="ctr"/>
            <a:r>
              <a:rPr lang="en-US" dirty="0" smtClean="0"/>
              <a:t>L</a:t>
            </a:r>
            <a:r>
              <a:rPr lang="vi-VN" dirty="0" smtClean="0"/>
              <a:t>ập </a:t>
            </a:r>
            <a:r>
              <a:rPr lang="vi-VN" dirty="0"/>
              <a:t>trình C#3</a:t>
            </a:r>
            <a:endParaRPr lang="en-US" dirty="0"/>
          </a:p>
        </p:txBody>
      </p:sp>
      <p:sp>
        <p:nvSpPr>
          <p:cNvPr id="5" name="Slide Number Placeholder 4"/>
          <p:cNvSpPr>
            <a:spLocks noGrp="1"/>
          </p:cNvSpPr>
          <p:nvPr>
            <p:ph type="sldNum" sz="quarter" idx="4294967295"/>
          </p:nvPr>
        </p:nvSpPr>
        <p:spPr>
          <a:xfrm flipH="1">
            <a:off x="888523" y="6155524"/>
            <a:ext cx="3894491" cy="514057"/>
          </a:xfrm>
          <a:prstGeom prst="rect">
            <a:avLst/>
          </a:prstGeom>
        </p:spPr>
        <p:txBody>
          <a:bodyPr/>
          <a:lstStyle/>
          <a:p>
            <a:r>
              <a:rPr lang="en-US" dirty="0" smtClean="0"/>
              <a:t>1	</a:t>
            </a:r>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err="1" smtClean="0">
                <a:solidFill>
                  <a:schemeClr val="bg1"/>
                </a:solidFill>
              </a:rPr>
              <a:t>Tổng</a:t>
            </a:r>
            <a:r>
              <a:rPr lang="en-US" sz="6000" dirty="0" smtClean="0">
                <a:solidFill>
                  <a:schemeClr val="bg1"/>
                </a:solidFill>
              </a:rPr>
              <a:t> </a:t>
            </a:r>
            <a:r>
              <a:rPr lang="en-US" sz="6000" dirty="0" err="1" smtClean="0">
                <a:solidFill>
                  <a:schemeClr val="bg1"/>
                </a:solidFill>
              </a:rPr>
              <a:t>kết</a:t>
            </a:r>
            <a:r>
              <a:rPr lang="en-US" sz="6000" dirty="0" smtClean="0">
                <a:solidFill>
                  <a:schemeClr val="bg1"/>
                </a:solidFill>
              </a:rPr>
              <a:t> </a:t>
            </a:r>
            <a:r>
              <a:rPr lang="en-US" sz="6000" dirty="0" err="1" smtClean="0">
                <a:solidFill>
                  <a:schemeClr val="bg1"/>
                </a:solidFill>
              </a:rPr>
              <a:t>bài</a:t>
            </a:r>
            <a:r>
              <a:rPr lang="en-US" sz="6000" dirty="0" smtClean="0">
                <a:solidFill>
                  <a:schemeClr val="bg1"/>
                </a:solidFill>
              </a:rPr>
              <a:t> </a:t>
            </a:r>
            <a:r>
              <a:rPr lang="en-US" sz="6000" dirty="0" err="1" smtClean="0">
                <a:solidFill>
                  <a:schemeClr val="bg1"/>
                </a:solidFill>
              </a:rPr>
              <a:t>học</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700702116"/>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1023</Words>
  <Application>Microsoft Office PowerPoint</Application>
  <PresentationFormat>Widescreen</PresentationFormat>
  <Paragraphs>221</Paragraphs>
  <Slides>31</Slides>
  <Notes>1</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31</vt:i4>
      </vt:variant>
    </vt:vector>
  </HeadingPairs>
  <TitlesOfParts>
    <vt:vector size="47" baseType="lpstr">
      <vt:lpstr>Arial</vt:lpstr>
      <vt:lpstr>Arial</vt:lpstr>
      <vt:lpstr>Calibri</vt:lpstr>
      <vt:lpstr>Calibri Light</vt:lpstr>
      <vt:lpstr>Courier New</vt:lpstr>
      <vt:lpstr>Roboto</vt:lpstr>
      <vt:lpstr>Roboto Lt</vt:lpstr>
      <vt:lpstr>Segoe UI</vt:lpstr>
      <vt:lpstr>Times New Roman</vt:lpstr>
      <vt:lpstr>Tw Cen MT</vt:lpstr>
      <vt:lpstr>Tw Cen MT Condensed</vt:lpstr>
      <vt:lpstr>Wingdings</vt:lpstr>
      <vt:lpstr>Wingdings 3</vt:lpstr>
      <vt:lpstr>Office Theme</vt:lpstr>
      <vt:lpstr>ModernClassicBlock-3</vt:lpstr>
      <vt:lpstr>Custom Design</vt:lpstr>
      <vt:lpstr>Lập Trình C#3</vt:lpstr>
      <vt:lpstr>Mục tiêu</vt:lpstr>
      <vt:lpstr>MVC là gì?</vt:lpstr>
      <vt:lpstr>MVC là gì?</vt:lpstr>
      <vt:lpstr>Asp.net core MVC template</vt:lpstr>
      <vt:lpstr>Asp.net core MVC template</vt:lpstr>
      <vt:lpstr>Asp.net core MVC template</vt:lpstr>
      <vt:lpstr>Tạo model</vt:lpstr>
      <vt:lpstr>Tạo view</vt:lpstr>
      <vt:lpstr>Thực hiện các ví dụ</vt:lpstr>
      <vt:lpstr>Tự tạo Asp.net core MVC</vt:lpstr>
      <vt:lpstr>Thêm MVC Service</vt:lpstr>
      <vt:lpstr>Thêm MVC Middleware</vt:lpstr>
      <vt:lpstr>Adding Home Controller</vt:lpstr>
      <vt:lpstr>Hãy thực hiện các ví dụ</vt:lpstr>
      <vt:lpstr>Action method</vt:lpstr>
      <vt:lpstr>Action trả về view</vt:lpstr>
      <vt:lpstr>Action trả về view</vt:lpstr>
      <vt:lpstr>Action trả về view</vt:lpstr>
      <vt:lpstr>Kết hợp model-controller-view</vt:lpstr>
      <vt:lpstr>Kết hợp model-controller-view</vt:lpstr>
      <vt:lpstr>Kết hợp model-controller-view</vt:lpstr>
      <vt:lpstr>Kết hợp model-controller-view</vt:lpstr>
      <vt:lpstr>Hãy thực hiện các ví dụ</vt:lpstr>
      <vt:lpstr>Action Selector</vt:lpstr>
      <vt:lpstr>Action name</vt:lpstr>
      <vt:lpstr>NonAction</vt:lpstr>
      <vt:lpstr>ActionVerb</vt:lpstr>
      <vt:lpstr>ActionVerb</vt:lpstr>
      <vt:lpstr>Hãy thực hiện các ví dụ</vt:lpstr>
      <vt:lpstr>Mô hình MVC Asp.net core MVC template Cấu hình Asp.net core MVC</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Lập Trình C#3</dc:title>
  <dc:creator>Nguy Nguyen Uy Vu</dc:creator>
  <cp:lastModifiedBy>Nguy Nguyen Uy Vu</cp:lastModifiedBy>
  <cp:revision>35</cp:revision>
  <dcterms:created xsi:type="dcterms:W3CDTF">2024-12-10T15:23:11Z</dcterms:created>
  <dcterms:modified xsi:type="dcterms:W3CDTF">2024-12-11T05:33:13Z</dcterms:modified>
</cp:coreProperties>
</file>