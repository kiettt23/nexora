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7" r:id="rId3"/>
  </p:sldMasterIdLst>
  <p:notesMasterIdLst>
    <p:notesMasterId r:id="rId32"/>
  </p:notesMasterIdLst>
  <p:sldIdLst>
    <p:sldId id="257" r:id="rId4"/>
    <p:sldId id="258" r:id="rId5"/>
    <p:sldId id="259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32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57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67F05-D95D-49FE-87B7-67C84346D2CD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6582C-81C5-4156-B658-E10D67690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E5FABD-26C8-4F74-B1E3-45BC91BC9D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521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49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8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9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7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219262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79988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187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6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0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354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1410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606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2893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286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6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273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8673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408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224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4320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217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850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58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45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864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573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615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331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5324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140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9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3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78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2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519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6331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543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7721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017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294815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28842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2787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7437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74826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6630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4270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1390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78662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2790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2682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245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561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008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235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532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63623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18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886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25001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3161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B4B414-6006-A545-91A5-6439F5733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6400" y="4038600"/>
            <a:ext cx="6705600" cy="830884"/>
          </a:xfrm>
        </p:spPr>
        <p:txBody>
          <a:bodyPr>
            <a:normAutofit/>
          </a:bodyPr>
          <a:lstStyle>
            <a:lvl1pPr algn="l">
              <a:defRPr sz="36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7244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Résultat de recherche d'images pour &quot;testing&quot;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88" y="2439665"/>
            <a:ext cx="2827624" cy="20348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C30FD-63C3-C741-9C8B-9481A688A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381000"/>
            <a:ext cx="396888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53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74638"/>
            <a:ext cx="8839200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F313-9C13-47C6-A228-B55986214473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8719"/>
            <a:ext cx="2032000" cy="461818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983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6EF9-73EC-47CA-9E52-574751B1CDA3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965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F786-C4DF-431A-9246-1EC1829B2C78}" type="datetime1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574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9D84-263E-478C-94B6-63AC70204759}" type="datetime1">
              <a:rPr lang="en-US" smtClean="0"/>
              <a:t>12/31/2024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822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8565-00B5-4601-AD26-950DAB626426}" type="datetime1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668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AF78-3B29-49D4-81C3-7555616E6373}" type="datetime1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52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8055-7455-47F1-BA44-73D8B83B9342}" type="datetime1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937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46837-A547-4964-AC0B-E650641F7846}" type="datetime1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145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0451A-A87B-4BA7-B824-056B86D6CA5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663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4BB19-EC7D-4033-B460-36F421974985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73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-1930400" y="6188076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C0512-7E02-4E40-BD9C-21FAB9932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13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1387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013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F40E0-E6EB-4A06-A23A-FAEAF1FE809C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C4897-F721-4489-83C3-CD2672282672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4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localhost:5000/MyHome/friendlyNam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751591" cy="75609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C#3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600" y="3299438"/>
            <a:ext cx="7244861" cy="1196362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FFC000"/>
                </a:solidFill>
              </a:rPr>
              <a:t>Bài</a:t>
            </a:r>
            <a:r>
              <a:rPr lang="en-US" sz="3600" dirty="0">
                <a:solidFill>
                  <a:srgbClr val="FFC000"/>
                </a:solidFill>
              </a:rPr>
              <a:t> 6</a:t>
            </a:r>
            <a:r>
              <a:rPr lang="en-US" sz="3600" dirty="0" smtClean="0">
                <a:solidFill>
                  <a:srgbClr val="FFC000"/>
                </a:solidFill>
              </a:rPr>
              <a:t>: </a:t>
            </a:r>
            <a:r>
              <a:rPr lang="en-US" sz="3600" dirty="0">
                <a:solidFill>
                  <a:srgbClr val="FFC000"/>
                </a:solidFill>
              </a:rPr>
              <a:t>Routing in ASP.NET Core </a:t>
            </a:r>
            <a:r>
              <a:rPr lang="en-US" sz="3600" dirty="0" smtClean="0">
                <a:solidFill>
                  <a:srgbClr val="FFC000"/>
                </a:solidFill>
              </a:rPr>
              <a:t>MVC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1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Mục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tiêu</a:t>
            </a:r>
            <a:endParaRPr lang="en-US" sz="4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¤"/>
            </a:pPr>
            <a:r>
              <a:rPr lang="en-US" sz="3200" dirty="0"/>
              <a:t>Conventional Routing</a:t>
            </a:r>
          </a:p>
          <a:p>
            <a:pPr>
              <a:buFont typeface="Wingdings" pitchFamily="2" charset="2"/>
              <a:buChar char="¤"/>
            </a:pPr>
            <a:r>
              <a:rPr lang="en-US" sz="3200" dirty="0"/>
              <a:t>Attribute Routing</a:t>
            </a:r>
          </a:p>
          <a:p>
            <a:pPr>
              <a:buFont typeface="Wingdings" pitchFamily="2" charset="2"/>
              <a:buChar char="¤"/>
            </a:pPr>
            <a:r>
              <a:rPr lang="en-US" sz="3200" dirty="0"/>
              <a:t>Route Constraint</a:t>
            </a:r>
            <a:endParaRPr lang="nl-NL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5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MVC URL Routing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mvc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Routing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và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request</a:t>
            </a:r>
          </a:p>
          <a:p>
            <a:pPr marL="0" indent="0">
              <a:buNone/>
            </a:pPr>
            <a:r>
              <a:rPr lang="en-US" dirty="0" err="1"/>
              <a:t>đến</a:t>
            </a:r>
            <a:r>
              <a:rPr lang="en-US" dirty="0"/>
              <a:t> controller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 descr="Kết quả hình ảnh cho how routing works in asp.net core">
            <a:extLst>
              <a:ext uri="{FF2B5EF4-FFF2-40B4-BE49-F238E27FC236}">
                <a16:creationId xmlns:a16="http://schemas.microsoft.com/office/drawing/2014/main" id="{97CD70C7-2718-4C17-95BE-6400C471D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676" y="2002387"/>
            <a:ext cx="5576402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50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Routing in ASP.NET Core MVC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Routing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vi-VN" dirty="0"/>
              <a:t>ASP.NET Core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vi-VN" dirty="0"/>
              <a:t>xem xét các URL request gửi đến và "chỉ đường" cho nó đến Controller Actions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vi-VN" dirty="0"/>
              <a:t>được sử dụng để tạo ra URL đầu ra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008314-BAE8-47D4-B267-9E0798E7B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462" y="2241550"/>
            <a:ext cx="60960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5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Routing in ASP.NET Core MVC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Khi</a:t>
            </a:r>
            <a:r>
              <a:rPr lang="en-US" dirty="0"/>
              <a:t> request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Routing Middleware </a:t>
            </a:r>
            <a:r>
              <a:rPr lang="en-US" dirty="0" err="1"/>
              <a:t>sẽ</a:t>
            </a:r>
            <a:endParaRPr lang="en-US" dirty="0"/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URL</a:t>
            </a:r>
          </a:p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Route </a:t>
            </a:r>
          </a:p>
          <a:p>
            <a:pPr marL="0" indent="0">
              <a:buNone/>
            </a:pPr>
            <a:r>
              <a:rPr lang="en-US" dirty="0" err="1"/>
              <a:t>nào</a:t>
            </a:r>
            <a:r>
              <a:rPr lang="en-US" dirty="0"/>
              <a:t> match </a:t>
            </a:r>
            <a:r>
              <a:rPr lang="en-US" dirty="0" err="1"/>
              <a:t>trong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err="1"/>
              <a:t>RouteCollection</a:t>
            </a:r>
            <a:endParaRPr lang="en-US" dirty="0"/>
          </a:p>
          <a:p>
            <a:r>
              <a:rPr lang="en-US" dirty="0" err="1"/>
              <a:t>Nếu</a:t>
            </a:r>
            <a:r>
              <a:rPr lang="en-US" dirty="0"/>
              <a:t> Route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sang </a:t>
            </a:r>
          </a:p>
          <a:p>
            <a:pPr marL="0" indent="0">
              <a:buNone/>
            </a:pPr>
            <a:r>
              <a:rPr lang="en-US" dirty="0" err="1"/>
              <a:t>RouteHandler</a:t>
            </a:r>
            <a:endParaRPr lang="en-US" dirty="0"/>
          </a:p>
          <a:p>
            <a:pPr lvl="0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thấy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Route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qua,gọi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dirty="0"/>
              <a:t>middleware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D422C4-FC72-437D-A100-EE97E4B7C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24" y="1570038"/>
            <a:ext cx="5019353" cy="478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1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Routing in ASP.NET Core MVC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RouteCollection</a:t>
            </a:r>
            <a:r>
              <a:rPr lang="en-US" dirty="0"/>
              <a:t>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Route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Route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collection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 smtClean="0"/>
              <a:t>động</a:t>
            </a:r>
            <a:endParaRPr lang="en-US" dirty="0" smtClean="0"/>
          </a:p>
          <a:p>
            <a:endParaRPr lang="en-US" dirty="0"/>
          </a:p>
          <a:p>
            <a:r>
              <a:rPr lang="en-US" dirty="0" err="1"/>
              <a:t>RouteHandler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Route. </a:t>
            </a:r>
            <a:r>
              <a:rPr lang="vi-VN" dirty="0"/>
              <a:t>Khi cơ chế routing tìm được một Route thích hợp cho một request đến, nó sẽ gọi đến RouteHandler</a:t>
            </a:r>
            <a:r>
              <a:rPr lang="vi-VN" b="1" dirty="0"/>
              <a:t> </a:t>
            </a:r>
            <a:r>
              <a:rPr lang="vi-VN" dirty="0"/>
              <a:t>và gửi route đó cho RouteHandler</a:t>
            </a:r>
            <a:r>
              <a:rPr lang="vi-VN" b="1" dirty="0"/>
              <a:t> </a:t>
            </a:r>
            <a:r>
              <a:rPr lang="vi-VN" dirty="0"/>
              <a:t>xử lý.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0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Routing in ASP.NET Core MVC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Trong</a:t>
            </a:r>
            <a:r>
              <a:rPr lang="en-US" dirty="0"/>
              <a:t> ASP.NET Core MVC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routing </a:t>
            </a:r>
            <a:r>
              <a:rPr lang="en-US" dirty="0" err="1"/>
              <a:t>theo</a:t>
            </a:r>
            <a:r>
              <a:rPr lang="en-US" dirty="0"/>
              <a:t> 2 </a:t>
            </a:r>
            <a:r>
              <a:rPr lang="en-US" dirty="0" err="1"/>
              <a:t>cách</a:t>
            </a:r>
            <a:endParaRPr lang="en-US" dirty="0"/>
          </a:p>
          <a:p>
            <a:pPr lvl="1"/>
            <a:r>
              <a:rPr lang="en-US" dirty="0"/>
              <a:t>Conventional Routing: </a:t>
            </a:r>
            <a:r>
              <a:rPr lang="vi-VN" dirty="0"/>
              <a:t> tạo ra Route dựa trên một loạt các quy tắc được định nghĩa trong file </a:t>
            </a:r>
            <a:r>
              <a:rPr lang="en-US" dirty="0"/>
              <a:t>program</a:t>
            </a:r>
            <a:r>
              <a:rPr lang="vi-VN" dirty="0"/>
              <a:t>.cs</a:t>
            </a:r>
            <a:endParaRPr lang="en-US" dirty="0"/>
          </a:p>
          <a:p>
            <a:pPr lvl="1"/>
            <a:r>
              <a:rPr lang="en-US" dirty="0"/>
              <a:t>Attribute Routing: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Route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attribute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Controller action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 descr="[鐵人賽 Day07] ASP.NET Core 2 系列 - 路由(Routing) - 流程">
            <a:extLst>
              <a:ext uri="{FF2B5EF4-FFF2-40B4-BE49-F238E27FC236}">
                <a16:creationId xmlns:a16="http://schemas.microsoft.com/office/drawing/2014/main" id="{959A1A15-99C4-41DB-BD5D-87BBA8FF5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171825"/>
            <a:ext cx="57150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32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Conventional Routing in ASP.NET Core MVC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Convention based Routes cấu hình trong </a:t>
            </a:r>
            <a:r>
              <a:rPr lang="en-US" dirty="0" err="1"/>
              <a:t>program.cs</a:t>
            </a:r>
            <a:endParaRPr lang="en-US" dirty="0"/>
          </a:p>
          <a:p>
            <a:r>
              <a:rPr lang="en-US" dirty="0" err="1"/>
              <a:t>Thêm</a:t>
            </a:r>
            <a:r>
              <a:rPr lang="en-US" dirty="0"/>
              <a:t> Routing Middleware </a:t>
            </a:r>
            <a:r>
              <a:rPr lang="en-US" dirty="0" err="1"/>
              <a:t>vào</a:t>
            </a:r>
            <a:r>
              <a:rPr lang="en-US" dirty="0"/>
              <a:t> request pipeline </a:t>
            </a:r>
            <a:r>
              <a:rPr lang="en-US" dirty="0" err="1"/>
              <a:t>dùng</a:t>
            </a:r>
            <a:r>
              <a:rPr lang="en-US" dirty="0"/>
              <a:t> </a:t>
            </a:r>
            <a:r>
              <a:rPr lang="en-US" dirty="0" err="1"/>
              <a:t>UseRouting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MapControllerRoute</a:t>
            </a:r>
            <a:endParaRPr lang="en-US" dirty="0"/>
          </a:p>
          <a:p>
            <a:r>
              <a:rPr lang="en-US" dirty="0"/>
              <a:t>V</a:t>
            </a:r>
            <a:r>
              <a:rPr lang="vi-VN" dirty="0"/>
              <a:t>í dụ tạo một route có tên là default với URL Pattern của route</a:t>
            </a:r>
            <a:r>
              <a:rPr lang="en-US" dirty="0"/>
              <a:t> </a:t>
            </a:r>
            <a:r>
              <a:rPr lang="vi-VN" dirty="0"/>
              <a:t>{controller=Home}/{action=Index}/{id?}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FD5E89-47FF-9D26-12F6-DF106B0C8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538" y="3778250"/>
            <a:ext cx="54864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40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Conventional Routing in ASP.NET Core MVC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URL Pattern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chia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gạch</a:t>
            </a:r>
            <a:r>
              <a:rPr lang="en-US" dirty="0"/>
              <a:t> </a:t>
            </a:r>
            <a:r>
              <a:rPr lang="en-US" dirty="0" err="1"/>
              <a:t>chéo</a:t>
            </a:r>
            <a:r>
              <a:rPr lang="en-US" dirty="0"/>
              <a:t>.</a:t>
            </a:r>
          </a:p>
          <a:p>
            <a:r>
              <a:rPr lang="vi-VN" dirty="0"/>
              <a:t>Route Parameter được bao gọc bởi một cặp dấu ngoặc nhọn ví dụ {controller}, {action}.</a:t>
            </a:r>
            <a:endParaRPr lang="en-US" dirty="0"/>
          </a:p>
          <a:p>
            <a:r>
              <a:rPr lang="en-US" dirty="0"/>
              <a:t>Route Parameter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 {controller=Home} </a:t>
            </a:r>
          </a:p>
          <a:p>
            <a:r>
              <a:rPr lang="en-US" dirty="0" err="1"/>
              <a:t>Dấu</a:t>
            </a:r>
            <a:r>
              <a:rPr lang="en-US" dirty="0"/>
              <a:t> ?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0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Conventional Routing in ASP.NET Core MVC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URL {controller=Home}/{action=Index}/{id?}: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route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URL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controller,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2 </a:t>
            </a:r>
            <a:r>
              <a:rPr lang="en-US" dirty="0" err="1"/>
              <a:t>là</a:t>
            </a:r>
            <a:r>
              <a:rPr lang="en-US" dirty="0"/>
              <a:t> Action method </a:t>
            </a:r>
            <a:r>
              <a:rPr lang="en-US" dirty="0" err="1"/>
              <a:t>trong</a:t>
            </a:r>
            <a:r>
              <a:rPr lang="en-US" dirty="0"/>
              <a:t> controller </a:t>
            </a:r>
            <a:r>
              <a:rPr lang="en-US" dirty="0" err="1"/>
              <a:t>đó</a:t>
            </a:r>
            <a:r>
              <a:rPr lang="en-US" dirty="0"/>
              <a:t>.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id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036741-2F3C-4AE5-ACFE-9371B8BAC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596" y="3361593"/>
            <a:ext cx="43815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6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Conventional Routing in ASP.NET Core MVC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URL Matching: </a:t>
            </a:r>
            <a:r>
              <a:rPr lang="vi-VN" dirty="0"/>
              <a:t>Mỗi phần trong URL request đến sẽ match tương ứng với thành phần của URL Pattern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 descr="Conventional Routing in ASP.NET Core MVC">
            <a:extLst>
              <a:ext uri="{FF2B5EF4-FFF2-40B4-BE49-F238E27FC236}">
                <a16:creationId xmlns:a16="http://schemas.microsoft.com/office/drawing/2014/main" id="{FB18CCA8-8313-E188-A0FD-68FBE9075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174" y="2100874"/>
            <a:ext cx="4838700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E13FED-BE6F-8B2F-6B5E-345FF4CE6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890" y="5335587"/>
            <a:ext cx="7296819" cy="309562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563208" y="2998177"/>
            <a:ext cx="96715" cy="2337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530362" y="3429000"/>
            <a:ext cx="1169376" cy="1906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99738" y="3429000"/>
            <a:ext cx="1151793" cy="1906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Ví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dụ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Default Route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Tạo</a:t>
            </a:r>
            <a:r>
              <a:rPr lang="en-US" dirty="0"/>
              <a:t> controller Student </a:t>
            </a:r>
            <a:r>
              <a:rPr lang="en-US" dirty="0" err="1"/>
              <a:t>với</a:t>
            </a:r>
            <a:r>
              <a:rPr lang="en-US" dirty="0"/>
              <a:t> 2 action </a:t>
            </a:r>
            <a:r>
              <a:rPr lang="en-US" dirty="0" smtClean="0"/>
              <a:t>method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Default Route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program.cs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2131F9-218F-4D2B-85D1-102518445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861" y="1666756"/>
            <a:ext cx="6286733" cy="19204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003" y="4192230"/>
            <a:ext cx="5164252" cy="231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8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Ví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dụ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Default Route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run project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http://localhost</a:t>
            </a:r>
            <a:r>
              <a:rPr lang="en-US" dirty="0"/>
              <a:t>:port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nào?giải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trike="sngStrike" dirty="0"/>
              <a:t>Index() Action Method of </a:t>
            </a:r>
            <a:r>
              <a:rPr lang="en-US" strike="sngStrike" dirty="0" err="1"/>
              <a:t>StudentController</a:t>
            </a:r>
            <a:endParaRPr lang="en-US" strike="sngStrike" dirty="0"/>
          </a:p>
          <a:p>
            <a:pPr marL="514350" indent="-514350">
              <a:buFont typeface="+mj-lt"/>
              <a:buAutoNum type="arabicPeriod"/>
            </a:pPr>
            <a:r>
              <a:rPr lang="en-US" strike="sngStrike" dirty="0"/>
              <a:t>Details() Action Method of </a:t>
            </a:r>
            <a:r>
              <a:rPr lang="en-US" strike="sngStrike" dirty="0" err="1"/>
              <a:t>StudentController</a:t>
            </a:r>
            <a:endParaRPr lang="en-US" strike="sngStrike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Hello </a:t>
            </a:r>
            <a:r>
              <a:rPr lang="en-US" dirty="0" err="1" smtClean="0"/>
              <a:t>VietMy</a:t>
            </a:r>
            <a:r>
              <a:rPr lang="en-US" dirty="0" smtClean="0"/>
              <a:t>!</a:t>
            </a:r>
            <a:endParaRPr lang="en-US" dirty="0"/>
          </a:p>
          <a:p>
            <a:pPr lvl="0"/>
            <a:r>
              <a:rPr lang="en-US" dirty="0"/>
              <a:t>Route </a:t>
            </a:r>
            <a:r>
              <a:rPr lang="en-US" dirty="0" err="1"/>
              <a:t>tên</a:t>
            </a:r>
            <a:r>
              <a:rPr lang="en-US" dirty="0"/>
              <a:t> default </a:t>
            </a:r>
            <a:r>
              <a:rPr lang="en-US" dirty="0" err="1"/>
              <a:t>dùng</a:t>
            </a:r>
            <a:r>
              <a:rPr lang="en-US" dirty="0"/>
              <a:t> controller Home, project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controller </a:t>
            </a:r>
            <a:r>
              <a:rPr lang="en-US" dirty="0" err="1"/>
              <a:t>Student</a:t>
            </a:r>
            <a:r>
              <a:rPr lang="en-US" dirty="0" err="1">
                <a:sym typeface="Wingdings" panose="05000000000000000000" pitchFamily="2" charset="2"/>
              </a:rPr>
              <a:t>ứng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dụng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chạy</a:t>
            </a:r>
            <a:r>
              <a:rPr lang="en-US" dirty="0">
                <a:sym typeface="Wingdings" panose="05000000000000000000" pitchFamily="2" charset="2"/>
              </a:rPr>
              <a:t> middleware:</a:t>
            </a:r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003" y="5119161"/>
            <a:ext cx="3391194" cy="3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8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Ví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dụ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Route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Sv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run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controller Student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url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student </a:t>
            </a:r>
            <a:r>
              <a:rPr lang="en-US" dirty="0" err="1"/>
              <a:t>contronller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18359E-CA67-4F94-A29C-1C2E79448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685" y="1643812"/>
            <a:ext cx="4933117" cy="457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5D9C5A-2268-2EB9-85F8-DEDC483DC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907" y="2721084"/>
            <a:ext cx="4191000" cy="10446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F921B3-F0A4-140B-61BE-D95A6588A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0" y="4806461"/>
            <a:ext cx="73279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3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Attribute-Based Routing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Cho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route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action method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attribute [Route],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program.cs</a:t>
            </a:r>
            <a:endParaRPr lang="en-US" dirty="0"/>
          </a:p>
          <a:p>
            <a:endParaRPr lang="en-US" dirty="0" smtClean="0"/>
          </a:p>
          <a:p>
            <a:r>
              <a:rPr lang="vi-VN" dirty="0" smtClean="0"/>
              <a:t>Cung </a:t>
            </a:r>
            <a:r>
              <a:rPr lang="vi-VN" dirty="0"/>
              <a:t>cấp khả năng kiểm soát route chi tiết hơn, dễ dàng tùy chỉnh route cho từng action method.</a:t>
            </a:r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Route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Action: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attribute [Route]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action method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route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action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8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Attribute-Based Routing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Attribute routing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attribute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route </a:t>
            </a:r>
            <a:r>
              <a:rPr lang="en-US" dirty="0" err="1"/>
              <a:t>trong</a:t>
            </a:r>
            <a:r>
              <a:rPr lang="en-US" dirty="0"/>
              <a:t> controller action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project: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24A7DB-DEFF-4EA1-AA47-E5B24FD79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100874"/>
            <a:ext cx="6934199" cy="205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9248D8-0214-B0EB-FB9B-30A3B8E78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739" y="4936160"/>
            <a:ext cx="6568861" cy="103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1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Attribute-Based Routing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pattern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pattern routing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: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169D89-0EFB-40E0-9E3F-3ACDE4862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226" y="2205588"/>
            <a:ext cx="8301409" cy="24116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353D91-9CAC-4102-8AFD-881ED2FF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492" y="5141996"/>
            <a:ext cx="3429000" cy="103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27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Attribute Routing with Parameters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URL Parameter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URL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ngoặc</a:t>
            </a:r>
            <a:r>
              <a:rPr lang="en-US" dirty="0"/>
              <a:t> </a:t>
            </a:r>
            <a:r>
              <a:rPr lang="en-US" dirty="0" err="1"/>
              <a:t>nhọn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project</a:t>
            </a:r>
          </a:p>
          <a:p>
            <a:r>
              <a:rPr lang="en-US" dirty="0" err="1"/>
              <a:t>Tạo</a:t>
            </a:r>
            <a:r>
              <a:rPr lang="en-US" dirty="0"/>
              <a:t> parameter </a:t>
            </a:r>
            <a:r>
              <a:rPr lang="en-US" dirty="0" err="1"/>
              <a:t>là</a:t>
            </a:r>
            <a:r>
              <a:rPr lang="en-US" dirty="0"/>
              <a:t> optional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: ”?”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19DBBE-EC19-4A1B-86F4-3E6A3DB42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439" y="2100874"/>
            <a:ext cx="7475577" cy="18716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F766A0-2ABD-C8DE-66E9-E3847E438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497" y="3903419"/>
            <a:ext cx="4657726" cy="7762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AD1BA6-91AF-41ED-9AAB-69918519D5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775" y="5261096"/>
            <a:ext cx="614362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Controller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và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Action Method Names in Attribute Routing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attribute routing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Controller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Action method </a:t>
            </a:r>
            <a:r>
              <a:rPr lang="en-US" dirty="0" err="1"/>
              <a:t>khi</a:t>
            </a:r>
            <a:r>
              <a:rPr lang="en-US" dirty="0"/>
              <a:t> run project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thiện</a:t>
            </a:r>
            <a:endParaRPr lang="en-US" dirty="0"/>
          </a:p>
          <a:p>
            <a:r>
              <a:rPr lang="en-US" dirty="0" err="1"/>
              <a:t>Vd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Home-</a:t>
            </a:r>
            <a:r>
              <a:rPr lang="en-US" dirty="0" err="1"/>
              <a:t>MyHome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StartPage</a:t>
            </a:r>
            <a:r>
              <a:rPr lang="en-US" dirty="0"/>
              <a:t>-&gt; </a:t>
            </a:r>
            <a:r>
              <a:rPr lang="en-US" dirty="0" err="1"/>
              <a:t>friendlyName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run project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url: </a:t>
            </a:r>
            <a:r>
              <a:rPr lang="en-US" dirty="0" err="1"/>
              <a:t>localhost:port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localhost:port</a:t>
            </a:r>
            <a:r>
              <a:rPr lang="en-US" dirty="0"/>
              <a:t>/</a:t>
            </a:r>
            <a:r>
              <a:rPr lang="en-US" dirty="0" err="1"/>
              <a:t>MyHome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>
                <a:hlinkClick r:id="rId2">
                  <a:extLst>
                    <a:ext uri="{A12FA001-AC4F-418D-AE19-62706E023703}">
                      <ahyp:hlinkClr xmlns:lc="http://schemas.openxmlformats.org/drawingml/2006/lockedCanvas"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dirty="0" err="1"/>
              <a:t>localhost:port</a:t>
            </a:r>
            <a:r>
              <a:rPr lang="en-US" dirty="0"/>
              <a:t>/</a:t>
            </a:r>
            <a:r>
              <a:rPr lang="en-US" dirty="0" err="1"/>
              <a:t>MyHome</a:t>
            </a:r>
            <a:r>
              <a:rPr lang="en-US" dirty="0"/>
              <a:t>/</a:t>
            </a:r>
            <a:r>
              <a:rPr lang="en-US" dirty="0" err="1"/>
              <a:t>friendlyName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156267-DECF-4DDD-B992-17E746A6E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3223973"/>
            <a:ext cx="66103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Attribute Routes at Controller Level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attribute routing </a:t>
            </a:r>
            <a:r>
              <a:rPr lang="en-US" dirty="0" err="1"/>
              <a:t>cho</a:t>
            </a:r>
            <a:r>
              <a:rPr lang="en-US" dirty="0"/>
              <a:t> controller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action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controller </a:t>
            </a:r>
            <a:r>
              <a:rPr lang="en-US" dirty="0" err="1"/>
              <a:t>tốt</a:t>
            </a:r>
            <a:r>
              <a:rPr lang="en-US" dirty="0"/>
              <a:t> h</a:t>
            </a:r>
            <a:r>
              <a:rPr lang="vi-VN" dirty="0"/>
              <a:t>ơ</a:t>
            </a:r>
            <a:r>
              <a:rPr lang="en-US" dirty="0"/>
              <a:t>n,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code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lắp</a:t>
            </a:r>
            <a:r>
              <a:rPr lang="en-US" dirty="0"/>
              <a:t> 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B64D7C-1132-45C0-90EC-72935468C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54" y="2746650"/>
            <a:ext cx="7524750" cy="3792262"/>
          </a:xfrm>
          <a:prstGeom prst="rect">
            <a:avLst/>
          </a:prstGeom>
        </p:spPr>
      </p:pic>
      <p:pic>
        <p:nvPicPr>
          <p:cNvPr id="9" name="Picture 2" descr="Attribute Routing in ASP.NET Core MVC">
            <a:extLst>
              <a:ext uri="{FF2B5EF4-FFF2-40B4-BE49-F238E27FC236}">
                <a16:creationId xmlns:a16="http://schemas.microsoft.com/office/drawing/2014/main" id="{D7393114-A81C-494B-BA9D-8771D7D37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090" y="3585506"/>
            <a:ext cx="16192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5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Route Constraint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Route Constraint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2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1"/>
            <a:r>
              <a:rPr lang="vi-VN" dirty="0"/>
              <a:t>đảm bảo chỉ những request khớp với ràng buộc mới được định tuyến đến action method tương ứng.</a:t>
            </a:r>
            <a:endParaRPr lang="en-US" dirty="0"/>
          </a:p>
          <a:p>
            <a:pPr lvl="1"/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controller action</a:t>
            </a:r>
          </a:p>
          <a:p>
            <a:pPr lvl="1"/>
            <a:r>
              <a:rPr lang="vi-VN" dirty="0"/>
              <a:t>sử dụng để hỗ trợ Route Engine phân biệt giữa 2 route tương tự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smtClean="0"/>
              <a:t>pattern</a:t>
            </a:r>
          </a:p>
          <a:p>
            <a:pPr lvl="1"/>
            <a:endParaRPr lang="en-US" dirty="0"/>
          </a:p>
          <a:p>
            <a:pPr lvl="0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Conventional routing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i="1" dirty="0">
                <a:solidFill>
                  <a:srgbClr val="161616"/>
                </a:solidFill>
                <a:highlight>
                  <a:srgbClr val="FFFFFF"/>
                </a:highlight>
              </a:rPr>
              <a:t>Attribute routing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7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Conventional route constraint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Constraint được thêm vào sau URL Parameter và được tách với dấu hai chấm</a:t>
            </a:r>
            <a:endParaRPr lang="en-US" dirty="0"/>
          </a:p>
          <a:p>
            <a:r>
              <a:rPr lang="en-US" dirty="0" err="1"/>
              <a:t>Vd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Id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action Index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routing: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</a:rPr>
              <a:t>-</a:t>
            </a:r>
            <a:r>
              <a:rPr lang="en-US" dirty="0" err="1">
                <a:solidFill>
                  <a:prstClr val="black"/>
                </a:solidFill>
              </a:rPr>
              <a:t>Kiểm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tra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với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/>
              <a:t>URL </a:t>
            </a:r>
            <a:r>
              <a:rPr lang="en-US" dirty="0" err="1"/>
              <a:t>là</a:t>
            </a:r>
            <a:r>
              <a:rPr lang="en-US" dirty="0"/>
              <a:t> "/Home/Index/10“ </a:t>
            </a:r>
            <a:r>
              <a:rPr lang="en-US" dirty="0" err="1"/>
              <a:t>và</a:t>
            </a:r>
            <a:r>
              <a:rPr lang="en-US" dirty="0"/>
              <a:t> /Home/Index/Test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F24F6C-B86A-453D-B5B7-59A7F4B0D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092" y="2639411"/>
            <a:ext cx="4141290" cy="17192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96FFCF-70FE-87FB-F7E7-D98C70D86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04" y="3847498"/>
            <a:ext cx="6518991" cy="102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9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Conventional route constraint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Conventional route constraint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D14831-FFC8-5502-06B9-8ADA42E99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9" y="2369548"/>
            <a:ext cx="4510087" cy="232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6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Constraints in Attribute Routing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routing </a:t>
            </a:r>
            <a:r>
              <a:rPr lang="en-US" dirty="0" err="1"/>
              <a:t>tại</a:t>
            </a:r>
            <a:r>
              <a:rPr lang="en-US" dirty="0"/>
              <a:t> action method</a:t>
            </a:r>
          </a:p>
          <a:p>
            <a:r>
              <a:rPr lang="vi-VN" dirty="0"/>
              <a:t>Tăng tính bảo mật: Ngăn chặn request chứa giá trị parameter không hợp lệ.</a:t>
            </a:r>
          </a:p>
          <a:p>
            <a:r>
              <a:rPr lang="vi-VN" dirty="0"/>
              <a:t>Cải thiện hiệu suất: Loại bỏ request không hợp lệ sớm trong pipeline.</a:t>
            </a:r>
          </a:p>
          <a:p>
            <a:r>
              <a:rPr lang="vi-VN" dirty="0"/>
              <a:t>Tăng khả năng đọc code: Ràng buộc route parameter được thể hiện rõ ràng ngay trong attribute [Route].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B6CF04-B82F-14CD-55CE-148AD1892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806" y="4359275"/>
            <a:ext cx="8863542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Route Constraint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Route Constraint </a:t>
            </a:r>
            <a:r>
              <a:rPr lang="vi-VN" dirty="0"/>
              <a:t>được sử dụng để hỗ trợ Route Engine phân biệt giữa 2 route tương tự</a:t>
            </a:r>
            <a:r>
              <a:rPr lang="en-US" dirty="0"/>
              <a:t> pattern.</a:t>
            </a:r>
          </a:p>
          <a:p>
            <a:r>
              <a:rPr lang="en-US" dirty="0" err="1"/>
              <a:t>vd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route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 "post/{</a:t>
            </a:r>
            <a:r>
              <a:rPr lang="en-US" dirty="0" err="1"/>
              <a:t>id:int</a:t>
            </a:r>
            <a:r>
              <a:rPr lang="en-US" dirty="0"/>
              <a:t>}" </a:t>
            </a:r>
            <a:r>
              <a:rPr lang="en-US" dirty="0" err="1"/>
              <a:t>và</a:t>
            </a:r>
            <a:r>
              <a:rPr lang="en-US" dirty="0"/>
              <a:t> "post/{</a:t>
            </a:r>
            <a:r>
              <a:rPr lang="en-US" dirty="0" err="1"/>
              <a:t>id:alpha</a:t>
            </a:r>
            <a:r>
              <a:rPr lang="en-US" dirty="0"/>
              <a:t>}“. Route Constraint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 </a:t>
            </a:r>
            <a:r>
              <a:rPr lang="en-US" dirty="0" err="1"/>
              <a:t>cho</a:t>
            </a:r>
            <a:r>
              <a:rPr lang="en-US" dirty="0"/>
              <a:t> Routing Engine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PostByID</a:t>
            </a:r>
            <a:r>
              <a:rPr lang="en-US" dirty="0"/>
              <a:t> </a:t>
            </a:r>
            <a:r>
              <a:rPr lang="en-US" dirty="0" err="1"/>
              <a:t>Ation</a:t>
            </a:r>
            <a:r>
              <a:rPr lang="en-US" dirty="0"/>
              <a:t> method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PostByPostName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id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.</a:t>
            </a:r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5F5C1B-D6D2-21FD-A457-EDDE47F0C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627" y="3657356"/>
            <a:ext cx="5190746" cy="247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7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27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8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2057401"/>
            <a:ext cx="10511204" cy="397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>
                <a:solidFill>
                  <a:srgbClr val="FFC000"/>
                </a:solidFill>
              </a:rPr>
              <a:t>Conventional </a:t>
            </a:r>
            <a:r>
              <a:rPr lang="en-US" sz="3200" dirty="0">
                <a:solidFill>
                  <a:srgbClr val="FFC000"/>
                </a:solidFill>
              </a:rPr>
              <a:t>Routing</a:t>
            </a:r>
            <a:br>
              <a:rPr lang="en-US" sz="3200" dirty="0">
                <a:solidFill>
                  <a:srgbClr val="FFC000"/>
                </a:solidFill>
              </a:rPr>
            </a:br>
            <a:r>
              <a:rPr lang="en-US" sz="3200" dirty="0">
                <a:solidFill>
                  <a:srgbClr val="FFC000"/>
                </a:solidFill>
              </a:rPr>
              <a:t>Attribute Routing</a:t>
            </a:r>
            <a:br>
              <a:rPr lang="en-US" sz="3200" dirty="0">
                <a:solidFill>
                  <a:srgbClr val="FFC000"/>
                </a:solidFill>
              </a:rPr>
            </a:br>
            <a:r>
              <a:rPr lang="en-US" sz="3200" dirty="0">
                <a:solidFill>
                  <a:srgbClr val="FFC000"/>
                </a:solidFill>
              </a:rPr>
              <a:t>Route Constraint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-1" y="6296202"/>
            <a:ext cx="11933241" cy="4891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L</a:t>
            </a:r>
            <a:r>
              <a:rPr lang="vi-VN" dirty="0" smtClean="0"/>
              <a:t>ập </a:t>
            </a:r>
            <a:r>
              <a:rPr lang="vi-VN" dirty="0"/>
              <a:t>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 flipH="1">
            <a:off x="888522" y="6155524"/>
            <a:ext cx="1283177" cy="51405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</a:t>
            </a:r>
            <a:r>
              <a:rPr lang="en-US" sz="6000" dirty="0" err="1" smtClean="0">
                <a:solidFill>
                  <a:schemeClr val="bg1"/>
                </a:solidFill>
              </a:rPr>
              <a:t>Tổng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kết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bài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học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0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1029</Words>
  <Application>Microsoft Office PowerPoint</Application>
  <PresentationFormat>Widescreen</PresentationFormat>
  <Paragraphs>205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Arial</vt:lpstr>
      <vt:lpstr>Calibri</vt:lpstr>
      <vt:lpstr>Calibri Light</vt:lpstr>
      <vt:lpstr>Courier New</vt:lpstr>
      <vt:lpstr>Roboto</vt:lpstr>
      <vt:lpstr>Roboto Lt</vt:lpstr>
      <vt:lpstr>Segoe UI</vt:lpstr>
      <vt:lpstr>Tw Cen MT</vt:lpstr>
      <vt:lpstr>Tw Cen MT Condensed</vt:lpstr>
      <vt:lpstr>Wingdings</vt:lpstr>
      <vt:lpstr>Wingdings 3</vt:lpstr>
      <vt:lpstr>Office Theme</vt:lpstr>
      <vt:lpstr>ModernClassicBlock-3</vt:lpstr>
      <vt:lpstr>Custom Design</vt:lpstr>
      <vt:lpstr>Lập Trình C#3</vt:lpstr>
      <vt:lpstr>Mục tiêu</vt:lpstr>
      <vt:lpstr>MVC URL Routing</vt:lpstr>
      <vt:lpstr>Routing in ASP.NET Core MVC</vt:lpstr>
      <vt:lpstr>Routing in ASP.NET Core MVC</vt:lpstr>
      <vt:lpstr>Routing in ASP.NET Core MVC</vt:lpstr>
      <vt:lpstr>Routing in ASP.NET Core MVC</vt:lpstr>
      <vt:lpstr>Conventional Routing in ASP.NET Core MVC</vt:lpstr>
      <vt:lpstr>Conventional Routing in ASP.NET Core MVC</vt:lpstr>
      <vt:lpstr>Conventional Routing in ASP.NET Core MVC</vt:lpstr>
      <vt:lpstr>Conventional Routing in ASP.NET Core MVC</vt:lpstr>
      <vt:lpstr>Ví dụ Default Route</vt:lpstr>
      <vt:lpstr>Ví dụ Default Route</vt:lpstr>
      <vt:lpstr>Ví dụ Route</vt:lpstr>
      <vt:lpstr>Hãy thực hiện các ví dụ</vt:lpstr>
      <vt:lpstr>Attribute-Based Routing</vt:lpstr>
      <vt:lpstr>Attribute-Based Routing</vt:lpstr>
      <vt:lpstr>Attribute-Based Routing</vt:lpstr>
      <vt:lpstr>Attribute Routing with Parameters</vt:lpstr>
      <vt:lpstr>Controller và Action Method Names in Attribute Routing</vt:lpstr>
      <vt:lpstr>Attribute Routes at Controller Level</vt:lpstr>
      <vt:lpstr>Route Constraint</vt:lpstr>
      <vt:lpstr>Conventional route constraint</vt:lpstr>
      <vt:lpstr>Conventional route constraint</vt:lpstr>
      <vt:lpstr>Constraints in Attribute Routing</vt:lpstr>
      <vt:lpstr>Route Constraint</vt:lpstr>
      <vt:lpstr>Hãy thực hiện các ví dụ</vt:lpstr>
      <vt:lpstr> Conventional Routing Attribute Routing Route Constraint 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C#3</dc:title>
  <dc:creator>Nguy Nguyen Uy Vu</dc:creator>
  <cp:lastModifiedBy>Nguy Nguyen Uy Vu</cp:lastModifiedBy>
  <cp:revision>49</cp:revision>
  <dcterms:created xsi:type="dcterms:W3CDTF">2024-12-10T15:23:11Z</dcterms:created>
  <dcterms:modified xsi:type="dcterms:W3CDTF">2024-12-31T13:28:58Z</dcterms:modified>
</cp:coreProperties>
</file>