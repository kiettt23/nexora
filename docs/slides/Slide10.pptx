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8"/>
  </p:notesMasterIdLst>
  <p:sldIdLst>
    <p:sldId id="257" r:id="rId4"/>
    <p:sldId id="258" r:id="rId5"/>
    <p:sldId id="259" r:id="rId6"/>
    <p:sldId id="476" r:id="rId7"/>
    <p:sldId id="477" r:id="rId8"/>
    <p:sldId id="478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  <p:sldId id="332" r:id="rId23"/>
    <p:sldId id="369" r:id="rId24"/>
    <p:sldId id="492" r:id="rId25"/>
    <p:sldId id="493" r:id="rId26"/>
    <p:sldId id="494" r:id="rId27"/>
    <p:sldId id="495" r:id="rId28"/>
    <p:sldId id="357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earn.microsoft.com/en-us/dotnet/api/microsoft.aspnetcore.mvc.modelbinding.modelstatedictionary?view=aspnetcore-8.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 smtClean="0">
                <a:solidFill>
                  <a:srgbClr val="FFC000"/>
                </a:solidFill>
              </a:rPr>
              <a:t>10: </a:t>
            </a:r>
            <a:r>
              <a:rPr lang="vi-VN" sz="3600" dirty="0">
                <a:solidFill>
                  <a:srgbClr val="FFC000"/>
                </a:solidFill>
              </a:rPr>
              <a:t>Data Validation - Dependency Injection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/>
              <a:t>Data Validation 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Model Validation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Validation Tag Helpers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Dependency Injection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Data Validation 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Xác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thực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dữ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liệu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là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quá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trình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đảm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bảo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ứng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dụng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hoạt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động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trên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dữ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liệu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sạch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,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chính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xác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và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hữu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</a:rPr>
              <a:t>ích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11EFE7-27DF-C189-BF8F-D7FBB12B9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152" y="2073788"/>
            <a:ext cx="8319756" cy="43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Data Validation 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P</a:t>
            </a:r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hương pháp kiểm tra tính hợp lệ và giúp người dùng nhập dữ liệu chuẩn theo yêu cầu của hệ thống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Định hướng hỗ trợ người dùng hoàn thiện điền thông tin gửi server</a:t>
            </a:r>
          </a:p>
          <a:p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Giảm nguy cơ xâm nhập các mã độc nhằm mục đích phá hoại hệ thống</a:t>
            </a:r>
          </a:p>
          <a:p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2 phương pháp Validation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thông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dụng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: client-side validation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và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server-side validation</a:t>
            </a:r>
          </a:p>
          <a:p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Trong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asp.net core,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có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thể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validation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các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nguồn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 HTML Form, Route, Query String, Request Body, Services, …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6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Data Validation 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84C1A-B926-4C9A-A978-48D4EF606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70" y="1658031"/>
            <a:ext cx="8701652" cy="427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4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Client-side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Nhằm hợp lệ dữ liệu trước khi được submit lên server</a:t>
            </a:r>
            <a:endParaRPr lang="en-US" dirty="0">
              <a:solidFill>
                <a:srgbClr val="333333"/>
              </a:solidFill>
              <a:latin typeface="Roboto" panose="02000000000000000000"/>
            </a:endParaRPr>
          </a:p>
          <a:p>
            <a:r>
              <a:rPr lang="vi-VN" dirty="0">
                <a:solidFill>
                  <a:srgbClr val="333333"/>
                </a:solidFill>
                <a:latin typeface="Roboto" panose="02000000000000000000" pitchFamily="2" charset="0"/>
              </a:rPr>
              <a:t>Vì việc kiểm tra tiến hành phía trình duyệt client nên phản hồi nhanh hơn và gần như là ngay lập tức</a:t>
            </a:r>
            <a:endParaRPr lang="en-US" dirty="0">
              <a:solidFill>
                <a:srgbClr val="333333"/>
              </a:solidFill>
              <a:latin typeface="Roboto" panose="02000000000000000000"/>
            </a:endParaRPr>
          </a:p>
          <a:p>
            <a:r>
              <a:rPr lang="vi-VN" dirty="0">
                <a:solidFill>
                  <a:srgbClr val="1B1B1B"/>
                </a:solidFill>
                <a:latin typeface="Open Sans" panose="020B0606030504020204" pitchFamily="34" charset="0"/>
              </a:rPr>
              <a:t>Làm giảm lỗi trước khi dữ liệu được gửi lên server-side</a:t>
            </a:r>
            <a:endParaRPr lang="en-US" dirty="0">
              <a:solidFill>
                <a:srgbClr val="333333"/>
              </a:solidFill>
              <a:latin typeface="Roboto" panose="02000000000000000000"/>
            </a:endParaRPr>
          </a:p>
          <a:p>
            <a:r>
              <a:rPr lang="en-US" dirty="0" err="1">
                <a:solidFill>
                  <a:srgbClr val="333333"/>
                </a:solidFill>
                <a:latin typeface="Roboto" panose="02000000000000000000"/>
              </a:rPr>
              <a:t>Giúp</a:t>
            </a:r>
            <a:r>
              <a:rPr lang="en-US" dirty="0">
                <a:solidFill>
                  <a:srgbClr val="333333"/>
                </a:solidFill>
                <a:latin typeface="Roboto" panose="0200000000000000000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/>
              </a:rPr>
              <a:t>tăng</a:t>
            </a:r>
            <a:r>
              <a:rPr lang="en-US" dirty="0">
                <a:solidFill>
                  <a:srgbClr val="333333"/>
                </a:solidFill>
                <a:latin typeface="Roboto" panose="0200000000000000000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/>
              </a:rPr>
              <a:t>sự</a:t>
            </a:r>
            <a:r>
              <a:rPr lang="en-US" dirty="0">
                <a:solidFill>
                  <a:srgbClr val="333333"/>
                </a:solidFill>
                <a:latin typeface="Roboto" panose="0200000000000000000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/>
              </a:rPr>
              <a:t>trải</a:t>
            </a:r>
            <a:r>
              <a:rPr lang="en-US" dirty="0">
                <a:solidFill>
                  <a:srgbClr val="333333"/>
                </a:solidFill>
                <a:latin typeface="Roboto" panose="0200000000000000000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Roboto" panose="02000000000000000000"/>
              </a:rPr>
              <a:t>nghiệm</a:t>
            </a:r>
            <a:endParaRPr lang="en-US" dirty="0">
              <a:solidFill>
                <a:srgbClr val="333333"/>
              </a:solidFill>
              <a:latin typeface="Roboto" panose="02000000000000000000"/>
            </a:endParaRPr>
          </a:p>
          <a:p>
            <a:pPr marL="0" indent="0">
              <a:buNone/>
            </a:pPr>
            <a:endParaRPr lang="en-US" dirty="0">
              <a:latin typeface="Roboto" panose="02000000000000000000"/>
            </a:endParaRPr>
          </a:p>
          <a:p>
            <a:pPr marL="0" indent="0">
              <a:buNone/>
            </a:pPr>
            <a:endParaRPr lang="en-US" dirty="0">
              <a:latin typeface="Roboto" panose="0200000000000000000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D109953-878B-4EFA-94E2-528E96D7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653200"/>
            <a:ext cx="295996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84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Server-side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Client-side validation cung cấp trải nghiệm người dùng tốt hơn nhưng không tin cậy. Nó có thể lỗi do một trong các lý do sau:</a:t>
            </a:r>
            <a:endParaRPr lang="en-US" dirty="0"/>
          </a:p>
          <a:p>
            <a:pPr lvl="1"/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ở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endParaRPr lang="en-US" dirty="0"/>
          </a:p>
          <a:p>
            <a:pPr lvl="1"/>
            <a:r>
              <a:rPr lang="vi-VN" dirty="0"/>
              <a:t>Người dùng có thể gửi trực tiếp dữ liệu đến người dùng mà không sử dụng ứng dụng hoặc sử dụng một số các trình chỉnh sửa request có hại.</a:t>
            </a:r>
            <a:endParaRPr lang="en-US" dirty="0"/>
          </a:p>
          <a:p>
            <a:pPr lvl="1"/>
            <a:r>
              <a:rPr lang="vi-VN" dirty="0"/>
              <a:t>Khi Javascript có lỗi thì kết quả là dữ liệu được đưa vào hệ thống mà có thể không hợp lệ</a:t>
            </a:r>
            <a:endParaRPr lang="en-US" dirty="0"/>
          </a:p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G</a:t>
            </a:r>
            <a:r>
              <a:rPr lang="vi-VN" dirty="0">
                <a:solidFill>
                  <a:srgbClr val="202124"/>
                </a:solidFill>
                <a:latin typeface="arial" panose="020B0604020202020204" pitchFamily="34" charset="0"/>
              </a:rPr>
              <a:t>iúp hệ thống ngăn chặn được các mối nguy hại và lỗ hổng bảo mật khi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bị</a:t>
            </a:r>
            <a:r>
              <a:rPr lang="vi-VN" dirty="0">
                <a:solidFill>
                  <a:srgbClr val="202124"/>
                </a:solidFill>
                <a:latin typeface="arial" panose="020B0604020202020204" pitchFamily="34" charset="0"/>
              </a:rPr>
              <a:t> tấn công vào server</a:t>
            </a:r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Sử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dụng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công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nghệ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ngôn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ngữ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lập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trình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4"/>
                </a:solidFill>
                <a:latin typeface="arial" panose="020B0604020202020204" pitchFamily="34" charset="0"/>
              </a:rPr>
              <a:t>phía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 server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0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Form Validation </a:t>
            </a:r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trong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 ASP.NET Core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Validations </a:t>
            </a:r>
            <a:r>
              <a:rPr lang="en-US" dirty="0" err="1"/>
              <a:t>trong</a:t>
            </a:r>
            <a:r>
              <a:rPr lang="en-US" dirty="0"/>
              <a:t> ASP.NET Core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Route Constraints, </a:t>
            </a:r>
            <a:r>
              <a:rPr lang="en-US" dirty="0" err="1"/>
              <a:t>ModelState</a:t>
            </a:r>
            <a:r>
              <a:rPr lang="en-US" dirty="0"/>
              <a:t>, </a:t>
            </a:r>
            <a:r>
              <a:rPr lang="en-US" dirty="0">
                <a:solidFill>
                  <a:srgbClr val="1A1A1A"/>
                </a:solidFill>
                <a:latin typeface="Poppins"/>
              </a:rPr>
              <a:t>Attributes, Tag Helpers,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jQuery Unobtrusive Validation</a:t>
            </a:r>
            <a:endParaRPr lang="en-US" dirty="0">
              <a:solidFill>
                <a:srgbClr val="1A1A1A"/>
              </a:solidFill>
              <a:latin typeface="Poppins"/>
            </a:endParaRPr>
          </a:p>
          <a:p>
            <a:r>
              <a:rPr lang="en-US" dirty="0"/>
              <a:t>Validation Attributes (Model Validation):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Properties </a:t>
            </a:r>
            <a:r>
              <a:rPr lang="en-US" dirty="0" err="1"/>
              <a:t>trong</a:t>
            </a:r>
            <a:r>
              <a:rPr lang="en-US" dirty="0"/>
              <a:t> Model classes,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r>
              <a:rPr lang="en-US" dirty="0"/>
              <a:t>Validation Tag Helpers: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view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client</a:t>
            </a:r>
          </a:p>
          <a:p>
            <a:r>
              <a:rPr lang="en-US" dirty="0"/>
              <a:t>jQuery Unobtrusive Validation: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asp.net core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client validation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7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Model 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ASP.NET Core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 </a:t>
            </a:r>
            <a:r>
              <a:rPr lang="en-US" dirty="0" err="1"/>
              <a:t>thông</a:t>
            </a:r>
            <a:r>
              <a:rPr lang="en-US" dirty="0"/>
              <a:t> qua Model Validator,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attribute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model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AEACC2F-B3AD-427E-8CF8-0F3A74983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7" y="2054225"/>
            <a:ext cx="62198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1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Validation Attributes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Validation Attributes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properties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domain class </a:t>
            </a:r>
            <a:r>
              <a:rPr lang="en-US" dirty="0" err="1"/>
              <a:t>và</a:t>
            </a:r>
            <a:r>
              <a:rPr lang="en-US" dirty="0"/>
              <a:t> map </a:t>
            </a:r>
            <a:r>
              <a:rPr lang="en-US" dirty="0" err="1"/>
              <a:t>với</a:t>
            </a:r>
            <a:r>
              <a:rPr lang="en-US" dirty="0"/>
              <a:t> asp-for Tag Helper </a:t>
            </a:r>
            <a:endParaRPr lang="en-US" dirty="0">
              <a:solidFill>
                <a:srgbClr val="666666"/>
              </a:solidFill>
              <a:latin typeface="Roboto" panose="020000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2BCE3-4A0D-4AAE-BB39-640D5C47C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04" y="1677875"/>
            <a:ext cx="909099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Validation </a:t>
            </a:r>
          </a:p>
          <a:p>
            <a:pPr marL="0" indent="0">
              <a:buNone/>
            </a:pPr>
            <a:r>
              <a:rPr lang="en-US" dirty="0"/>
              <a:t>Attributes </a:t>
            </a:r>
            <a:r>
              <a:rPr lang="en-US" dirty="0" err="1"/>
              <a:t>cho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Poppins"/>
              </a:rPr>
              <a:t>Engineers </a:t>
            </a:r>
            <a:r>
              <a:rPr lang="en-US" dirty="0">
                <a:solidFill>
                  <a:srgbClr val="1A1A1A"/>
                </a:solidFill>
                <a:latin typeface="Poppins"/>
              </a:rPr>
              <a:t>class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B92FE8-4CA6-4D7D-B340-C7EB083DB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172" y="904461"/>
            <a:ext cx="5880652" cy="595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3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ModelState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Binder </a:t>
            </a:r>
            <a:r>
              <a:rPr lang="en-US" dirty="0" err="1"/>
              <a:t>sẽ</a:t>
            </a:r>
            <a:r>
              <a:rPr lang="en-US" dirty="0"/>
              <a:t> bind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HTTP Request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vi-VN" dirty="0">
                <a:sym typeface="Wingdings" panose="05000000000000000000" pitchFamily="2" charset="2"/>
              </a:rPr>
              <a:t>tạo một đối tượng ModelState chứa các danh sách thông báo lỗi được tạo ra bởi Model Binder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vi-VN" dirty="0">
                <a:sym typeface="Wingdings" panose="05000000000000000000" pitchFamily="2" charset="2"/>
              </a:rPr>
              <a:t>đặt thuộc tính IsValid là false trước khi gọi action method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trong</a:t>
            </a:r>
            <a:r>
              <a:rPr lang="en-US" dirty="0">
                <a:sym typeface="Wingdings" panose="05000000000000000000" pitchFamily="2" charset="2"/>
              </a:rPr>
              <a:t> controller</a:t>
            </a:r>
          </a:p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ModelState.IsValid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action method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13AA8F-CE00-4311-BADD-2BCEFFB5B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53" y="4580698"/>
            <a:ext cx="8224791" cy="174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0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FF0000"/>
                </a:solidFill>
                <a:latin typeface="+mn-lt"/>
              </a:rPr>
              <a:t>ModelState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ModelState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Properties </a:t>
            </a:r>
            <a:r>
              <a:rPr lang="en-US" dirty="0" err="1"/>
              <a:t>và</a:t>
            </a:r>
            <a:r>
              <a:rPr lang="en-US" dirty="0"/>
              <a:t> Method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: </a:t>
            </a:r>
            <a:r>
              <a:rPr lang="en-US" dirty="0" err="1">
                <a:hlinkClick r:id="rId2"/>
              </a:rPr>
              <a:t>ModelStateDictionary</a:t>
            </a:r>
            <a:r>
              <a:rPr lang="en-US" dirty="0">
                <a:hlinkClick r:id="rId2"/>
              </a:rPr>
              <a:t> Class (</a:t>
            </a:r>
            <a:r>
              <a:rPr lang="en-US" dirty="0" err="1">
                <a:hlinkClick r:id="rId2"/>
              </a:rPr>
              <a:t>Microsoft.AspNetCore.Mvc.ModelBinding</a:t>
            </a:r>
            <a:r>
              <a:rPr lang="en-US" dirty="0">
                <a:hlinkClick r:id="rId2"/>
              </a:rPr>
              <a:t>) | Microsoft Learn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ModelState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controller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4" descr="Form Validation in ASP.NET Core, Validation in ASP.NET Core, Validation ASP.NET Core, asp.net core validation">
            <a:extLst>
              <a:ext uri="{FF2B5EF4-FFF2-40B4-BE49-F238E27FC236}">
                <a16:creationId xmlns:a16="http://schemas.microsoft.com/office/drawing/2014/main" id="{ADA8F6F8-C66A-4E1E-BD79-F60328120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18351"/>
            <a:ext cx="8229600" cy="321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22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 Tag Helpers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Validation Message Tag Helper: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&lt;span&gt; tag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asp-validation-for Tag Helper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r>
              <a:rPr lang="en-US" dirty="0"/>
              <a:t>Validation Summary Tag Helper: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&lt;div&gt;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asp-validation-summary Tag Helper (</a:t>
            </a:r>
            <a:r>
              <a:rPr lang="en-US" dirty="0">
                <a:solidFill>
                  <a:srgbClr val="222222"/>
                </a:solidFill>
                <a:latin typeface="Verdana" panose="020B0604030504040204" pitchFamily="34" charset="0"/>
              </a:rPr>
              <a:t>All, </a:t>
            </a:r>
            <a:r>
              <a:rPr lang="en-US" dirty="0" err="1">
                <a:solidFill>
                  <a:srgbClr val="222222"/>
                </a:solidFill>
                <a:latin typeface="Verdana" panose="020B0604030504040204" pitchFamily="34" charset="0"/>
              </a:rPr>
              <a:t>ModelOnly</a:t>
            </a:r>
            <a:r>
              <a:rPr lang="en-US" dirty="0">
                <a:solidFill>
                  <a:srgbClr val="222222"/>
                </a:solidFill>
                <a:latin typeface="Verdana" panose="020B0604030504040204" pitchFamily="34" charset="0"/>
              </a:rPr>
              <a:t>, None</a:t>
            </a:r>
            <a:r>
              <a:rPr lang="en-US" dirty="0"/>
              <a:t>)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959BF7-D329-4426-8AE5-386129E07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024" y="3140075"/>
            <a:ext cx="6272893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0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 Tag Helpers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Validation errors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8459CC-3150-47E7-9450-3FED10475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146" y="870405"/>
            <a:ext cx="4440099" cy="56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9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Data Validation 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FF145-50C0-491D-83A4-D1E6432A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48" y="1769773"/>
            <a:ext cx="7951304" cy="466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6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Unobtrusive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client-side 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Asp.net core</a:t>
            </a:r>
          </a:p>
          <a:p>
            <a:r>
              <a:rPr lang="vi-VN" dirty="0"/>
              <a:t>Thư viện unobtrusive client-side cũng sử dụng các Validation Attributes để kiểm tra các thuộc tính trên phía client</a:t>
            </a:r>
            <a:endParaRPr lang="en-US" dirty="0"/>
          </a:p>
          <a:p>
            <a:r>
              <a:rPr lang="vi-VN" dirty="0"/>
              <a:t>Unobtrusive validation sử dụng jquery.validate.unobtrusive.js. Thư viện này được xây dựng dựa trên jquery.validate.js, cần import tất cả vào view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3D6161-D0D8-4009-A38B-12E7F77F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81" y="4472574"/>
            <a:ext cx="9090991" cy="169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0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Unobtrusive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client-side 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Thêm</a:t>
            </a:r>
            <a:r>
              <a:rPr lang="en-US" dirty="0"/>
              <a:t> Validation Attribute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model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 err="1"/>
              <a:t>Tạo</a:t>
            </a:r>
            <a:r>
              <a:rPr lang="en-US" dirty="0"/>
              <a:t> controller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2F75C5-9581-4EA6-8510-FADCA9262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1746738"/>
            <a:ext cx="9115865" cy="121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272AA-27D9-4694-A189-C98C2E432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034" y="3644157"/>
            <a:ext cx="7158751" cy="288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0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Unobtrusive </a:t>
            </a:r>
            <a:r>
              <a:rPr lang="en-US" sz="4800" b="1" dirty="0">
                <a:solidFill>
                  <a:srgbClr val="FF0000"/>
                </a:solidFill>
                <a:latin typeface="+mn-lt"/>
              </a:rPr>
              <a:t>client-side validation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Thêm</a:t>
            </a:r>
            <a:r>
              <a:rPr lang="en-US" dirty="0"/>
              <a:t> view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38EF6E-350F-4939-9720-CC022F021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251" y="2128559"/>
            <a:ext cx="7789497" cy="378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6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Dependency Injection là 1 kỹ thuật, 1 design pattern cho phép xóa bỏ sự phụ thuộc hard-code và làm cho ứng dụng dễ mở rộng và maintain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modules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 </a:t>
            </a:r>
            <a:r>
              <a:rPr lang="en-US" dirty="0" err="1"/>
              <a:t>Cả</a:t>
            </a:r>
            <a:r>
              <a:rPr lang="en-US" dirty="0"/>
              <a:t> 2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abstraction (interface)</a:t>
            </a:r>
          </a:p>
          <a:p>
            <a:r>
              <a:rPr lang="vi-VN" dirty="0"/>
              <a:t>Interface (abstraction) không nên phụ thuộc vào chi tiết, mà ngược lại. ( Các class giao tiếp với nhau thông qua interface, không phải thông qua implementation)</a:t>
            </a:r>
            <a:endParaRPr lang="en-US" dirty="0"/>
          </a:p>
          <a:p>
            <a:r>
              <a:rPr lang="vi-VN" dirty="0"/>
              <a:t>DI được dùng để làm giảm sự phụ thuộc giữa các module, dễ dàng hơn trong việc thay đổi module, bảo trì code và testing</a:t>
            </a:r>
            <a:endParaRPr lang="en-US" dirty="0"/>
          </a:p>
          <a:p>
            <a:r>
              <a:rPr lang="vi-VN" dirty="0"/>
              <a:t>Việc Module nào gắn với interface nào sẽ được config trong </a:t>
            </a:r>
            <a:r>
              <a:rPr lang="en-US" dirty="0"/>
              <a:t>file </a:t>
            </a:r>
            <a:r>
              <a:rPr lang="en-US" dirty="0" err="1"/>
              <a:t>Program.cs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8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B5416-83C1-4E4E-8CF2-D0CDF71F6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914400"/>
            <a:ext cx="9117496" cy="54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5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Dependency Injection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F7C76-0072-4314-B205-1C2015250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586" y="1746738"/>
            <a:ext cx="4484229" cy="1347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812A8-6654-41C6-8871-B107D92FD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22" y="3155674"/>
            <a:ext cx="5057775" cy="3695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F74C59B-15C9-4EF6-A146-6D6AED207B5D}"/>
              </a:ext>
            </a:extLst>
          </p:cNvPr>
          <p:cNvSpPr/>
          <p:nvPr/>
        </p:nvSpPr>
        <p:spPr>
          <a:xfrm>
            <a:off x="1517374" y="3898624"/>
            <a:ext cx="3354045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Tạo Interface và class implement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628900" y="3094526"/>
            <a:ext cx="0" cy="2048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628900" y="5143500"/>
            <a:ext cx="2883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62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ASP.NET Core Dependency Injection </a:t>
            </a:r>
            <a:r>
              <a:rPr lang="en-US" dirty="0" err="1"/>
              <a:t>dùng</a:t>
            </a:r>
            <a:r>
              <a:rPr lang="en-US" dirty="0"/>
              <a:t> DI Container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ProductService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controller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interface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contructor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82D898-52BC-4EB2-A376-A876BE5F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070" y="2699993"/>
            <a:ext cx="642833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service </a:t>
            </a:r>
            <a:r>
              <a:rPr lang="en-US" dirty="0" err="1"/>
              <a:t>với</a:t>
            </a:r>
            <a:r>
              <a:rPr lang="en-US" dirty="0"/>
              <a:t> Dependency Injection container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AddTransient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View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9776B-D646-F068-BC2D-F500B4956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434" y="2190140"/>
            <a:ext cx="6328472" cy="1678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97F445-51D2-4C1F-980C-D873C9F23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95" y="4424363"/>
            <a:ext cx="6319103" cy="174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9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Trong ASP .NET Core thì việc hiểu rõ việc khởi tạo các services sử dụng DI (Dependency Injection) container là vô cùng quan trọng.</a:t>
            </a:r>
            <a:endParaRPr lang="en-US" dirty="0"/>
          </a:p>
          <a:p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service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DI container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ASP .NET Core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3 </a:t>
            </a:r>
            <a:r>
              <a:rPr lang="en-US" dirty="0" err="1"/>
              <a:t>cách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1241FCD-7421-4419-9594-D6765645F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696" y="3692525"/>
            <a:ext cx="3810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04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/>
              <a:t>Transient: Instance được khởi tạo mỗi lần tạo service</a:t>
            </a:r>
            <a:endParaRPr lang="en-US" sz="2400" dirty="0"/>
          </a:p>
          <a:p>
            <a:r>
              <a:rPr lang="vi-VN" sz="2400" dirty="0"/>
              <a:t>Scoped: Instance được khởi tạo mỗi scope. ( Scope ở đây chính là mỗi request gửi đến ứng dụng). Trong cùng một scope thì service sẽ được tái sử dụng.</a:t>
            </a:r>
            <a:endParaRPr lang="en-US" sz="2400" dirty="0"/>
          </a:p>
          <a:p>
            <a:r>
              <a:rPr lang="vi-VN" sz="2400" dirty="0"/>
              <a:t>Singleton: Instance của service được tạo duy nhất lúc khởi chạy ứng dụng và được dùng ở mọi nơi.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 descr="Kết quả hình ảnh cho Dependency Injection Lifetime in ASP .NET Core : Transient, Singleton &amp; Scoped">
            <a:extLst>
              <a:ext uri="{FF2B5EF4-FFF2-40B4-BE49-F238E27FC236}">
                <a16:creationId xmlns:a16="http://schemas.microsoft.com/office/drawing/2014/main" id="{52C02B01-84D9-411E-91EA-BE262FC4D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06" y="3004038"/>
            <a:ext cx="58388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36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400" dirty="0">
                <a:solidFill>
                  <a:srgbClr val="000000"/>
                </a:solidFill>
                <a:latin typeface="-apple-system"/>
              </a:rPr>
              <a:t>Dependency Injection Lifetime</a:t>
            </a:r>
            <a:endParaRPr lang="en-US" sz="2400" dirty="0">
              <a:solidFill>
                <a:srgbClr val="000000"/>
              </a:solidFill>
              <a:latin typeface="-apple-system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642554-8F87-4F53-AEA9-E022E5078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04" y="1981200"/>
            <a:ext cx="4012096" cy="388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398514-5516-4546-A60F-63240137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927" y="2805112"/>
            <a:ext cx="4191000" cy="3733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04AACF-4B84-4D16-B0DD-842AB56D55B4}"/>
              </a:ext>
            </a:extLst>
          </p:cNvPr>
          <p:cNvSpPr/>
          <p:nvPr/>
        </p:nvSpPr>
        <p:spPr>
          <a:xfrm>
            <a:off x="6503444" y="1790700"/>
            <a:ext cx="3935896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Tạo Interface và class implement</a:t>
            </a:r>
          </a:p>
        </p:txBody>
      </p:sp>
    </p:spTree>
    <p:extLst>
      <p:ext uri="{BB962C8B-B14F-4D97-AF65-F5344CB8AC3E}">
        <p14:creationId xmlns:p14="http://schemas.microsoft.com/office/powerpoint/2010/main" val="27160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Inject </a:t>
            </a:r>
            <a:r>
              <a:rPr lang="en-US" sz="2400" dirty="0" err="1"/>
              <a:t>các</a:t>
            </a:r>
            <a:r>
              <a:rPr lang="en-US" sz="2400" dirty="0"/>
              <a:t> service </a:t>
            </a:r>
            <a:r>
              <a:rPr lang="en-US" sz="2400" dirty="0" err="1"/>
              <a:t>vào</a:t>
            </a:r>
            <a:r>
              <a:rPr lang="en-US" sz="2400" dirty="0"/>
              <a:t> controller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AFD901-9805-4869-98BC-1B49489CD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50" y="1914525"/>
            <a:ext cx="5181600" cy="4257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AAB0C4-A456-4996-AB4A-AE43205C6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3273669"/>
            <a:ext cx="38862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Tạo</a:t>
            </a:r>
            <a:r>
              <a:rPr lang="en-US" sz="2400" dirty="0"/>
              <a:t> view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8D29E-60D0-4138-AD27-5ACC89BE1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63" y="2100874"/>
            <a:ext cx="2814637" cy="3443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39CC42-6BF8-4EBC-873C-99C453512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289" y="2030547"/>
            <a:ext cx="60102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9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Dependency Injection Lifetime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,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inject Scoped &amp; Transient service </a:t>
            </a:r>
            <a:r>
              <a:rPr lang="en-US" dirty="0" err="1"/>
              <a:t>vào</a:t>
            </a:r>
            <a:r>
              <a:rPr lang="en-US" dirty="0"/>
              <a:t> Singleton service</a:t>
            </a:r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inject Transient Service </a:t>
            </a:r>
            <a:r>
              <a:rPr lang="en-US" dirty="0" err="1"/>
              <a:t>vào</a:t>
            </a:r>
            <a:r>
              <a:rPr lang="en-US" dirty="0"/>
              <a:t> Scope Service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7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33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9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Validation </a:t>
            </a:r>
            <a:b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Validation</a:t>
            </a:r>
            <a:b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 err="1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Validation</a:t>
            </a: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Tag Helpers</a:t>
            </a:r>
            <a:b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Dependency Injection</a:t>
            </a:r>
            <a:endParaRPr lang="en-US" sz="3200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1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1238</Words>
  <Application>Microsoft Office PowerPoint</Application>
  <PresentationFormat>Widescreen</PresentationFormat>
  <Paragraphs>203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54" baseType="lpstr">
      <vt:lpstr>-apple-system</vt:lpstr>
      <vt:lpstr>Arial</vt:lpstr>
      <vt:lpstr>Arial</vt:lpstr>
      <vt:lpstr>Calibri</vt:lpstr>
      <vt:lpstr>Calibri Light</vt:lpstr>
      <vt:lpstr>Cambria</vt:lpstr>
      <vt:lpstr>Courier New</vt:lpstr>
      <vt:lpstr>Open Sans</vt:lpstr>
      <vt:lpstr>Poppins</vt:lpstr>
      <vt:lpstr>Roboto</vt:lpstr>
      <vt:lpstr>Roboto Lt</vt:lpstr>
      <vt:lpstr>Segoe UI</vt:lpstr>
      <vt:lpstr>Tw Cen MT</vt:lpstr>
      <vt:lpstr>Tw Cen MT Condensed</vt:lpstr>
      <vt:lpstr>Verdana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Data Validation </vt:lpstr>
      <vt:lpstr>Data Validation </vt:lpstr>
      <vt:lpstr>Data Validation </vt:lpstr>
      <vt:lpstr>Client-side validation</vt:lpstr>
      <vt:lpstr>Server-side validation</vt:lpstr>
      <vt:lpstr>Form Validation trong ASP.NET Core</vt:lpstr>
      <vt:lpstr>Model Validation</vt:lpstr>
      <vt:lpstr>Validation Attributes</vt:lpstr>
      <vt:lpstr>Validation Attributes</vt:lpstr>
      <vt:lpstr>ModelState</vt:lpstr>
      <vt:lpstr>ModelState</vt:lpstr>
      <vt:lpstr>Validation Tag Helpers</vt:lpstr>
      <vt:lpstr>Validation Tag Helpers</vt:lpstr>
      <vt:lpstr>Data Validation </vt:lpstr>
      <vt:lpstr>Unobtrusive client-side validation</vt:lpstr>
      <vt:lpstr>Unobtrusive client-side validation</vt:lpstr>
      <vt:lpstr>Unobtrusive client-side validation</vt:lpstr>
      <vt:lpstr>Hãy thực hiện các ví dụ</vt:lpstr>
      <vt:lpstr>Dependency Injection</vt:lpstr>
      <vt:lpstr>Dependency Injection</vt:lpstr>
      <vt:lpstr>Dependency Injection</vt:lpstr>
      <vt:lpstr>Dependency Injection</vt:lpstr>
      <vt:lpstr>Dependency Injection</vt:lpstr>
      <vt:lpstr>Hãy thực hiện các ví dụ</vt:lpstr>
      <vt:lpstr>Dependency Injection Lifetime</vt:lpstr>
      <vt:lpstr>Dependency Injection Lifetime</vt:lpstr>
      <vt:lpstr>Dependency Injection Lifetime</vt:lpstr>
      <vt:lpstr>Dependency Injection Lifetime</vt:lpstr>
      <vt:lpstr>Dependency Injection Lifetime</vt:lpstr>
      <vt:lpstr>Dependency Injection Lifetime</vt:lpstr>
      <vt:lpstr>Hãy thực hiện các ví dụ</vt:lpstr>
      <vt:lpstr>Data Validation  Model Validation Validation Tag Helpers Dependency Injection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80</cp:revision>
  <dcterms:created xsi:type="dcterms:W3CDTF">2024-12-10T15:23:11Z</dcterms:created>
  <dcterms:modified xsi:type="dcterms:W3CDTF">2024-12-15T11:29:26Z</dcterms:modified>
</cp:coreProperties>
</file>