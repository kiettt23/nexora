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17" r:id="rId3"/>
  </p:sldMasterIdLst>
  <p:notesMasterIdLst>
    <p:notesMasterId r:id="rId29"/>
  </p:notesMasterIdLst>
  <p:sldIdLst>
    <p:sldId id="257" r:id="rId4"/>
    <p:sldId id="258" r:id="rId5"/>
    <p:sldId id="259" r:id="rId6"/>
    <p:sldId id="380" r:id="rId7"/>
    <p:sldId id="381" r:id="rId8"/>
    <p:sldId id="382" r:id="rId9"/>
    <p:sldId id="383" r:id="rId10"/>
    <p:sldId id="384" r:id="rId11"/>
    <p:sldId id="385" r:id="rId12"/>
    <p:sldId id="332" r:id="rId13"/>
    <p:sldId id="369" r:id="rId14"/>
    <p:sldId id="386" r:id="rId15"/>
    <p:sldId id="387" r:id="rId16"/>
    <p:sldId id="388" r:id="rId17"/>
    <p:sldId id="357" r:id="rId18"/>
    <p:sldId id="389" r:id="rId19"/>
    <p:sldId id="390" r:id="rId20"/>
    <p:sldId id="391" r:id="rId21"/>
    <p:sldId id="392" r:id="rId22"/>
    <p:sldId id="393" r:id="rId23"/>
    <p:sldId id="398" r:id="rId24"/>
    <p:sldId id="394" r:id="rId25"/>
    <p:sldId id="395" r:id="rId26"/>
    <p:sldId id="396" r:id="rId27"/>
    <p:sldId id="28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67F05-D95D-49FE-87B7-67C84346D2CD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6582C-81C5-4156-B658-E10D67690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4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E5FABD-26C8-4F74-B1E3-45BC91BC9D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521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49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8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48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9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7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8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8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0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4219262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79988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187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126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07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23546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1410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6061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2893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286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3657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273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8673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4083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224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4320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2175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850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6580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9458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4864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5573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6159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3317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5324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1407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90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3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78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2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2519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6331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5439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7721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0170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294815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28842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62787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743737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748268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6630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4270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13903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78662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2790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12682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2450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8561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5008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7235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7532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63623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5182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886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25001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83161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B4B414-6006-A545-91A5-6439F5733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6400" y="4038600"/>
            <a:ext cx="6705600" cy="830884"/>
          </a:xfrm>
        </p:spPr>
        <p:txBody>
          <a:bodyPr>
            <a:normAutofit/>
          </a:bodyPr>
          <a:lstStyle>
            <a:lvl1pPr algn="l">
              <a:defRPr sz="36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java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7244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 descr="Résultat de recherche d'images pour &quot;testing&quot;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388" y="2439665"/>
            <a:ext cx="2827624" cy="203489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2C30FD-63C3-C741-9C8B-9481A688A7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381000"/>
            <a:ext cx="396888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533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74638"/>
            <a:ext cx="8839200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F313-9C13-47C6-A228-B55986214473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8719"/>
            <a:ext cx="2032000" cy="461818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7983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6EF9-73EC-47CA-9E52-574751B1CDA3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965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F786-C4DF-431A-9246-1EC1829B2C78}" type="datetime1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5746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9D84-263E-478C-94B6-63AC70204759}" type="datetime1">
              <a:rPr lang="en-US" smtClean="0"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822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8565-00B5-4601-AD26-950DAB626426}" type="datetime1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1668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AF78-3B29-49D4-81C3-7555616E6373}" type="datetime1">
              <a:rPr lang="en-US" smtClean="0"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452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8055-7455-47F1-BA44-73D8B83B9342}" type="datetime1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9373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46837-A547-4964-AC0B-E650641F7846}" type="datetime1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145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0451A-A87B-4BA7-B824-056B86D6CA5D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663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4BB19-EC7D-4033-B460-36F421974985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73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-1930400" y="6188076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7C0512-7E02-4E40-BD9C-21FAB99329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9138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1387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013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0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8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95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C4897-F721-4489-83C3-CD2672282672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4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751591" cy="75609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C#3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4600" y="3299438"/>
            <a:ext cx="7244861" cy="1196362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FFC000"/>
                </a:solidFill>
              </a:rPr>
              <a:t>Bài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 smtClean="0">
                <a:solidFill>
                  <a:srgbClr val="FFC000"/>
                </a:solidFill>
              </a:rPr>
              <a:t>11: </a:t>
            </a:r>
            <a:r>
              <a:rPr lang="en-US" sz="3600" dirty="0">
                <a:solidFill>
                  <a:srgbClr val="FFC000"/>
                </a:solidFill>
              </a:rPr>
              <a:t>Sessions – Cookies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1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Mục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tiêu</a:t>
            </a:r>
            <a:endParaRPr lang="en-US" sz="4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¤"/>
            </a:pPr>
            <a:r>
              <a:rPr lang="en-US" sz="3200" dirty="0" err="1"/>
              <a:t>Khái</a:t>
            </a:r>
            <a:r>
              <a:rPr lang="en-US" sz="3200" dirty="0"/>
              <a:t> </a:t>
            </a:r>
            <a:r>
              <a:rPr lang="en-US" sz="3200" dirty="0" err="1"/>
              <a:t>niệm</a:t>
            </a:r>
            <a:r>
              <a:rPr lang="en-US" sz="3200" dirty="0"/>
              <a:t> Session</a:t>
            </a:r>
          </a:p>
          <a:p>
            <a:pPr>
              <a:buFont typeface="Wingdings" pitchFamily="2" charset="2"/>
              <a:buChar char="¤"/>
            </a:pPr>
            <a:r>
              <a:rPr lang="en-US" sz="3200" dirty="0" err="1"/>
              <a:t>Phiên</a:t>
            </a:r>
            <a:r>
              <a:rPr lang="en-US" sz="3200" dirty="0"/>
              <a:t> </a:t>
            </a:r>
            <a:r>
              <a:rPr lang="en-US" sz="3200" dirty="0" err="1"/>
              <a:t>người</a:t>
            </a:r>
            <a:r>
              <a:rPr lang="en-US" sz="3200" dirty="0"/>
              <a:t> </a:t>
            </a:r>
            <a:r>
              <a:rPr lang="en-US" sz="3200" dirty="0" err="1"/>
              <a:t>dùng</a:t>
            </a:r>
            <a:r>
              <a:rPr lang="en-US" sz="3200" dirty="0"/>
              <a:t> </a:t>
            </a:r>
            <a:r>
              <a:rPr lang="en-US" sz="3200" dirty="0" err="1"/>
              <a:t>đăng</a:t>
            </a:r>
            <a:r>
              <a:rPr lang="en-US" sz="3200" dirty="0"/>
              <a:t> </a:t>
            </a:r>
            <a:r>
              <a:rPr lang="en-US" sz="3200" dirty="0" err="1"/>
              <a:t>nhập</a:t>
            </a:r>
            <a:endParaRPr lang="en-US" sz="3200" dirty="0"/>
          </a:p>
          <a:p>
            <a:pPr>
              <a:buFont typeface="Wingdings" pitchFamily="2" charset="2"/>
              <a:buChar char="¤"/>
            </a:pPr>
            <a:r>
              <a:rPr lang="en-US" sz="3200" dirty="0"/>
              <a:t>Cookies</a:t>
            </a:r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5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Tại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Sao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Cần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Dùng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Session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Việc giao tiếp giữa trình duyệt với máy được thực hiện thông qua hàng loạt các router trên mạng internet. </a:t>
            </a:r>
            <a:r>
              <a:rPr lang="en-US" dirty="0"/>
              <a:t>V</a:t>
            </a:r>
            <a:r>
              <a:rPr lang="vi-VN" dirty="0"/>
              <a:t>ấn đề đặt ra trong quá trình giao </a:t>
            </a:r>
            <a:r>
              <a:rPr lang="vi-VN" dirty="0" smtClean="0"/>
              <a:t>tiếpnày</a:t>
            </a:r>
            <a:r>
              <a:rPr lang="en-US" dirty="0" smtClean="0"/>
              <a:t> </a:t>
            </a:r>
            <a:r>
              <a:rPr lang="vi-VN" dirty="0"/>
              <a:t>là </a:t>
            </a:r>
            <a:r>
              <a:rPr lang="vi-VN" dirty="0" smtClean="0"/>
              <a:t>làm </a:t>
            </a:r>
            <a:r>
              <a:rPr lang="vi-VN" dirty="0"/>
              <a:t>sao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để phân </a:t>
            </a:r>
            <a:r>
              <a:rPr lang="en-US" dirty="0" err="1" smtClean="0"/>
              <a:t>biệt</a:t>
            </a:r>
            <a:r>
              <a:rPr lang="en-US" dirty="0" smtClean="0"/>
              <a:t> </a:t>
            </a:r>
            <a:r>
              <a:rPr lang="vi-VN" dirty="0"/>
              <a:t>được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giữa</a:t>
            </a:r>
            <a:r>
              <a:rPr lang="en-US" dirty="0"/>
              <a:t> </a:t>
            </a:r>
            <a:r>
              <a:rPr lang="vi-VN" dirty="0"/>
              <a:t>cá</a:t>
            </a:r>
            <a:r>
              <a:rPr lang="en-US" dirty="0"/>
              <a:t>c</a:t>
            </a:r>
            <a:r>
              <a:rPr lang="vi-VN" dirty="0"/>
              <a:t> </a:t>
            </a:r>
            <a:r>
              <a:rPr lang="vi-VN" dirty="0" smtClean="0"/>
              <a:t>trình </a:t>
            </a:r>
            <a:r>
              <a:rPr lang="vi-VN" dirty="0"/>
              <a:t>duyệt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(máy </a:t>
            </a:r>
            <a:r>
              <a:rPr lang="vi-VN" dirty="0" smtClean="0"/>
              <a:t>tính)</a:t>
            </a:r>
            <a:r>
              <a:rPr lang="en-US" dirty="0" smtClean="0"/>
              <a:t> </a:t>
            </a:r>
            <a:r>
              <a:rPr lang="vi-VN" dirty="0" smtClean="0"/>
              <a:t>khác </a:t>
            </a:r>
            <a:r>
              <a:rPr lang="vi-VN" dirty="0"/>
              <a:t>nhau</a:t>
            </a:r>
            <a:r>
              <a:rPr lang="en-US" dirty="0"/>
              <a:t>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F7F294-2C3B-4D38-9BA9-9274FE824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104" y="2109422"/>
            <a:ext cx="65341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0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Khái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niệm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Session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Session là cơ chế để lưu lại dữ liệu của phiên làm việc của ứng dụng - ứng với từng khách truy cập</a:t>
            </a:r>
            <a:r>
              <a:rPr lang="en-US" dirty="0"/>
              <a:t>: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, </a:t>
            </a:r>
            <a:r>
              <a:rPr lang="en-US" dirty="0" err="1"/>
              <a:t>trao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qua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,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giỏ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…</a:t>
            </a:r>
          </a:p>
          <a:p>
            <a:r>
              <a:rPr lang="vi-VN" dirty="0"/>
              <a:t>Dữ liệu Session lưu trữ trên Server có thể là ở bộ nhớ Cache, có thể là ở CSDL SQL</a:t>
            </a:r>
            <a:r>
              <a:rPr lang="en-US" dirty="0"/>
              <a:t> </a:t>
            </a:r>
            <a:r>
              <a:rPr lang="vi-VN" dirty="0"/>
              <a:t>Server hoặc những nguồn lưu cache khác nhau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7CE2FE-1BAF-431D-89FF-D7C701D10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152" y="3498850"/>
            <a:ext cx="60388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7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Khái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niệm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Session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Sessions lưu trữ dữ liệu tạm thời, duy trì trạng thái người dùng giữa các request trong cùng một phiên làm việc.</a:t>
            </a:r>
          </a:p>
          <a:p>
            <a:r>
              <a:rPr lang="vi-VN" dirty="0"/>
              <a:t>Mỗi session được gán một ID duy nhất, lưu trữ ở cookie hoặc URL (ít phổ biến hơn).</a:t>
            </a:r>
          </a:p>
          <a:p>
            <a:r>
              <a:rPr lang="vi-VN" dirty="0"/>
              <a:t>Dữ liệu session được lưu trữ server-side, bảo mật hơn cookie.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2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Sessions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trong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ASP.NET Core MVC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Cấu hình trong Program.cs:</a:t>
            </a:r>
          </a:p>
          <a:p>
            <a:pPr lvl="1"/>
            <a:r>
              <a:rPr lang="vi-VN" dirty="0"/>
              <a:t>Đăng ký service Session (builder.Services.AddSession();).</a:t>
            </a:r>
          </a:p>
          <a:p>
            <a:pPr lvl="1"/>
            <a:r>
              <a:rPr lang="vi-VN" dirty="0"/>
              <a:t>Kích hoạt middleware Session (app.UseSession();).</a:t>
            </a:r>
          </a:p>
          <a:p>
            <a:r>
              <a:rPr lang="vi-VN" dirty="0"/>
              <a:t>Truy cập Session: Sử dụng thuộc tính HttpContext.Session trong Controller và View.</a:t>
            </a:r>
          </a:p>
          <a:p>
            <a:r>
              <a:rPr lang="vi-VN" dirty="0"/>
              <a:t>Phương thức SetString, GetInt32, GetObject, ...: Lưu trữ và truy xuất dữ liệu session với nhiều kiểu dữ liệu.</a:t>
            </a:r>
          </a:p>
          <a:p>
            <a:r>
              <a:rPr lang="vi-VN" dirty="0"/>
              <a:t>Cấu hình Session Options: Thiết lập thuộc tính như IdleTimeout (thời gian chờ), Cookie (cookie options)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2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Sessions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trong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ASP.NET Core MVC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2EC1A9-E044-AD5C-B68A-0BA54A2B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815" y="958362"/>
            <a:ext cx="6096001" cy="555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7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vi-VN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Lưu và đọc dữ liệu Session</a:t>
            </a:r>
            <a:endParaRPr lang="en-US" sz="4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sesstion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>
                <a:solidFill>
                  <a:srgbClr val="C22C72"/>
                </a:solidFill>
                <a:latin typeface="SFMono-Regular"/>
              </a:rPr>
              <a:t>Isession</a:t>
            </a:r>
            <a:r>
              <a:rPr lang="en-US" dirty="0">
                <a:solidFill>
                  <a:srgbClr val="C22C72"/>
                </a:solidFill>
                <a:latin typeface="SFMono-Regular"/>
              </a:rPr>
              <a:t>. </a:t>
            </a:r>
            <a:r>
              <a:rPr lang="vi-VN" dirty="0">
                <a:latin typeface="SFMono-Regular"/>
              </a:rPr>
              <a:t>Đối tượng này lấy được từ thuộc tính của HttpContext</a:t>
            </a:r>
            <a:r>
              <a:rPr lang="en-US" dirty="0">
                <a:latin typeface="SFMono-Regular"/>
              </a:rPr>
              <a:t>.</a:t>
            </a:r>
          </a:p>
          <a:p>
            <a:r>
              <a:rPr lang="en-US" dirty="0"/>
              <a:t>M</a:t>
            </a:r>
            <a:r>
              <a:rPr lang="vi-VN" dirty="0"/>
              <a:t>ột số phương thức, thuộc tính của</a:t>
            </a:r>
            <a:r>
              <a:rPr lang="en-US" dirty="0"/>
              <a:t> </a:t>
            </a:r>
            <a:r>
              <a:rPr lang="en-US" dirty="0" err="1"/>
              <a:t>Isession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11E744-1CEA-4946-8BF9-262CC6F27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531" y="2698750"/>
            <a:ext cx="88392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1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Ví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dụ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l</a:t>
            </a:r>
            <a:r>
              <a:rPr lang="vi-VN" sz="4800" b="1" dirty="0">
                <a:solidFill>
                  <a:srgbClr val="FF0000"/>
                </a:solidFill>
                <a:latin typeface="+mn-lt"/>
              </a:rPr>
              <a:t>ưu và đọc dữ liệu Session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session </a:t>
            </a:r>
            <a:r>
              <a:rPr lang="en-US" dirty="0" err="1"/>
              <a:t>tại</a:t>
            </a:r>
            <a:r>
              <a:rPr lang="en-US" dirty="0"/>
              <a:t> action Index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session </a:t>
            </a:r>
            <a:r>
              <a:rPr lang="en-US" dirty="0" err="1"/>
              <a:t>tại</a:t>
            </a:r>
            <a:r>
              <a:rPr lang="en-US" dirty="0"/>
              <a:t> action Privacy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119" y="2644898"/>
            <a:ext cx="5410669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4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>
                <a:solidFill>
                  <a:srgbClr val="FFC000"/>
                </a:solidFill>
              </a:rPr>
              <a:t>Hiện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 err="1">
                <a:solidFill>
                  <a:srgbClr val="FFC000"/>
                </a:solidFill>
              </a:rPr>
              <a:t>thực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 err="1">
                <a:solidFill>
                  <a:srgbClr val="FFC000"/>
                </a:solidFill>
              </a:rPr>
              <a:t>ví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 err="1">
                <a:solidFill>
                  <a:srgbClr val="FFC000"/>
                </a:solidFill>
              </a:rPr>
              <a:t>dụ</a:t>
            </a:r>
            <a:r>
              <a:rPr lang="en-US" sz="3600" dirty="0">
                <a:solidFill>
                  <a:srgbClr val="FFC000"/>
                </a:solidFill>
              </a:rPr>
              <a:t> Login </a:t>
            </a:r>
            <a:r>
              <a:rPr lang="en-US" sz="3600" dirty="0" err="1">
                <a:solidFill>
                  <a:srgbClr val="FFC000"/>
                </a:solidFill>
              </a:rPr>
              <a:t>với</a:t>
            </a:r>
            <a:r>
              <a:rPr lang="en-US" sz="3600" dirty="0">
                <a:solidFill>
                  <a:srgbClr val="FFC000"/>
                </a:solidFill>
              </a:rPr>
              <a:t> session</a:t>
            </a:r>
            <a:br>
              <a:rPr lang="en-US" sz="3600" dirty="0">
                <a:solidFill>
                  <a:srgbClr val="FFC000"/>
                </a:solidFill>
              </a:rPr>
            </a:br>
            <a:r>
              <a:rPr lang="en-US" sz="3600" dirty="0">
                <a:solidFill>
                  <a:srgbClr val="FFC000"/>
                </a:solidFill>
              </a:rPr>
              <a:t>Qua page Index </a:t>
            </a:r>
            <a:r>
              <a:rPr lang="en-US" sz="3600" dirty="0" err="1">
                <a:solidFill>
                  <a:srgbClr val="FFC000"/>
                </a:solidFill>
              </a:rPr>
              <a:t>và</a:t>
            </a:r>
            <a:r>
              <a:rPr lang="en-US" sz="3600" dirty="0">
                <a:solidFill>
                  <a:srgbClr val="FFC000"/>
                </a:solidFill>
              </a:rPr>
              <a:t> About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10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7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Đối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tượng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và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session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Session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  <a:p>
            <a:endParaRPr lang="en-US" dirty="0" smtClean="0">
              <a:solidFill>
                <a:srgbClr val="0F2149"/>
              </a:solidFill>
              <a:latin typeface="Helvetica Neue"/>
            </a:endParaRPr>
          </a:p>
          <a:p>
            <a:r>
              <a:rPr lang="en-US" dirty="0" err="1" smtClean="0">
                <a:solidFill>
                  <a:srgbClr val="0F2149"/>
                </a:solidFill>
                <a:latin typeface="Helvetica Neue"/>
              </a:rPr>
              <a:t>Có</a:t>
            </a:r>
            <a:r>
              <a:rPr lang="en-US" dirty="0" smtClean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thể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vi-VN" dirty="0">
                <a:solidFill>
                  <a:srgbClr val="0F2149"/>
                </a:solidFill>
                <a:latin typeface="Helvetica Neue"/>
              </a:rPr>
              <a:t>chuyển đổi đối tượng phức tạp thành JSON và lưu trữ nó dưới dạng chuỗi. Sau đó, truy xuất nó dưới dạng một chuỗi và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chuyển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vi-VN" dirty="0">
                <a:solidFill>
                  <a:srgbClr val="0F2149"/>
                </a:solidFill>
                <a:latin typeface="Helvetica Neue"/>
              </a:rPr>
              <a:t>hóa thành đối tượng ban </a:t>
            </a:r>
            <a:r>
              <a:rPr lang="vi-VN" dirty="0" smtClean="0">
                <a:solidFill>
                  <a:srgbClr val="0F2149"/>
                </a:solidFill>
                <a:latin typeface="Helvetica Neue"/>
              </a:rPr>
              <a:t>đầu</a:t>
            </a:r>
            <a:endParaRPr lang="en-US" dirty="0" smtClean="0">
              <a:solidFill>
                <a:srgbClr val="0F2149"/>
              </a:solidFill>
              <a:latin typeface="Helvetica Neue"/>
            </a:endParaRPr>
          </a:p>
          <a:p>
            <a:endParaRPr lang="en-US" dirty="0">
              <a:solidFill>
                <a:srgbClr val="0F2149"/>
              </a:solidFill>
              <a:latin typeface="Helvetica Neue"/>
            </a:endParaRPr>
          </a:p>
          <a:p>
            <a:r>
              <a:rPr lang="en-US" dirty="0" err="1">
                <a:solidFill>
                  <a:srgbClr val="0F2149"/>
                </a:solidFill>
                <a:latin typeface="Helvetica Neue"/>
              </a:rPr>
              <a:t>Sử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dụng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SerializeObject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và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DeserializeObject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của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lớp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JsonConvert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để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xử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lý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dữ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liệu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đối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tượng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dưới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định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dạng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Json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,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sau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đó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lưu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và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đọc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cho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session</a:t>
            </a:r>
          </a:p>
          <a:p>
            <a:endParaRPr lang="en-US" dirty="0">
              <a:solidFill>
                <a:srgbClr val="0F2149"/>
              </a:solidFill>
              <a:latin typeface="Helvetica Neue"/>
            </a:endParaRP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85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vi-VN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Ví dụ lưu và đọc thông tin đối tượng </a:t>
            </a:r>
            <a: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vi-VN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</a:t>
            </a:r>
            <a:r>
              <a:rPr lang="vi-VN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với session</a:t>
            </a:r>
            <a:endParaRPr lang="en-US" sz="4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>
              <a:solidFill>
                <a:srgbClr val="0F2149"/>
              </a:solidFill>
              <a:latin typeface="Helvetica Neue"/>
            </a:endParaRPr>
          </a:p>
          <a:p>
            <a:r>
              <a:rPr lang="en-US" dirty="0" err="1" smtClean="0">
                <a:solidFill>
                  <a:srgbClr val="0F2149"/>
                </a:solidFill>
                <a:latin typeface="Helvetica Neue"/>
              </a:rPr>
              <a:t>Tạo</a:t>
            </a:r>
            <a:r>
              <a:rPr lang="en-US" dirty="0" smtClean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lớp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User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435" y="2333397"/>
            <a:ext cx="5887095" cy="319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36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vi-VN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Ví dụ lưu và đọc thông tin đối tượng </a:t>
            </a:r>
            <a: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vi-VN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</a:t>
            </a:r>
            <a:r>
              <a:rPr lang="vi-VN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với session</a:t>
            </a:r>
            <a:endParaRPr lang="en-US" sz="4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>
              <a:solidFill>
                <a:srgbClr val="0F2149"/>
              </a:solidFill>
              <a:latin typeface="Helvetica Neue"/>
            </a:endParaRPr>
          </a:p>
          <a:p>
            <a:r>
              <a:rPr lang="en-US" dirty="0" err="1" smtClean="0">
                <a:solidFill>
                  <a:srgbClr val="0F2149"/>
                </a:solidFill>
                <a:latin typeface="Helvetica Neue"/>
              </a:rPr>
              <a:t>Tạo</a:t>
            </a:r>
            <a:r>
              <a:rPr lang="en-US" dirty="0" smtClean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lớp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có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2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phương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thức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hỗ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trợ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chuyển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đổi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đối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tượng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sang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json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và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ngược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lại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,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sau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đó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tương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tác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với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session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209" y="2614272"/>
            <a:ext cx="7239627" cy="39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8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vi-VN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Ví dụ lưu và đọc thông tin đối tượng </a:t>
            </a:r>
            <a: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vi-VN" sz="48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</a:t>
            </a:r>
            <a:r>
              <a:rPr lang="vi-VN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với session</a:t>
            </a:r>
            <a:endParaRPr lang="en-US" sz="4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>
              <a:solidFill>
                <a:srgbClr val="0F2149"/>
              </a:solidFill>
              <a:latin typeface="Helvetica Neue"/>
            </a:endParaRPr>
          </a:p>
          <a:p>
            <a:r>
              <a:rPr lang="en-US" dirty="0" err="1">
                <a:solidFill>
                  <a:srgbClr val="0F2149"/>
                </a:solidFill>
                <a:latin typeface="Helvetica Neue"/>
              </a:rPr>
              <a:t>Khởi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tạo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session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cho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đối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tượng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User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tại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action Index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và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hiển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thị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thông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tin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tại</a:t>
            </a:r>
            <a:r>
              <a:rPr lang="en-US" dirty="0">
                <a:solidFill>
                  <a:srgbClr val="0F2149"/>
                </a:solidFill>
                <a:latin typeface="Helvetica Neue"/>
              </a:rPr>
              <a:t> action </a:t>
            </a:r>
            <a:r>
              <a:rPr lang="en-US" dirty="0" err="1">
                <a:solidFill>
                  <a:srgbClr val="0F2149"/>
                </a:solidFill>
                <a:latin typeface="Helvetica Neue"/>
              </a:rPr>
              <a:t>GetComplexData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668" y="2926666"/>
            <a:ext cx="5845047" cy="33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6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8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vi-VN" sz="4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Cookies</a:t>
            </a:r>
            <a:endParaRPr lang="en-US" sz="4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Cookies là những file text nhỏ được server nhúng vào browser của người dùng.</a:t>
            </a:r>
          </a:p>
          <a:p>
            <a:r>
              <a:rPr lang="vi-VN" dirty="0"/>
              <a:t>Dùng để lưu trữ thông tin về người dùng, phiên làm việc, tùy chọn,... trên máy client.</a:t>
            </a:r>
          </a:p>
          <a:p>
            <a:r>
              <a:rPr lang="vi-VN" dirty="0"/>
              <a:t>Mỗi khi browser gửi request đến server, nó sẽ kèm theo cookies tương ứng.</a:t>
            </a:r>
            <a:endParaRPr lang="en-US" dirty="0"/>
          </a:p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Cookies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ASP.NET Core MVC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(state management) </a:t>
            </a:r>
            <a:r>
              <a:rPr lang="en-US" dirty="0" err="1"/>
              <a:t>phía</a:t>
            </a:r>
            <a:r>
              <a:rPr lang="en-US" dirty="0"/>
              <a:t> client.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2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Thao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tác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vi-VN" sz="4800" b="1" dirty="0">
                <a:solidFill>
                  <a:srgbClr val="FF0000"/>
                </a:solidFill>
                <a:latin typeface="+mn-lt"/>
              </a:rPr>
              <a:t>Cookies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400" dirty="0">
                <a:solidFill>
                  <a:srgbClr val="0F2149"/>
                </a:solidFill>
                <a:latin typeface="Helvetica Neue"/>
              </a:rPr>
              <a:t>Tạo Cookie: Server tạo cookie và gửi cho browser trong HTTP response header.</a:t>
            </a:r>
          </a:p>
          <a:p>
            <a:r>
              <a:rPr lang="vi-VN" sz="2400" dirty="0">
                <a:solidFill>
                  <a:srgbClr val="0F2149"/>
                </a:solidFill>
                <a:latin typeface="Helvetica Neue"/>
              </a:rPr>
              <a:t>Lưu trữ Cookie: Browser lưu trữ cookie trên máy client.</a:t>
            </a:r>
          </a:p>
          <a:p>
            <a:r>
              <a:rPr lang="vi-VN" sz="2400" dirty="0">
                <a:solidFill>
                  <a:srgbClr val="0F2149"/>
                </a:solidFill>
                <a:latin typeface="Helvetica Neue"/>
              </a:rPr>
              <a:t>Gửi Cookie: Mỗi request đến server, browser tự động gửi kèm các cookie tương ứng.</a:t>
            </a:r>
          </a:p>
          <a:p>
            <a:r>
              <a:rPr lang="vi-VN" sz="2400" dirty="0">
                <a:solidFill>
                  <a:srgbClr val="0F2149"/>
                </a:solidFill>
                <a:latin typeface="Helvetica Neue"/>
              </a:rPr>
              <a:t>Đọc Cookie: Server đọc thông tin từ cookie được gửi kèm trong HTTP request header.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BE9E46-952E-8BAB-91E4-4EF91C7E4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243262"/>
            <a:ext cx="73152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0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Cookies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và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ASP.NET Core MVC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>
                <a:solidFill>
                  <a:srgbClr val="0F2149"/>
                </a:solidFill>
                <a:latin typeface="Helvetica Neue"/>
              </a:rPr>
              <a:t>Lớp IHttpContextAccessor: Truy cập HttpContext để thao tác với Cookies.</a:t>
            </a:r>
          </a:p>
          <a:p>
            <a:r>
              <a:rPr lang="vi-VN" sz="3200" dirty="0">
                <a:solidFill>
                  <a:srgbClr val="0F2149"/>
                </a:solidFill>
                <a:latin typeface="Helvetica Neue"/>
              </a:rPr>
              <a:t>Thuộc tính Request.Cookies: Đọc cookie từ request.</a:t>
            </a:r>
          </a:p>
          <a:p>
            <a:r>
              <a:rPr lang="vi-VN" sz="3200" dirty="0">
                <a:solidFill>
                  <a:srgbClr val="0F2149"/>
                </a:solidFill>
                <a:latin typeface="Helvetica Neue"/>
              </a:rPr>
              <a:t>Thuộc tính Response.Cookies: Tạo và gửi cookie trong response.</a:t>
            </a:r>
          </a:p>
          <a:p>
            <a:r>
              <a:rPr lang="vi-VN" sz="3200" dirty="0">
                <a:solidFill>
                  <a:srgbClr val="0F2149"/>
                </a:solidFill>
                <a:latin typeface="Helvetica Neue"/>
              </a:rPr>
              <a:t>Phương thức Append, Delete: Thêm, sửa, xóa cookie.</a:t>
            </a:r>
          </a:p>
          <a:p>
            <a:r>
              <a:rPr lang="vi-VN" sz="3200" dirty="0">
                <a:solidFill>
                  <a:srgbClr val="0F2149"/>
                </a:solidFill>
                <a:latin typeface="Helvetica Neue"/>
              </a:rPr>
              <a:t>Cấu hình Cookie Options: Thiết lập thuộc tính như Expires, Domain, Path, Secure, HttpOnly.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36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Demo Cookies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Tạo cookie nhận request, lưu trữ thông tin người dùng và sử dụng cookie để cá nhân hóa trải nghiệm (hiển thị lời chào)</a:t>
            </a:r>
            <a:endParaRPr lang="en-US" sz="3200" dirty="0"/>
          </a:p>
          <a:p>
            <a:r>
              <a:rPr lang="en-US" sz="3200" dirty="0" err="1"/>
              <a:t>Trong</a:t>
            </a:r>
            <a:r>
              <a:rPr lang="en-US" sz="3200" dirty="0"/>
              <a:t> controller </a:t>
            </a:r>
            <a:r>
              <a:rPr lang="en-US" sz="3200" dirty="0" err="1"/>
              <a:t>tạo</a:t>
            </a:r>
            <a:r>
              <a:rPr lang="en-US" sz="3200" dirty="0"/>
              <a:t> </a:t>
            </a:r>
            <a:r>
              <a:rPr lang="en-US" sz="3200" dirty="0" err="1"/>
              <a:t>CookieUserId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CookieUserName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2B180D-937F-DB3A-1ADA-08C8410BA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42" y="3549161"/>
            <a:ext cx="5557819" cy="153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1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Demo Cookies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Tạo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thông</a:t>
            </a:r>
            <a:r>
              <a:rPr lang="en-US" sz="3200" dirty="0"/>
              <a:t> tin </a:t>
            </a:r>
            <a:r>
              <a:rPr lang="vi-VN" sz="3200" dirty="0"/>
              <a:t>cookie</a:t>
            </a:r>
            <a:r>
              <a:rPr lang="en-US" sz="3200" dirty="0"/>
              <a:t>s </a:t>
            </a:r>
            <a:r>
              <a:rPr lang="en-US" sz="3200" dirty="0" err="1"/>
              <a:t>trong</a:t>
            </a:r>
            <a:r>
              <a:rPr lang="en-US" sz="3200" dirty="0"/>
              <a:t> action index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411" y="2177104"/>
            <a:ext cx="6035563" cy="37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2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Demo Cookies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T</a:t>
            </a:r>
            <a:r>
              <a:rPr lang="vi-VN" sz="3200" dirty="0"/>
              <a:t>ruy cập dữ liệu cookie từ</a:t>
            </a:r>
            <a:r>
              <a:rPr lang="en-US" sz="3200" dirty="0"/>
              <a:t> About action method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979" y="2100874"/>
            <a:ext cx="8817104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Demo Cookies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err="1"/>
              <a:t>Xử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delete </a:t>
            </a:r>
            <a:r>
              <a:rPr lang="vi-VN" sz="3200" dirty="0"/>
              <a:t>dữ liệu </a:t>
            </a:r>
            <a:r>
              <a:rPr lang="vi-VN" sz="3200" dirty="0" smtClean="0"/>
              <a:t>cookie</a:t>
            </a:r>
            <a:endParaRPr lang="en-US" sz="3200" dirty="0" smtClean="0"/>
          </a:p>
          <a:p>
            <a:endParaRPr lang="en-US" sz="3200" dirty="0"/>
          </a:p>
          <a:p>
            <a:endParaRPr lang="en-US" sz="3200" dirty="0" smtClean="0"/>
          </a:p>
          <a:p>
            <a:endParaRPr lang="en-US" sz="3200" dirty="0"/>
          </a:p>
          <a:p>
            <a:endParaRPr lang="en-US" sz="3200" dirty="0" smtClean="0"/>
          </a:p>
          <a:p>
            <a:r>
              <a:rPr lang="en-US" sz="3200" dirty="0" err="1"/>
              <a:t>Cấu</a:t>
            </a:r>
            <a:r>
              <a:rPr lang="en-US" sz="3200" dirty="0"/>
              <a:t> </a:t>
            </a:r>
            <a:r>
              <a:rPr lang="en-US" sz="3200" dirty="0" err="1"/>
              <a:t>hình</a:t>
            </a:r>
            <a:r>
              <a:rPr lang="en-US" sz="3200" dirty="0"/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HttpContextAccessor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trong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Program.cs</a:t>
            </a:r>
            <a:endParaRPr lang="en-US" sz="32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FB815E-7BFC-7ACE-D9D1-33D5EC078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03" y="5152293"/>
            <a:ext cx="8151501" cy="4737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511" y="1631449"/>
            <a:ext cx="5387807" cy="25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41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Demo Cookies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err="1"/>
              <a:t>Tạo</a:t>
            </a:r>
            <a:r>
              <a:rPr lang="en-US" sz="3200" dirty="0"/>
              <a:t> view </a:t>
            </a:r>
            <a:r>
              <a:rPr lang="en-US" sz="3200" dirty="0" err="1"/>
              <a:t>cho</a:t>
            </a:r>
            <a:r>
              <a:rPr lang="en-US" sz="3200" dirty="0"/>
              <a:t> index method</a:t>
            </a:r>
          </a:p>
          <a:p>
            <a:endParaRPr lang="en-US" sz="3200" dirty="0"/>
          </a:p>
          <a:p>
            <a:endParaRPr lang="en-US" sz="3200" dirty="0" smtClean="0"/>
          </a:p>
          <a:p>
            <a:endParaRPr lang="en-US" sz="3200" dirty="0"/>
          </a:p>
          <a:p>
            <a:endParaRPr lang="en-US" sz="3200" dirty="0" smtClean="0"/>
          </a:p>
          <a:p>
            <a:r>
              <a:rPr lang="en-US" sz="3200" dirty="0" err="1"/>
              <a:t>Tạo</a:t>
            </a:r>
            <a:r>
              <a:rPr lang="en-US" sz="3200" dirty="0"/>
              <a:t> view </a:t>
            </a:r>
            <a:r>
              <a:rPr lang="en-US" sz="3200" dirty="0" err="1"/>
              <a:t>cho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Privacy</a:t>
            </a:r>
            <a:r>
              <a:rPr lang="en-US" sz="3200" dirty="0"/>
              <a:t> method</a:t>
            </a:r>
          </a:p>
          <a:p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0F92A4-1AF9-C229-EB26-B32045D19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570" y="1776046"/>
            <a:ext cx="8071975" cy="198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34E4AC-9A27-FDB7-281F-7D76E78FC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877" y="4623909"/>
            <a:ext cx="5917223" cy="19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8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24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50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850" y="2057401"/>
            <a:ext cx="10511204" cy="39741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 smtClean="0">
                <a:solidFill>
                  <a:srgbClr val="FFC000"/>
                </a:solidFill>
              </a:rPr>
              <a:t>Khái</a:t>
            </a:r>
            <a:r>
              <a:rPr lang="en-US" sz="3200" dirty="0" smtClean="0">
                <a:solidFill>
                  <a:srgbClr val="FFC000"/>
                </a:solidFill>
              </a:rPr>
              <a:t> </a:t>
            </a:r>
            <a:r>
              <a:rPr lang="en-US" sz="3200" dirty="0" err="1">
                <a:solidFill>
                  <a:srgbClr val="FFC000"/>
                </a:solidFill>
              </a:rPr>
              <a:t>niệm</a:t>
            </a:r>
            <a:r>
              <a:rPr lang="en-US" sz="3200" dirty="0">
                <a:solidFill>
                  <a:srgbClr val="FFC000"/>
                </a:solidFill>
              </a:rPr>
              <a:t> Session</a:t>
            </a:r>
            <a:br>
              <a:rPr lang="en-US" sz="3200" dirty="0">
                <a:solidFill>
                  <a:srgbClr val="FFC000"/>
                </a:solidFill>
              </a:rPr>
            </a:br>
            <a:r>
              <a:rPr lang="en-US" sz="3200" dirty="0" err="1">
                <a:solidFill>
                  <a:srgbClr val="FFC000"/>
                </a:solidFill>
              </a:rPr>
              <a:t>Phiên</a:t>
            </a:r>
            <a:r>
              <a:rPr lang="en-US" sz="3200" dirty="0">
                <a:solidFill>
                  <a:srgbClr val="FFC000"/>
                </a:solidFill>
              </a:rPr>
              <a:t> </a:t>
            </a:r>
            <a:r>
              <a:rPr lang="en-US" sz="3200" dirty="0" err="1">
                <a:solidFill>
                  <a:srgbClr val="FFC000"/>
                </a:solidFill>
              </a:rPr>
              <a:t>người</a:t>
            </a:r>
            <a:r>
              <a:rPr lang="en-US" sz="3200" dirty="0">
                <a:solidFill>
                  <a:srgbClr val="FFC000"/>
                </a:solidFill>
              </a:rPr>
              <a:t> </a:t>
            </a:r>
            <a:r>
              <a:rPr lang="en-US" sz="3200" dirty="0" err="1">
                <a:solidFill>
                  <a:srgbClr val="FFC000"/>
                </a:solidFill>
              </a:rPr>
              <a:t>dùng</a:t>
            </a:r>
            <a:r>
              <a:rPr lang="en-US" sz="3200" dirty="0">
                <a:solidFill>
                  <a:srgbClr val="FFC000"/>
                </a:solidFill>
              </a:rPr>
              <a:t> </a:t>
            </a:r>
            <a:r>
              <a:rPr lang="en-US" sz="3200" dirty="0" err="1">
                <a:solidFill>
                  <a:srgbClr val="FFC000"/>
                </a:solidFill>
              </a:rPr>
              <a:t>đăng</a:t>
            </a:r>
            <a:r>
              <a:rPr lang="en-US" sz="3200" dirty="0">
                <a:solidFill>
                  <a:srgbClr val="FFC000"/>
                </a:solidFill>
              </a:rPr>
              <a:t> </a:t>
            </a:r>
            <a:r>
              <a:rPr lang="en-US" sz="3200" dirty="0" err="1">
                <a:solidFill>
                  <a:srgbClr val="FFC000"/>
                </a:solidFill>
              </a:rPr>
              <a:t>nhập</a:t>
            </a:r>
            <a:r>
              <a:rPr lang="en-US" sz="3200" dirty="0">
                <a:solidFill>
                  <a:srgbClr val="FFC000"/>
                </a:solidFill>
              </a:rPr>
              <a:t/>
            </a:r>
            <a:br>
              <a:rPr lang="en-US" sz="3200" dirty="0">
                <a:solidFill>
                  <a:srgbClr val="FFC000"/>
                </a:solidFill>
              </a:rPr>
            </a:br>
            <a:r>
              <a:rPr lang="en-US" sz="3200" dirty="0" smtClean="0">
                <a:solidFill>
                  <a:srgbClr val="FFC000"/>
                </a:solidFill>
              </a:rPr>
              <a:t>Cookies</a:t>
            </a:r>
            <a:endParaRPr lang="en-US" sz="32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-1" y="6296202"/>
            <a:ext cx="11933241" cy="4891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L</a:t>
            </a:r>
            <a:r>
              <a:rPr lang="vi-VN" dirty="0" smtClean="0"/>
              <a:t>ập </a:t>
            </a:r>
            <a:r>
              <a:rPr lang="vi-VN" dirty="0"/>
              <a:t>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 flipH="1">
            <a:off x="888522" y="6155524"/>
            <a:ext cx="1283177" cy="514057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1	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</a:t>
            </a:r>
            <a:r>
              <a:rPr lang="en-US" sz="6000" dirty="0" err="1" smtClean="0">
                <a:solidFill>
                  <a:schemeClr val="bg1"/>
                </a:solidFill>
              </a:rPr>
              <a:t>Tổng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kết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bài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học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0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918</Words>
  <Application>Microsoft Office PowerPoint</Application>
  <PresentationFormat>Widescreen</PresentationFormat>
  <Paragraphs>137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42" baseType="lpstr">
      <vt:lpstr>arial</vt:lpstr>
      <vt:lpstr>arial</vt:lpstr>
      <vt:lpstr>Calibri</vt:lpstr>
      <vt:lpstr>Calibri Light</vt:lpstr>
      <vt:lpstr>Courier New</vt:lpstr>
      <vt:lpstr>Helvetica Neue</vt:lpstr>
      <vt:lpstr>Roboto</vt:lpstr>
      <vt:lpstr>Roboto Lt</vt:lpstr>
      <vt:lpstr>Segoe UI</vt:lpstr>
      <vt:lpstr>SFMono-Regular</vt:lpstr>
      <vt:lpstr>Tw Cen MT</vt:lpstr>
      <vt:lpstr>Tw Cen MT Condensed</vt:lpstr>
      <vt:lpstr>Wingdings</vt:lpstr>
      <vt:lpstr>Wingdings 3</vt:lpstr>
      <vt:lpstr>Office Theme</vt:lpstr>
      <vt:lpstr>ModernClassicBlock-3</vt:lpstr>
      <vt:lpstr>Custom Design</vt:lpstr>
      <vt:lpstr>Lập Trình C#3</vt:lpstr>
      <vt:lpstr>Mục tiêu</vt:lpstr>
      <vt:lpstr>Tại Sao Cần Dùng Session</vt:lpstr>
      <vt:lpstr>Khái niệm Session</vt:lpstr>
      <vt:lpstr>Khái niệm Session</vt:lpstr>
      <vt:lpstr>Sessions trong ASP.NET Core MVC</vt:lpstr>
      <vt:lpstr>Sessions trong ASP.NET Core MVC</vt:lpstr>
      <vt:lpstr>Lưu và đọc dữ liệu Session</vt:lpstr>
      <vt:lpstr>Ví dụ lưu và đọc dữ liệu Session</vt:lpstr>
      <vt:lpstr>Hiện thực ví dụ Login với session Qua page Index và About</vt:lpstr>
      <vt:lpstr>Đối tượng và session</vt:lpstr>
      <vt:lpstr>Ví dụ lưu và đọc thông tin đối tượng  User với session</vt:lpstr>
      <vt:lpstr>Ví dụ lưu và đọc thông tin đối tượng  User với session</vt:lpstr>
      <vt:lpstr>Ví dụ lưu và đọc thông tin đối tượng  User với session</vt:lpstr>
      <vt:lpstr>Hãy thực hiện các ví dụ</vt:lpstr>
      <vt:lpstr>Cookies</vt:lpstr>
      <vt:lpstr>Thao tác Cookies</vt:lpstr>
      <vt:lpstr>Cookies và ASP.NET Core MVC</vt:lpstr>
      <vt:lpstr>Demo Cookies</vt:lpstr>
      <vt:lpstr>Demo Cookies</vt:lpstr>
      <vt:lpstr>Demo Cookies</vt:lpstr>
      <vt:lpstr>Demo Cookies</vt:lpstr>
      <vt:lpstr>Demo Cookies</vt:lpstr>
      <vt:lpstr>Hãy thực hiện các ví dụ</vt:lpstr>
      <vt:lpstr>Khái niệm Session Phiên người dùng đăng nhập Cookies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C#3</dc:title>
  <dc:creator>Nguy Nguyen Uy Vu</dc:creator>
  <cp:lastModifiedBy>Nguy Nguyen Uy Vu</cp:lastModifiedBy>
  <cp:revision>55</cp:revision>
  <dcterms:created xsi:type="dcterms:W3CDTF">2024-12-10T15:23:11Z</dcterms:created>
  <dcterms:modified xsi:type="dcterms:W3CDTF">2024-12-29T07:40:53Z</dcterms:modified>
</cp:coreProperties>
</file>