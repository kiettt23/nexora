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7" r:id="rId3"/>
  </p:sldMasterIdLst>
  <p:notesMasterIdLst>
    <p:notesMasterId r:id="rId31"/>
  </p:notesMasterIdLst>
  <p:sldIdLst>
    <p:sldId id="257" r:id="rId4"/>
    <p:sldId id="258" r:id="rId5"/>
    <p:sldId id="259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332" r:id="rId17"/>
    <p:sldId id="369" r:id="rId18"/>
    <p:sldId id="466" r:id="rId19"/>
    <p:sldId id="467" r:id="rId20"/>
    <p:sldId id="468" r:id="rId21"/>
    <p:sldId id="469" r:id="rId22"/>
    <p:sldId id="470" r:id="rId23"/>
    <p:sldId id="471" r:id="rId24"/>
    <p:sldId id="472" r:id="rId25"/>
    <p:sldId id="473" r:id="rId26"/>
    <p:sldId id="474" r:id="rId27"/>
    <p:sldId id="475" r:id="rId28"/>
    <p:sldId id="357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67F05-D95D-49FE-87B7-67C84346D2CD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6582C-81C5-4156-B658-E10D67690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E5FABD-26C8-4F74-B1E3-45BC91BC9D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521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49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8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9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7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4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0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219262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79988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187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6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0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23546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1410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6061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2893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286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6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1273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8673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408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224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4320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217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850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58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458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864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573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615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331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5324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1407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9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3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78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2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519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6331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543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7721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017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294815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28842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2787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74373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74826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6630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4270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1390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78662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2790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2682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2450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561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008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235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532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63623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18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886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25001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3161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B4B414-6006-A545-91A5-6439F5733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6400" y="4038600"/>
            <a:ext cx="6705600" cy="830884"/>
          </a:xfrm>
        </p:spPr>
        <p:txBody>
          <a:bodyPr>
            <a:normAutofit/>
          </a:bodyPr>
          <a:lstStyle>
            <a:lvl1pPr algn="l">
              <a:defRPr sz="36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java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7244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 descr="Résultat de recherche d'images pour &quot;testing&quot;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88" y="2439665"/>
            <a:ext cx="2827624" cy="20348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C30FD-63C3-C741-9C8B-9481A688A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381000"/>
            <a:ext cx="396888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533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74638"/>
            <a:ext cx="8839200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9F313-9C13-47C6-A228-B55986214473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8719"/>
            <a:ext cx="2032000" cy="461818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983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6EF9-73EC-47CA-9E52-574751B1CDA3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965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F786-C4DF-431A-9246-1EC1829B2C78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574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9D84-263E-478C-94B6-63AC70204759}" type="datetime1">
              <a:rPr lang="en-US" smtClean="0"/>
              <a:t>12/15/2024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822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8565-00B5-4601-AD26-950DAB626426}" type="datetime1">
              <a:rPr lang="en-US" smtClean="0"/>
              <a:t>12/15/2024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668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AF78-3B29-49D4-81C3-7555616E6373}" type="datetime1">
              <a:rPr lang="en-US" smtClean="0"/>
              <a:t>12/15/2024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52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48055-7455-47F1-BA44-73D8B83B9342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9373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46837-A547-4964-AC0B-E650641F7846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145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0451A-A87B-4BA7-B824-056B86D6CA5D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663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4BB19-EC7D-4033-B460-36F421974985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73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-1930400" y="6188076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C0512-7E02-4E40-BD9C-21FAB9932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913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1387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013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F40E0-E6EB-4A06-A23A-FAEAF1FE809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E73CF-C580-4B9B-819E-F0AF56E9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C4897-F721-4489-83C3-CD2672282672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Lập trình C#3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4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learn.microsoft.com/en-us/ef/core/modeling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751591" cy="75609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C#3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600" y="3299438"/>
            <a:ext cx="7244861" cy="1196362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FFC000"/>
                </a:solidFill>
              </a:rPr>
              <a:t>Bài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>
                <a:solidFill>
                  <a:srgbClr val="FFC000"/>
                </a:solidFill>
              </a:rPr>
              <a:t>9</a:t>
            </a:r>
            <a:r>
              <a:rPr lang="en-US" sz="3600" dirty="0" smtClean="0">
                <a:solidFill>
                  <a:srgbClr val="FFC000"/>
                </a:solidFill>
              </a:rPr>
              <a:t>: </a:t>
            </a:r>
            <a:r>
              <a:rPr lang="vi-VN" sz="3600" dirty="0">
                <a:solidFill>
                  <a:srgbClr val="FFC000"/>
                </a:solidFill>
              </a:rPr>
              <a:t>Data Annotation, Fluent API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1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Mục</a:t>
            </a:r>
            <a:r>
              <a:rPr lang="en-US" sz="48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latin typeface="+mn-lt"/>
              </a:rPr>
              <a:t>tiêu</a:t>
            </a:r>
            <a:endParaRPr lang="en-US" sz="4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¤"/>
            </a:pPr>
            <a:r>
              <a:rPr lang="en-US" sz="3200" dirty="0"/>
              <a:t>Entity Framework Core – Data Annotations</a:t>
            </a:r>
          </a:p>
          <a:p>
            <a:pPr>
              <a:buFont typeface="Wingdings" pitchFamily="2" charset="2"/>
              <a:buChar char="¤"/>
            </a:pPr>
            <a:r>
              <a:rPr lang="en-US" sz="3200" dirty="0"/>
              <a:t>Configuration Model</a:t>
            </a:r>
          </a:p>
          <a:p>
            <a:pPr>
              <a:buFont typeface="Wingdings" pitchFamily="2" charset="2"/>
              <a:buChar char="¤"/>
            </a:pPr>
            <a:r>
              <a:rPr lang="en-US" sz="3200" dirty="0"/>
              <a:t>Fluent API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5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Data Annotations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ASP.NET Core MVC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một phần của siêu dữ liệu (metadata - loại dữ liệu cung cấp thêm thông tin về đối tượng nào đó)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first.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sẽ sử dụng các thông tin này để tạo ra bảng dữ liệu có cấu trúc đúng 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domain classes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properties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domain classes.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Data annotation attribute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 thể được truy xuất tra cứu ở thời điểm thực thi bằng kỹ thuật gọi là reflection, truy xuất ngược từ đối tượng biết được nguồn gốc mà đối tượng đó sinh ra (lớp).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0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Data Annotations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First Approach: Định nghĩa schema trực tiếp trong code, tự động tạo database.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Dễ đọc, dễ hiểu: Cú pháp đơn giản, rõ ràng, giúp code dễ bảo trì hơn.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Giảm thiểu code boilerplate: Không cần viết nhiều code cấu hình Fluent API.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Tăng tốc độ phát triển: Nhanh chóng tạo schema cơ bản, dễ dàng thay đổi sau này.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Annotations.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annotation attribute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 Attributes (</a:t>
            </a:r>
            <a:r>
              <a:rPr lang="en-US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related Attributes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Related Attributes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1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Data Modelling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domain 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properties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domain 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csdl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B9CA41-1B41-41F2-A955-57C2BD9E0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765" y="1618834"/>
            <a:ext cx="6069624" cy="468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3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Data Modelling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Table Attribute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name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 table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F33AA0-2C85-CD28-749A-833B43357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057" y="1842810"/>
            <a:ext cx="4800599" cy="1854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FB53CC-D189-2D07-EFFD-74A6C8A7E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366" y="3127218"/>
            <a:ext cx="4248150" cy="2837384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5503985" y="2558562"/>
            <a:ext cx="2057400" cy="2287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53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Data Modelling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Column Attribute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Name, Data type, Column Order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/ Disabling identity column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D68F9E-CEF1-485F-9F3D-0259DB08C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940" y="1573588"/>
            <a:ext cx="5413514" cy="1771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01B082-C1D3-6172-D256-DB735C32D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772" y="3832225"/>
            <a:ext cx="3457575" cy="25241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7519C5-3901-4DC7-A1DA-B4F5E1AA2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2033" y="4756756"/>
            <a:ext cx="4162425" cy="188595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3314700" y="4024069"/>
            <a:ext cx="5295900" cy="279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4624754" y="4391631"/>
            <a:ext cx="96715" cy="1217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39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Data Modelling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ForeignKey</a:t>
            </a:r>
            <a:r>
              <a:rPr lang="en-US" sz="2400" dirty="0"/>
              <a:t> attribute: </a:t>
            </a:r>
            <a:r>
              <a:rPr lang="en-US" sz="2400" dirty="0" err="1"/>
              <a:t>có</a:t>
            </a:r>
            <a:r>
              <a:rPr lang="en-US" sz="2400" dirty="0"/>
              <a:t> 3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endParaRPr lang="en-US" sz="2400" dirty="0"/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property of the dependent class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5" name="Picture 2" descr="Foreign Key Attribute on Foreign Key property property of the dependent entity in EF Core">
            <a:extLst>
              <a:ext uri="{FF2B5EF4-FFF2-40B4-BE49-F238E27FC236}">
                <a16:creationId xmlns:a16="http://schemas.microsoft.com/office/drawing/2014/main" id="{D155BBDF-B3C5-4B73-9024-41B4CEA5A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27226"/>
            <a:ext cx="9144000" cy="44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54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Data Modelling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ForeignKey</a:t>
            </a:r>
            <a:r>
              <a:rPr lang="en-US" sz="2400" dirty="0"/>
              <a:t> attribute: </a:t>
            </a:r>
            <a:r>
              <a:rPr lang="en-US" sz="2400" dirty="0" err="1"/>
              <a:t>có</a:t>
            </a:r>
            <a:r>
              <a:rPr lang="en-US" sz="2400" dirty="0"/>
              <a:t> 3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endParaRPr lang="en-US" sz="2400" dirty="0"/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Navigational Property of  the dependent class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2" descr="Foreign Key Attribute on Navigational Property of the dependent class in EF Core">
            <a:extLst>
              <a:ext uri="{FF2B5EF4-FFF2-40B4-BE49-F238E27FC236}">
                <a16:creationId xmlns:a16="http://schemas.microsoft.com/office/drawing/2014/main" id="{1660B436-F775-42FA-AA07-610B65A74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2011362"/>
            <a:ext cx="5638799" cy="452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79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Data Modelling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ForeignKey</a:t>
            </a:r>
            <a:r>
              <a:rPr lang="en-US" sz="2400" dirty="0"/>
              <a:t> attribute: </a:t>
            </a:r>
            <a:r>
              <a:rPr lang="en-US" sz="2400" dirty="0" err="1"/>
              <a:t>có</a:t>
            </a:r>
            <a:r>
              <a:rPr lang="en-US" sz="2400" dirty="0"/>
              <a:t> 3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endParaRPr lang="en-US" sz="2400" dirty="0"/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Navigational Property of the Principal class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2" descr="Foreign Key Attribute on Navigational Property of the Principal class in EF Core">
            <a:extLst>
              <a:ext uri="{FF2B5EF4-FFF2-40B4-BE49-F238E27FC236}">
                <a16:creationId xmlns:a16="http://schemas.microsoft.com/office/drawing/2014/main" id="{CA8D4E50-A65C-4670-BD5D-31AFEEEFA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319" y="2078525"/>
            <a:ext cx="5257800" cy="453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74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Data Modelling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InverseProperty</a:t>
            </a:r>
            <a:r>
              <a:rPr lang="en-US" dirty="0"/>
              <a:t> Attribute :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2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2" descr="Using Inverse Property in EF Core">
            <a:extLst>
              <a:ext uri="{FF2B5EF4-FFF2-40B4-BE49-F238E27FC236}">
                <a16:creationId xmlns:a16="http://schemas.microsoft.com/office/drawing/2014/main" id="{72FF1E1F-1445-45FA-9E74-10A98D874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40" y="2438399"/>
            <a:ext cx="11357520" cy="391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63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Data Modelling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NotMapped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properties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9E600-AFA9-46A0-A46C-6EF2EF677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2171968"/>
            <a:ext cx="4808220" cy="3411237"/>
          </a:xfrm>
          <a:prstGeom prst="rect">
            <a:avLst/>
          </a:prstGeom>
        </p:spPr>
      </p:pic>
      <p:pic>
        <p:nvPicPr>
          <p:cNvPr id="10" name="Picture 2" descr="Data Annotation NotMapped Attribute in Entity Framework Code First">
            <a:extLst>
              <a:ext uri="{FF2B5EF4-FFF2-40B4-BE49-F238E27FC236}">
                <a16:creationId xmlns:a16="http://schemas.microsoft.com/office/drawing/2014/main" id="{50A30D8D-49A3-475F-918D-E6E053C76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411" y="2084045"/>
            <a:ext cx="5317528" cy="376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5151120" y="3552092"/>
            <a:ext cx="862818" cy="2373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5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Validation Related Attributes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domain 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properties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domain 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…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6)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86639A-B06D-4157-936A-19F0B5B30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626" y="1994632"/>
            <a:ext cx="6670430" cy="43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756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Configuring the Model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400" dirty="0"/>
              <a:t>Entity Framework code-first có khả năng tự động tạo cơ sở dữ liệu và bảng dữ liệu</a:t>
            </a:r>
            <a:r>
              <a:rPr lang="en-US" sz="2400" dirty="0"/>
              <a:t> </a:t>
            </a:r>
            <a:r>
              <a:rPr lang="en-US" sz="2400" dirty="0" err="1"/>
              <a:t>bao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vi-VN" sz="2400" dirty="0"/>
              <a:t> từ class.</a:t>
            </a:r>
            <a:endParaRPr lang="en-US" sz="2400" dirty="0"/>
          </a:p>
          <a:p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222222"/>
                </a:solidFill>
                <a:latin typeface="Verdana" panose="020B0604030504040204" pitchFamily="34" charset="0"/>
              </a:rPr>
              <a:t>Convention, Data Annotations, Fluent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21C722-3B74-BF3B-CC42-D19951A6C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236" y="2286000"/>
            <a:ext cx="6190126" cy="421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8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Fluent API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400" dirty="0"/>
              <a:t>Entity Framework Core Fluent API được sử dụng để xây dựng mô hình dựa trên các lớp thực thể.</a:t>
            </a:r>
            <a:endParaRPr lang="en-US" sz="2400" dirty="0"/>
          </a:p>
          <a:p>
            <a:r>
              <a:rPr lang="en-US" sz="2400" dirty="0"/>
              <a:t>Fluent API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mức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ưu</a:t>
            </a:r>
            <a:r>
              <a:rPr lang="en-US" sz="2400" dirty="0"/>
              <a:t> </a:t>
            </a:r>
            <a:r>
              <a:rPr lang="en-US" sz="2400" dirty="0" err="1"/>
              <a:t>tiên</a:t>
            </a:r>
            <a:r>
              <a:rPr lang="en-US" sz="2400" dirty="0"/>
              <a:t> </a:t>
            </a:r>
            <a:r>
              <a:rPr lang="en-US" sz="2400" dirty="0" err="1"/>
              <a:t>cao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r>
              <a:rPr lang="en-US" sz="2400" dirty="0"/>
              <a:t> conventions </a:t>
            </a:r>
            <a:r>
              <a:rPr lang="en-US" sz="2400" dirty="0" err="1"/>
              <a:t>và</a:t>
            </a:r>
            <a:r>
              <a:rPr lang="en-US" sz="2400" dirty="0"/>
              <a:t> data annotations</a:t>
            </a:r>
          </a:p>
          <a:p>
            <a:r>
              <a:rPr lang="en-US" sz="2400" dirty="0">
                <a:solidFill>
                  <a:srgbClr val="252525"/>
                </a:solidFill>
                <a:latin typeface="Roboto" panose="02000000000000000000" pitchFamily="2" charset="0"/>
              </a:rPr>
              <a:t>Entity Framework Core Fluent API </a:t>
            </a:r>
            <a:r>
              <a:rPr lang="en-US" sz="2400" dirty="0" err="1">
                <a:solidFill>
                  <a:srgbClr val="252525"/>
                </a:solidFill>
                <a:latin typeface="Roboto" panose="02000000000000000000" pitchFamily="2" charset="0"/>
              </a:rPr>
              <a:t>cung</a:t>
            </a:r>
            <a:r>
              <a:rPr lang="en-US" sz="2400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latin typeface="Roboto" panose="02000000000000000000" pitchFamily="2" charset="0"/>
              </a:rPr>
              <a:t>cấp</a:t>
            </a:r>
            <a:r>
              <a:rPr lang="en-US" sz="2400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latin typeface="Roboto" panose="02000000000000000000" pitchFamily="2" charset="0"/>
              </a:rPr>
              <a:t>các</a:t>
            </a:r>
            <a:r>
              <a:rPr lang="en-US" sz="2400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latin typeface="Roboto" panose="02000000000000000000" pitchFamily="2" charset="0"/>
              </a:rPr>
              <a:t>tính</a:t>
            </a:r>
            <a:r>
              <a:rPr lang="en-US" sz="2400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latin typeface="Roboto" panose="02000000000000000000" pitchFamily="2" charset="0"/>
              </a:rPr>
              <a:t>năng</a:t>
            </a:r>
            <a:r>
              <a:rPr lang="en-US" sz="2400" dirty="0">
                <a:solidFill>
                  <a:srgbClr val="252525"/>
                </a:solidFill>
                <a:latin typeface="Roboto" panose="02000000000000000000" pitchFamily="2" charset="0"/>
              </a:rPr>
              <a:t> </a:t>
            </a:r>
            <a:r>
              <a:rPr lang="en-US" sz="2400" dirty="0" err="1">
                <a:solidFill>
                  <a:srgbClr val="252525"/>
                </a:solidFill>
                <a:latin typeface="Roboto" panose="02000000000000000000" pitchFamily="2" charset="0"/>
              </a:rPr>
              <a:t>sau</a:t>
            </a:r>
            <a:r>
              <a:rPr lang="en-US" sz="2400" dirty="0">
                <a:solidFill>
                  <a:srgbClr val="252525"/>
                </a:solidFill>
                <a:latin typeface="Roboto" panose="02000000000000000000" pitchFamily="2" charset="0"/>
              </a:rPr>
              <a:t>:</a:t>
            </a:r>
          </a:p>
          <a:p>
            <a:pPr lvl="1"/>
            <a:r>
              <a:rPr lang="en-US" sz="2000" dirty="0"/>
              <a:t>Model Configuration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lập</a:t>
            </a:r>
            <a:r>
              <a:rPr lang="en-US" sz="2000" dirty="0"/>
              <a:t>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EF model </a:t>
            </a:r>
            <a:r>
              <a:rPr lang="en-US" sz="2000" dirty="0" err="1"/>
              <a:t>với</a:t>
            </a:r>
            <a:r>
              <a:rPr lang="en-US" sz="2000" dirty="0"/>
              <a:t> database</a:t>
            </a:r>
          </a:p>
          <a:p>
            <a:pPr lvl="1"/>
            <a:r>
              <a:rPr lang="en-US" sz="2000" dirty="0"/>
              <a:t>Entity Configuration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lập</a:t>
            </a:r>
            <a:r>
              <a:rPr lang="en-US" sz="2000" dirty="0"/>
              <a:t>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Primary Key, Alternate Key, Index, table name, one-to-one, one-to-many, many-to-many relationships,…</a:t>
            </a:r>
          </a:p>
          <a:p>
            <a:pPr lvl="1"/>
            <a:r>
              <a:rPr lang="en-US" sz="2000" dirty="0"/>
              <a:t>Property Configuration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lập</a:t>
            </a:r>
            <a:r>
              <a:rPr lang="en-US" sz="2000" dirty="0"/>
              <a:t>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: column name, default value, </a:t>
            </a:r>
            <a:r>
              <a:rPr lang="en-US" sz="2000" dirty="0" err="1"/>
              <a:t>nullability</a:t>
            </a:r>
            <a:r>
              <a:rPr lang="en-US" sz="2000" dirty="0"/>
              <a:t>, </a:t>
            </a:r>
            <a:r>
              <a:rPr lang="en-US" sz="2000" dirty="0" err="1"/>
              <a:t>Foreignkey</a:t>
            </a:r>
            <a:r>
              <a:rPr lang="en-US" sz="2000" dirty="0"/>
              <a:t>, data type,…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839000-F6A4-02E8-E8DD-8DE86B1C3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922" y="4429834"/>
            <a:ext cx="5536616" cy="192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6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Fluent API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>
                <a:solidFill>
                  <a:srgbClr val="252525"/>
                </a:solidFill>
                <a:latin typeface="Roboto" panose="02000000000000000000" pitchFamily="2" charset="0"/>
              </a:rPr>
              <a:t>Has/With được sử dụng rộng rãi khi định cấu hình mối quan hệ với Fluent API.</a:t>
            </a:r>
            <a:endParaRPr lang="en-US" dirty="0"/>
          </a:p>
          <a:p>
            <a:r>
              <a:rPr lang="en-US" dirty="0"/>
              <a:t>Fluent API Methods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HasOne</a:t>
            </a:r>
            <a:r>
              <a:rPr lang="en-US" dirty="0"/>
              <a:t>/</a:t>
            </a:r>
            <a:r>
              <a:rPr lang="en-US" dirty="0" err="1"/>
              <a:t>WithOne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One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one-one </a:t>
            </a:r>
            <a:r>
              <a:rPr lang="en-US" dirty="0" err="1"/>
              <a:t>hoặc</a:t>
            </a:r>
            <a:r>
              <a:rPr lang="en-US" dirty="0"/>
              <a:t> one-many</a:t>
            </a:r>
          </a:p>
          <a:p>
            <a:pPr lvl="1"/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HasMany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()/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WithMany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()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thiết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lập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cấu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hình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mối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quan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hệ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one-to-many</a:t>
            </a:r>
          </a:p>
          <a:p>
            <a:pPr lvl="1"/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HasKey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()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thiết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lập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cấu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hình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khóa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chính</a:t>
            </a:r>
            <a:endParaRPr lang="en-US" dirty="0">
              <a:solidFill>
                <a:srgbClr val="212529"/>
              </a:solidFill>
              <a:latin typeface="lora" pitchFamily="2" charset="0"/>
            </a:endParaRPr>
          </a:p>
          <a:p>
            <a:pPr lvl="1"/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HasIndex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()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thiết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lập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cấu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hình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Index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dữ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liệu</a:t>
            </a:r>
            <a:endParaRPr lang="en-US" dirty="0">
              <a:solidFill>
                <a:srgbClr val="212529"/>
              </a:solidFill>
              <a:latin typeface="lora" pitchFamily="2" charset="0"/>
            </a:endParaRPr>
          </a:p>
          <a:p>
            <a:pPr lvl="1"/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HasForeignKey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()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thiết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lập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cấu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hình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foreign key</a:t>
            </a:r>
          </a:p>
          <a:p>
            <a:pPr lvl="1"/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HasDefaultSchema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()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thiết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lập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cấu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hình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schema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cho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database</a:t>
            </a:r>
          </a:p>
          <a:p>
            <a:pPr lvl="1"/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…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Sv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tham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khảo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đầy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</a:t>
            </a:r>
            <a:r>
              <a:rPr lang="en-US" dirty="0" err="1">
                <a:solidFill>
                  <a:srgbClr val="212529"/>
                </a:solidFill>
                <a:latin typeface="lora" pitchFamily="2" charset="0"/>
              </a:rPr>
              <a:t>đủ</a:t>
            </a:r>
            <a:r>
              <a:rPr lang="en-US" dirty="0">
                <a:solidFill>
                  <a:srgbClr val="212529"/>
                </a:solidFill>
                <a:latin typeface="lora" pitchFamily="2" charset="0"/>
              </a:rPr>
              <a:t> : </a:t>
            </a:r>
            <a:r>
              <a:rPr lang="en-US" dirty="0">
                <a:hlinkClick r:id="rId2"/>
              </a:rPr>
              <a:t>Creating and Configuring a Model - EF Core | Microsoft Learn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2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One to One Relationship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vi-VN" dirty="0"/>
              <a:t>Convention</a:t>
            </a:r>
            <a:r>
              <a:rPr lang="en-US" dirty="0"/>
              <a:t> (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4)</a:t>
            </a:r>
          </a:p>
          <a:p>
            <a:r>
              <a:rPr lang="en-US" dirty="0" err="1"/>
              <a:t>Dùng</a:t>
            </a:r>
            <a:r>
              <a:rPr lang="en-US" dirty="0"/>
              <a:t> Data Annotations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97CF18-C0C5-4B7A-91EB-81314BE68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50" y="2127824"/>
            <a:ext cx="8115299" cy="430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One to One Relationship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Dùng</a:t>
            </a:r>
            <a:r>
              <a:rPr lang="en-US" sz="2400" dirty="0"/>
              <a:t> Fluent API </a:t>
            </a:r>
            <a:r>
              <a:rPr lang="en-US" sz="2400" dirty="0" err="1"/>
              <a:t>thông</a:t>
            </a:r>
            <a:r>
              <a:rPr lang="en-US" sz="2400" dirty="0"/>
              <a:t> qua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HasOne</a:t>
            </a:r>
            <a:r>
              <a:rPr lang="en-US" sz="2400" dirty="0"/>
              <a:t>/</a:t>
            </a:r>
            <a:r>
              <a:rPr lang="en-US" sz="2400" dirty="0" err="1"/>
              <a:t>WithOne</a:t>
            </a:r>
            <a:endParaRPr lang="en-US" sz="2400" dirty="0"/>
          </a:p>
          <a:p>
            <a:pPr lvl="1"/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Employee </a:t>
            </a:r>
            <a:r>
              <a:rPr lang="en-US" dirty="0" smtClean="0"/>
              <a:t>class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latin typeface="-apple-system"/>
              </a:rPr>
              <a:t>EmployeeAddress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 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2" descr="One to One Relationship using HasOne/WithOne Using Fluent API">
            <a:extLst>
              <a:ext uri="{FF2B5EF4-FFF2-40B4-BE49-F238E27FC236}">
                <a16:creationId xmlns:a16="http://schemas.microsoft.com/office/drawing/2014/main" id="{C4BBA265-7100-4B7E-A687-CCC6C4E68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219" y="1984132"/>
            <a:ext cx="7908681" cy="316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434619-152A-46BC-AF9E-E19BCC801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479" y="5490455"/>
            <a:ext cx="4053923" cy="119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1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One to Many Relationship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Dùng</a:t>
            </a:r>
            <a:r>
              <a:rPr lang="en-US" dirty="0"/>
              <a:t> Convention (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4)</a:t>
            </a:r>
          </a:p>
          <a:p>
            <a:r>
              <a:rPr lang="en-US" dirty="0" err="1"/>
              <a:t>Dùng</a:t>
            </a:r>
            <a:r>
              <a:rPr lang="en-US" dirty="0"/>
              <a:t> Data Annotations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FC34D2B7-DE06-42CB-8AC2-AF3A422CA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370330"/>
            <a:ext cx="914400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28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One to Many Relationship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Dùng</a:t>
            </a:r>
            <a:r>
              <a:rPr lang="en-US" sz="2400" dirty="0"/>
              <a:t> Fluent API qua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HasOne</a:t>
            </a:r>
            <a:r>
              <a:rPr lang="en-US" sz="2400" dirty="0"/>
              <a:t>/</a:t>
            </a:r>
            <a:r>
              <a:rPr lang="en-US" sz="2400" dirty="0" err="1"/>
              <a:t>WithMany</a:t>
            </a:r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EE276F-6E23-4C4F-8AC5-852E76277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884454"/>
            <a:ext cx="9144000" cy="405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3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Many to Many Relationship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Dùng</a:t>
            </a:r>
            <a:r>
              <a:rPr lang="en-US" sz="2400" dirty="0"/>
              <a:t> Data Annotations: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thêm</a:t>
            </a:r>
            <a:r>
              <a:rPr lang="en-US" sz="2400" dirty="0"/>
              <a:t> Entity class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2 class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– </a:t>
            </a:r>
            <a:r>
              <a:rPr lang="en-US" sz="2400" dirty="0" err="1"/>
              <a:t>nhiều</a:t>
            </a:r>
            <a:endParaRPr lang="en-US" sz="2000" dirty="0"/>
          </a:p>
          <a:p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model: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AA7798-BD8C-4D7F-9509-EC6BE81F7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810" y="2695576"/>
            <a:ext cx="739638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6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Many to Many Relationship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17C6A2D-D461-44B4-9F05-8DDFBB78C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496" y="924953"/>
            <a:ext cx="8209212" cy="572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53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Many to Many Relationship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Dùng</a:t>
            </a:r>
            <a:r>
              <a:rPr lang="en-US" sz="2400" dirty="0"/>
              <a:t> Fluent API: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Entity class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2 class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–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lập</a:t>
            </a:r>
            <a:r>
              <a:rPr lang="en-US" sz="2400" dirty="0"/>
              <a:t> 2 </a:t>
            </a:r>
            <a:r>
              <a:rPr lang="en-US" sz="2400" dirty="0" err="1"/>
              <a:t>mối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BC0199-47FB-454B-9F17-6E3097CFE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061" y="1978270"/>
            <a:ext cx="6191250" cy="2543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DAF72B-9F5A-4628-B9B7-2D2EEB780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046" y="4652962"/>
            <a:ext cx="3009900" cy="1885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144C97-8B63-4806-972A-FFD96B7A5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9522" y="4614863"/>
            <a:ext cx="4371975" cy="4667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3A36FB-959C-42DC-B7F6-E312E1F597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522" y="5081588"/>
            <a:ext cx="3657600" cy="6953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BCDC5B-325C-46A0-A4D9-AABD73D948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5776912"/>
            <a:ext cx="36576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7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5125"/>
            <a:ext cx="11614638" cy="593237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+mn-lt"/>
              </a:rPr>
              <a:t>Cascade Delete</a:t>
            </a:r>
            <a:endParaRPr lang="en-US" sz="4800" b="1" dirty="0">
              <a:solidFill>
                <a:srgbClr val="FF0000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33038"/>
            <a:ext cx="4114800" cy="365125"/>
          </a:xfrm>
        </p:spPr>
        <p:txBody>
          <a:bodyPr/>
          <a:lstStyle/>
          <a:p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25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340" y="0"/>
            <a:ext cx="1828919" cy="1312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E6482F-40FD-44C4-0932-664B4FEF3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23" y="958362"/>
            <a:ext cx="5021602" cy="403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0AC8FE-39C1-80DA-BC01-04987B462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18" y="5265737"/>
            <a:ext cx="5337588" cy="10906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27BA63-8C9F-74C2-8E90-6CEDCFC5F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036644"/>
            <a:ext cx="3849565" cy="42291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5934808" y="2977662"/>
            <a:ext cx="1828800" cy="2741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70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>
                <a:solidFill>
                  <a:srgbClr val="FFC000"/>
                </a:solidFill>
              </a:rPr>
              <a:t>Hãy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thực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hiện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các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ví</a:t>
            </a:r>
            <a:r>
              <a:rPr lang="en-US" sz="3600" dirty="0" smtClean="0">
                <a:solidFill>
                  <a:srgbClr val="FFC000"/>
                </a:solidFill>
              </a:rPr>
              <a:t> </a:t>
            </a:r>
            <a:r>
              <a:rPr lang="en-US" sz="3600" dirty="0" err="1" smtClean="0">
                <a:solidFill>
                  <a:srgbClr val="FFC000"/>
                </a:solidFill>
              </a:rPr>
              <a:t>dụ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005146"/>
            <a:ext cx="12054254" cy="7925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vi-VN" dirty="0"/>
              <a:t>Lập 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340475"/>
            <a:ext cx="533400" cy="517525"/>
          </a:xfrm>
          <a:prstGeom prst="rect">
            <a:avLst/>
          </a:prstGeom>
        </p:spPr>
        <p:txBody>
          <a:bodyPr/>
          <a:lstStyle/>
          <a:p>
            <a:fld id="{8AACEE26-D979-411F-B229-D9F26BAEDF07}" type="slidenum">
              <a:rPr lang="en-US" smtClean="0"/>
              <a:t>26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	  </a:t>
            </a:r>
            <a:r>
              <a:rPr lang="en-US" sz="6000" dirty="0" smtClean="0">
                <a:solidFill>
                  <a:schemeClr val="bg1"/>
                </a:solidFill>
              </a:rPr>
              <a:t>DEMO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8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2057401"/>
            <a:ext cx="10511204" cy="397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Entity Framework Core – Data Annotations</a:t>
            </a:r>
            <a:b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Configuration Model</a:t>
            </a:r>
            <a:b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Fluent API</a:t>
            </a:r>
            <a:endParaRPr lang="en-US" sz="3200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-1" y="6296202"/>
            <a:ext cx="11933241" cy="48912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 smtClean="0"/>
              <a:t>L</a:t>
            </a:r>
            <a:r>
              <a:rPr lang="vi-VN" dirty="0" smtClean="0"/>
              <a:t>ập </a:t>
            </a:r>
            <a:r>
              <a:rPr lang="vi-VN" dirty="0"/>
              <a:t>trình C#3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 flipH="1">
            <a:off x="888522" y="6155524"/>
            <a:ext cx="1283177" cy="51405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1	</a:t>
            </a: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5DB8A3-5580-499D-AB0C-169958D57F6D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1142512"/>
            <a:ext cx="11711354" cy="5029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0" dirty="0" smtClean="0">
                <a:solidFill>
                  <a:srgbClr val="FF0000"/>
                </a:solidFill>
              </a:rPr>
              <a:t>			</a:t>
            </a:r>
            <a:r>
              <a:rPr lang="en-US" sz="6000" dirty="0" err="1" smtClean="0">
                <a:solidFill>
                  <a:schemeClr val="bg1"/>
                </a:solidFill>
              </a:rPr>
              <a:t>Tổng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kết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bài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học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22" y="0"/>
            <a:ext cx="1828919" cy="13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0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966</Words>
  <Application>Microsoft Office PowerPoint</Application>
  <PresentationFormat>Widescreen</PresentationFormat>
  <Paragraphs>205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46" baseType="lpstr">
      <vt:lpstr>-apple-system</vt:lpstr>
      <vt:lpstr>Arial</vt:lpstr>
      <vt:lpstr>Calibri</vt:lpstr>
      <vt:lpstr>Calibri Light</vt:lpstr>
      <vt:lpstr>Cambria</vt:lpstr>
      <vt:lpstr>Courier New</vt:lpstr>
      <vt:lpstr>lora</vt:lpstr>
      <vt:lpstr>Roboto</vt:lpstr>
      <vt:lpstr>Roboto Lt</vt:lpstr>
      <vt:lpstr>Segoe UI</vt:lpstr>
      <vt:lpstr>Times New Roman</vt:lpstr>
      <vt:lpstr>Tw Cen MT</vt:lpstr>
      <vt:lpstr>Tw Cen MT Condensed</vt:lpstr>
      <vt:lpstr>Verdana</vt:lpstr>
      <vt:lpstr>Wingdings</vt:lpstr>
      <vt:lpstr>Wingdings 3</vt:lpstr>
      <vt:lpstr>Office Theme</vt:lpstr>
      <vt:lpstr>ModernClassicBlock-3</vt:lpstr>
      <vt:lpstr>Custom Design</vt:lpstr>
      <vt:lpstr>Lập Trình C#3</vt:lpstr>
      <vt:lpstr>Mục tiêu</vt:lpstr>
      <vt:lpstr>Data Annotations</vt:lpstr>
      <vt:lpstr>Data Annotations</vt:lpstr>
      <vt:lpstr>Data Modelling Attributes</vt:lpstr>
      <vt:lpstr>Data Modelling Attributes</vt:lpstr>
      <vt:lpstr>Data Modelling Attributes</vt:lpstr>
      <vt:lpstr>Data Modelling Attributes</vt:lpstr>
      <vt:lpstr>Data Modelling Attributes</vt:lpstr>
      <vt:lpstr>Data Modelling Attributes</vt:lpstr>
      <vt:lpstr>Data Modelling Attributes</vt:lpstr>
      <vt:lpstr>Data Modelling Attributes</vt:lpstr>
      <vt:lpstr>Validation Related Attributes</vt:lpstr>
      <vt:lpstr>Hãy thực hiện các ví dụ</vt:lpstr>
      <vt:lpstr>Configuring the Model</vt:lpstr>
      <vt:lpstr>Fluent API</vt:lpstr>
      <vt:lpstr>Fluent API</vt:lpstr>
      <vt:lpstr>One to One Relationship</vt:lpstr>
      <vt:lpstr>One to One Relationship</vt:lpstr>
      <vt:lpstr>One to Many Relationship</vt:lpstr>
      <vt:lpstr>One to Many Relationship</vt:lpstr>
      <vt:lpstr>Many to Many Relationship</vt:lpstr>
      <vt:lpstr>Many to Many Relationship</vt:lpstr>
      <vt:lpstr>Many to Many Relationship</vt:lpstr>
      <vt:lpstr>Cascade Delete</vt:lpstr>
      <vt:lpstr>Hãy thực hiện các ví dụ</vt:lpstr>
      <vt:lpstr>Entity Framework Core – Data Annotations Configuration Model Fluent API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C#3</dc:title>
  <dc:creator>Nguy Nguyen Uy Vu</dc:creator>
  <cp:lastModifiedBy>Nguy Nguyen Uy Vu</cp:lastModifiedBy>
  <cp:revision>75</cp:revision>
  <dcterms:created xsi:type="dcterms:W3CDTF">2024-12-10T15:23:11Z</dcterms:created>
  <dcterms:modified xsi:type="dcterms:W3CDTF">2024-12-15T10:06:57Z</dcterms:modified>
</cp:coreProperties>
</file>