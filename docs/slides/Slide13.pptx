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media/image11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8.jpg" ContentType="image/jpg"/>
  <Override PartName="/ppt/media/image20.jpg" ContentType="image/jpg"/>
  <Override PartName="/ppt/media/image21.jpg" ContentType="image/jpg"/>
  <Override PartName="/ppt/media/image29.jpg" ContentType="image/jpg"/>
  <Override PartName="/ppt/media/image31.jpg" ContentType="image/jpg"/>
  <Override PartName="/ppt/media/image33.jpg" ContentType="image/jpg"/>
  <Override PartName="/ppt/media/image35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2.jpg" ContentType="image/jpg"/>
  <Override PartName="/ppt/media/image46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17" r:id="rId3"/>
  </p:sldMasterIdLst>
  <p:notesMasterIdLst>
    <p:notesMasterId r:id="rId37"/>
  </p:notesMasterIdLst>
  <p:sldIdLst>
    <p:sldId id="257" r:id="rId4"/>
    <p:sldId id="258" r:id="rId5"/>
    <p:sldId id="259" r:id="rId6"/>
    <p:sldId id="427" r:id="rId7"/>
    <p:sldId id="428" r:id="rId8"/>
    <p:sldId id="429" r:id="rId9"/>
    <p:sldId id="430" r:id="rId10"/>
    <p:sldId id="431" r:id="rId11"/>
    <p:sldId id="432" r:id="rId12"/>
    <p:sldId id="433" r:id="rId13"/>
    <p:sldId id="332" r:id="rId14"/>
    <p:sldId id="434" r:id="rId15"/>
    <p:sldId id="435" r:id="rId16"/>
    <p:sldId id="436" r:id="rId17"/>
    <p:sldId id="437" r:id="rId18"/>
    <p:sldId id="357" r:id="rId19"/>
    <p:sldId id="438" r:id="rId20"/>
    <p:sldId id="439" r:id="rId21"/>
    <p:sldId id="440" r:id="rId22"/>
    <p:sldId id="441" r:id="rId23"/>
    <p:sldId id="442" r:id="rId24"/>
    <p:sldId id="443" r:id="rId25"/>
    <p:sldId id="444" r:id="rId26"/>
    <p:sldId id="445" r:id="rId27"/>
    <p:sldId id="446" r:id="rId28"/>
    <p:sldId id="447" r:id="rId29"/>
    <p:sldId id="448" r:id="rId30"/>
    <p:sldId id="449" r:id="rId31"/>
    <p:sldId id="450" r:id="rId32"/>
    <p:sldId id="451" r:id="rId33"/>
    <p:sldId id="452" r:id="rId34"/>
    <p:sldId id="453" r:id="rId35"/>
    <p:sldId id="28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60"/>
  </p:normalViewPr>
  <p:slideViewPr>
    <p:cSldViewPr snapToGrid="0">
      <p:cViewPr varScale="1">
        <p:scale>
          <a:sx n="87" d="100"/>
          <a:sy n="87" d="100"/>
        </p:scale>
        <p:origin x="5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67F05-D95D-49FE-87B7-67C84346D2CD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6582C-81C5-4156-B658-E10D67690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E5FABD-26C8-4F74-B1E3-45BC91BC9D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521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49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8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48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9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7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8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8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0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219262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79988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187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26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07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23546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1410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6061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2893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286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3657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273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8673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4083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224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4320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2175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850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580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9458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4864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5573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615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3317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5324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1407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90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3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78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2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2519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6331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5439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7721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017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294815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28842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62787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74373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74826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6630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4270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13903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78662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2790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2682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2450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8561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5008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235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532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63623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5182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886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25001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3161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B4B414-6006-A545-91A5-6439F5733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6400" y="4038600"/>
            <a:ext cx="6705600" cy="830884"/>
          </a:xfrm>
        </p:spPr>
        <p:txBody>
          <a:bodyPr>
            <a:normAutofit/>
          </a:bodyPr>
          <a:lstStyle>
            <a:lvl1pPr algn="l">
              <a:defRPr sz="36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java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7244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 descr="Résultat de recherche d'images pour &quot;testing&quot;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388" y="2439665"/>
            <a:ext cx="2827624" cy="203489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C30FD-63C3-C741-9C8B-9481A688A7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381000"/>
            <a:ext cx="396888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533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74638"/>
            <a:ext cx="8839200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F313-9C13-47C6-A228-B55986214473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8719"/>
            <a:ext cx="2032000" cy="461818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983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6EF9-73EC-47CA-9E52-574751B1CDA3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965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F786-C4DF-431A-9246-1EC1829B2C78}" type="datetime1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5746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9D84-263E-478C-94B6-63AC70204759}" type="datetime1">
              <a:rPr lang="en-US" smtClean="0"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822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8565-00B5-4601-AD26-950DAB626426}" type="datetime1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1668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AF78-3B29-49D4-81C3-7555616E6373}" type="datetime1">
              <a:rPr lang="en-US" smtClean="0"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52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8055-7455-47F1-BA44-73D8B83B9342}" type="datetime1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9373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46837-A547-4964-AC0B-E650641F7846}" type="datetime1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145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0451A-A87B-4BA7-B824-056B86D6CA5D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663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4BB19-EC7D-4033-B460-36F421974985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73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-1930400" y="6188076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7C0512-7E02-4E40-BD9C-21FAB99329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9138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1387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013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0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F40E0-E6EB-4A06-A23A-FAEAF1FE809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8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5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C4897-F721-4489-83C3-CD2672282672}" type="datetime1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4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751591" cy="75609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C#3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600" y="3299438"/>
            <a:ext cx="7244861" cy="1196362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rgbClr val="FFC000"/>
                </a:solidFill>
              </a:rPr>
              <a:t>Bài</a:t>
            </a:r>
            <a:r>
              <a:rPr lang="en-US" sz="3200" dirty="0">
                <a:solidFill>
                  <a:srgbClr val="FFC000"/>
                </a:solidFill>
              </a:rPr>
              <a:t> </a:t>
            </a:r>
            <a:r>
              <a:rPr lang="en-US" sz="3200" dirty="0" smtClean="0">
                <a:solidFill>
                  <a:srgbClr val="FFC000"/>
                </a:solidFill>
              </a:rPr>
              <a:t>13: </a:t>
            </a:r>
            <a:r>
              <a:rPr lang="en-US" sz="3200" b="1" dirty="0" smtClean="0">
                <a:solidFill>
                  <a:srgbClr val="FFC000"/>
                </a:solidFill>
                <a:cs typeface="Segoe UI"/>
              </a:rPr>
              <a:t>WEB</a:t>
            </a:r>
            <a:r>
              <a:rPr lang="en-US" sz="3200" b="1" spc="90" dirty="0" smtClean="0">
                <a:solidFill>
                  <a:srgbClr val="FFC000"/>
                </a:solidFill>
                <a:cs typeface="Segoe UI"/>
              </a:rPr>
              <a:t> </a:t>
            </a:r>
            <a:r>
              <a:rPr lang="en-US" sz="3200" b="1" dirty="0">
                <a:solidFill>
                  <a:srgbClr val="FFC000"/>
                </a:solidFill>
                <a:cs typeface="Segoe UI"/>
              </a:rPr>
              <a:t>APIS</a:t>
            </a:r>
            <a:r>
              <a:rPr lang="en-US" sz="3200" b="1" spc="114" dirty="0">
                <a:solidFill>
                  <a:srgbClr val="FFC000"/>
                </a:solidFill>
                <a:cs typeface="Segoe UI"/>
              </a:rPr>
              <a:t> </a:t>
            </a:r>
            <a:r>
              <a:rPr lang="en-US" sz="3200" b="1" dirty="0" smtClean="0">
                <a:solidFill>
                  <a:srgbClr val="FFC000"/>
                </a:solidFill>
                <a:cs typeface="Segoe UI"/>
              </a:rPr>
              <a:t>–</a:t>
            </a:r>
            <a:r>
              <a:rPr lang="en-US" sz="3200" b="1" spc="-25" dirty="0" smtClean="0">
                <a:solidFill>
                  <a:srgbClr val="FFC000"/>
                </a:solidFill>
                <a:cs typeface="Segoe UI"/>
              </a:rPr>
              <a:t> SQL Server</a:t>
            </a:r>
            <a:endParaRPr lang="en-US" sz="3200" dirty="0">
              <a:solidFill>
                <a:srgbClr val="FFC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1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Mục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tiêu</a:t>
            </a:r>
            <a:endParaRPr lang="en-US" sz="4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>
              <a:spcBef>
                <a:spcPts val="775"/>
              </a:spcBef>
              <a:buFont typeface="Wingdings"/>
              <a:buChar char=""/>
              <a:tabLst>
                <a:tab pos="355600" algn="l"/>
              </a:tabLst>
            </a:pPr>
            <a:r>
              <a:rPr lang="en-US" sz="3200" dirty="0" smtClean="0">
                <a:latin typeface="Segoe UI"/>
                <a:cs typeface="Segoe UI"/>
              </a:rPr>
              <a:t>Web</a:t>
            </a:r>
            <a:r>
              <a:rPr lang="en-US" sz="3200" spc="-50" dirty="0" smtClean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API</a:t>
            </a:r>
            <a:r>
              <a:rPr lang="en-US" sz="3200" spc="-65" dirty="0">
                <a:latin typeface="Segoe UI"/>
                <a:cs typeface="Segoe UI"/>
              </a:rPr>
              <a:t> </a:t>
            </a:r>
            <a:r>
              <a:rPr lang="en-US" sz="3200" spc="-35" dirty="0">
                <a:latin typeface="Segoe UI"/>
                <a:cs typeface="Segoe UI"/>
              </a:rPr>
              <a:t>Template</a:t>
            </a:r>
            <a:r>
              <a:rPr lang="en-US" sz="3200" spc="-55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–</a:t>
            </a:r>
            <a:r>
              <a:rPr lang="en-US" sz="3200" spc="-60" dirty="0">
                <a:latin typeface="Segoe UI"/>
                <a:cs typeface="Segoe UI"/>
              </a:rPr>
              <a:t> </a:t>
            </a:r>
            <a:r>
              <a:rPr lang="en-US" sz="3200" dirty="0" err="1">
                <a:latin typeface="Segoe UI"/>
                <a:cs typeface="Segoe UI"/>
              </a:rPr>
              <a:t>Sql</a:t>
            </a:r>
            <a:r>
              <a:rPr lang="en-US" sz="3200" spc="-65" dirty="0">
                <a:latin typeface="Segoe UI"/>
                <a:cs typeface="Segoe UI"/>
              </a:rPr>
              <a:t> </a:t>
            </a:r>
            <a:r>
              <a:rPr lang="en-US" sz="3200" spc="-10" dirty="0">
                <a:latin typeface="Segoe UI"/>
                <a:cs typeface="Segoe UI"/>
              </a:rPr>
              <a:t>Server</a:t>
            </a:r>
            <a:endParaRPr lang="en-US" sz="3200" dirty="0">
              <a:latin typeface="Segoe UI"/>
              <a:cs typeface="Segoe UI"/>
            </a:endParaRPr>
          </a:p>
          <a:p>
            <a:pPr marL="355600">
              <a:spcBef>
                <a:spcPts val="675"/>
              </a:spcBef>
              <a:buFont typeface="Wingdings"/>
              <a:buChar char=""/>
              <a:tabLst>
                <a:tab pos="355600" algn="l"/>
              </a:tabLst>
            </a:pPr>
            <a:r>
              <a:rPr lang="en-US" sz="3200" dirty="0" smtClean="0">
                <a:latin typeface="Segoe UI"/>
                <a:cs typeface="Segoe UI"/>
              </a:rPr>
              <a:t>Web</a:t>
            </a:r>
            <a:r>
              <a:rPr lang="en-US" sz="3200" spc="-40" dirty="0" smtClean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API</a:t>
            </a:r>
            <a:r>
              <a:rPr lang="en-US" sz="3200" spc="-55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user</a:t>
            </a:r>
            <a:r>
              <a:rPr lang="en-US" sz="3200" spc="-40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define</a:t>
            </a:r>
            <a:r>
              <a:rPr lang="en-US" sz="3200" spc="-50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–</a:t>
            </a:r>
            <a:r>
              <a:rPr lang="en-US" sz="3200" spc="-50" dirty="0">
                <a:latin typeface="Segoe UI"/>
                <a:cs typeface="Segoe UI"/>
              </a:rPr>
              <a:t> </a:t>
            </a:r>
            <a:r>
              <a:rPr lang="en-US" sz="3200" dirty="0" err="1">
                <a:latin typeface="Segoe UI"/>
                <a:cs typeface="Segoe UI"/>
              </a:rPr>
              <a:t>Sql</a:t>
            </a:r>
            <a:r>
              <a:rPr lang="en-US" sz="3200" spc="-55" dirty="0">
                <a:latin typeface="Segoe UI"/>
                <a:cs typeface="Segoe UI"/>
              </a:rPr>
              <a:t> </a:t>
            </a:r>
            <a:r>
              <a:rPr lang="en-US" sz="3200" spc="-10" dirty="0">
                <a:latin typeface="Segoe UI"/>
                <a:cs typeface="Segoe UI"/>
              </a:rPr>
              <a:t>Server</a:t>
            </a:r>
            <a:endParaRPr lang="en-US" sz="3200" dirty="0">
              <a:latin typeface="Segoe UI"/>
              <a:cs typeface="Segoe UI"/>
            </a:endParaRPr>
          </a:p>
          <a:p>
            <a:pPr marL="355600">
              <a:spcBef>
                <a:spcPts val="670"/>
              </a:spcBef>
              <a:buFont typeface="Wingdings"/>
              <a:buChar char=""/>
              <a:tabLst>
                <a:tab pos="355600" algn="l"/>
              </a:tabLst>
            </a:pPr>
            <a:r>
              <a:rPr lang="en-US" sz="3200" dirty="0" smtClean="0">
                <a:latin typeface="Segoe UI"/>
                <a:cs typeface="Segoe UI"/>
              </a:rPr>
              <a:t>Web</a:t>
            </a:r>
            <a:r>
              <a:rPr lang="en-US" sz="3200" spc="-85" dirty="0" smtClean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Client</a:t>
            </a:r>
            <a:r>
              <a:rPr lang="en-US" sz="3200" spc="-80" dirty="0">
                <a:latin typeface="Segoe UI"/>
                <a:cs typeface="Segoe UI"/>
              </a:rPr>
              <a:t> </a:t>
            </a:r>
            <a:r>
              <a:rPr lang="en-US" sz="3200" dirty="0" err="1">
                <a:latin typeface="Segoe UI"/>
                <a:cs typeface="Segoe UI"/>
              </a:rPr>
              <a:t>gọi</a:t>
            </a:r>
            <a:r>
              <a:rPr lang="en-US" sz="3200" spc="-100" dirty="0">
                <a:latin typeface="Segoe UI"/>
                <a:cs typeface="Segoe UI"/>
              </a:rPr>
              <a:t> </a:t>
            </a:r>
            <a:r>
              <a:rPr lang="en-US" sz="3200" spc="-10" dirty="0">
                <a:latin typeface="Segoe UI"/>
                <a:cs typeface="Segoe UI"/>
              </a:rPr>
              <a:t>RESTful</a:t>
            </a:r>
            <a:r>
              <a:rPr lang="en-US" sz="3200" spc="-90" dirty="0">
                <a:latin typeface="Segoe UI"/>
                <a:cs typeface="Segoe UI"/>
              </a:rPr>
              <a:t> </a:t>
            </a:r>
            <a:r>
              <a:rPr lang="en-US" sz="3200" spc="-20" dirty="0">
                <a:latin typeface="Segoe UI"/>
                <a:cs typeface="Segoe UI"/>
              </a:rPr>
              <a:t>APIs</a:t>
            </a:r>
            <a:endParaRPr lang="en-US" sz="3200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5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WEB API - ASP.NET CORE – SQL SERVER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1800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latin typeface="Segoe UI"/>
                <a:cs typeface="Segoe UI"/>
              </a:rPr>
              <a:t>web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API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-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spc="-55" dirty="0">
                <a:latin typeface="Segoe UI"/>
                <a:cs typeface="Segoe UI"/>
              </a:rPr>
              <a:t>ASP.NET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Core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kết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hợp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được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với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nhiều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spc="-20" dirty="0" smtClean="0">
                <a:latin typeface="Segoe UI"/>
                <a:cs typeface="Segoe UI"/>
              </a:rPr>
              <a:t>loại</a:t>
            </a:r>
            <a:r>
              <a:rPr lang="en-US" dirty="0" smtClean="0">
                <a:latin typeface="Segoe UI"/>
                <a:cs typeface="Segoe UI"/>
              </a:rPr>
              <a:t> </a:t>
            </a:r>
            <a:r>
              <a:rPr lang="vi-VN" dirty="0" smtClean="0">
                <a:latin typeface="Segoe UI"/>
                <a:cs typeface="Segoe UI"/>
              </a:rPr>
              <a:t>csdl</a:t>
            </a:r>
            <a:r>
              <a:rPr lang="vi-VN" spc="-50" dirty="0" smtClean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khác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nhau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(MySql,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Mongodb,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Sql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server…)</a:t>
            </a:r>
            <a:endParaRPr lang="vi-VN" dirty="0">
              <a:latin typeface="Segoe UI"/>
              <a:cs typeface="Segoe UI"/>
            </a:endParaRPr>
          </a:p>
          <a:p>
            <a:pPr marL="354965" indent="-342265">
              <a:spcBef>
                <a:spcPts val="67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latin typeface="Segoe UI"/>
                <a:cs typeface="Segoe UI"/>
              </a:rPr>
              <a:t>Có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thể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sử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dụng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template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API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hoặc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tự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tạo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API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spc="-10" dirty="0" smtClean="0">
                <a:latin typeface="Segoe UI"/>
                <a:cs typeface="Segoe UI"/>
              </a:rPr>
              <a:t>tương</a:t>
            </a:r>
            <a:r>
              <a:rPr lang="en-US" dirty="0" smtClean="0">
                <a:latin typeface="Segoe UI"/>
                <a:cs typeface="Segoe UI"/>
              </a:rPr>
              <a:t> </a:t>
            </a:r>
            <a:r>
              <a:rPr lang="vi-VN" dirty="0" smtClean="0">
                <a:latin typeface="Segoe UI"/>
                <a:cs typeface="Segoe UI"/>
              </a:rPr>
              <a:t>tác</a:t>
            </a:r>
            <a:r>
              <a:rPr lang="vi-VN" spc="-75" dirty="0" smtClean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trên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spc="-20" dirty="0">
                <a:latin typeface="Segoe UI"/>
                <a:cs typeface="Segoe UI"/>
              </a:rPr>
              <a:t>csdl</a:t>
            </a:r>
            <a:endParaRPr lang="vi-VN" dirty="0">
              <a:latin typeface="Segoe UI"/>
              <a:cs typeface="Segoe UI"/>
            </a:endParaRPr>
          </a:p>
          <a:p>
            <a:pPr marL="355600" marR="526415">
              <a:lnSpc>
                <a:spcPct val="98800"/>
              </a:lnSpc>
              <a:spcBef>
                <a:spcPts val="715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latin typeface="Segoe UI"/>
                <a:cs typeface="Segoe UI"/>
              </a:rPr>
              <a:t>EF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Core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hỗ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trợ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cơ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chế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Scaffold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tự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tạo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controller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spc="-25" dirty="0">
                <a:latin typeface="Segoe UI"/>
                <a:cs typeface="Segoe UI"/>
              </a:rPr>
              <a:t>API </a:t>
            </a:r>
            <a:r>
              <a:rPr lang="vi-VN" dirty="0">
                <a:latin typeface="Segoe UI"/>
                <a:cs typeface="Segoe UI"/>
              </a:rPr>
              <a:t>với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API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Action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Methods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cơ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bản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(</a:t>
            </a:r>
            <a:r>
              <a:rPr lang="vi-VN" spc="-10" dirty="0">
                <a:solidFill>
                  <a:srgbClr val="2A2A2A"/>
                </a:solidFill>
                <a:latin typeface="Calibri"/>
                <a:cs typeface="Calibri"/>
              </a:rPr>
              <a:t>HttpPost, HttpDelete,</a:t>
            </a:r>
            <a:r>
              <a:rPr lang="vi-VN" spc="-12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vi-VN" dirty="0">
                <a:solidFill>
                  <a:srgbClr val="2A2A2A"/>
                </a:solidFill>
                <a:latin typeface="Calibri"/>
                <a:cs typeface="Calibri"/>
              </a:rPr>
              <a:t>HttpPut,</a:t>
            </a:r>
            <a:r>
              <a:rPr lang="vi-VN" spc="-9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vi-VN" spc="-10" dirty="0">
                <a:solidFill>
                  <a:srgbClr val="2A2A2A"/>
                </a:solidFill>
                <a:latin typeface="Calibri"/>
                <a:cs typeface="Calibri"/>
              </a:rPr>
              <a:t>HttpGet…</a:t>
            </a:r>
            <a:r>
              <a:rPr lang="vi-VN" spc="-10" dirty="0">
                <a:latin typeface="Segoe UI"/>
                <a:cs typeface="Segoe UI"/>
              </a:rPr>
              <a:t>)</a:t>
            </a:r>
            <a:endParaRPr lang="vi-VN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704" y="3982740"/>
            <a:ext cx="6258300" cy="195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0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+mn-lt"/>
              </a:rPr>
              <a:t>Ví dụ EF Core – API tempalte- Sql Server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1800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Sử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EF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core</a:t>
            </a:r>
            <a:r>
              <a:rPr lang="en-US" spc="-7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code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first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hoặc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database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first</a:t>
            </a:r>
            <a:endParaRPr lang="en-US" dirty="0">
              <a:latin typeface="Segoe UI"/>
              <a:cs typeface="Segoe UI"/>
            </a:endParaRPr>
          </a:p>
          <a:p>
            <a:pPr marL="355600" marR="1266825">
              <a:spcBef>
                <a:spcPts val="67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dirty="0" err="1">
                <a:latin typeface="Segoe UI"/>
                <a:cs typeface="Segoe UI"/>
              </a:rPr>
              <a:t>Tạo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ứng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quản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lý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crud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‘Reservation‘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spc="-20" dirty="0" err="1">
                <a:latin typeface="Segoe UI"/>
                <a:cs typeface="Segoe UI"/>
              </a:rPr>
              <a:t>bằng</a:t>
            </a:r>
            <a:r>
              <a:rPr lang="en-US" spc="-20" dirty="0">
                <a:latin typeface="Segoe UI"/>
                <a:cs typeface="Segoe UI"/>
              </a:rPr>
              <a:t> </a:t>
            </a:r>
            <a:r>
              <a:rPr lang="en-US" spc="-55" dirty="0">
                <a:latin typeface="Segoe UI"/>
                <a:cs typeface="Segoe UI"/>
              </a:rPr>
              <a:t>ASP.NET </a:t>
            </a:r>
            <a:r>
              <a:rPr lang="en-US" dirty="0">
                <a:latin typeface="Segoe UI"/>
                <a:cs typeface="Segoe UI"/>
              </a:rPr>
              <a:t>Core,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chọn</a:t>
            </a:r>
            <a:r>
              <a:rPr lang="en-US" spc="-8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API</a:t>
            </a:r>
            <a:r>
              <a:rPr lang="en-US" spc="-70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template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0160" y="2553541"/>
            <a:ext cx="5857494" cy="367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51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+mn-lt"/>
              </a:rPr>
              <a:t>Ví dụ EF Core – API tempalte- Sql Server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780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Sử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EF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core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cấu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hình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kết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nối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spc="-20" dirty="0" err="1">
                <a:latin typeface="Segoe UI"/>
                <a:cs typeface="Segoe UI"/>
              </a:rPr>
              <a:t>csdl</a:t>
            </a:r>
            <a:endParaRPr lang="en-US" dirty="0">
              <a:latin typeface="Segoe UI"/>
              <a:cs typeface="Segoe UI"/>
            </a:endParaRPr>
          </a:p>
          <a:p>
            <a:pPr marL="756285" lvl="1" indent="-286385">
              <a:spcBef>
                <a:spcPts val="595"/>
              </a:spcBef>
              <a:buFont typeface="Wingdings"/>
              <a:buChar char=""/>
              <a:tabLst>
                <a:tab pos="756285" algn="l"/>
              </a:tabLst>
            </a:pPr>
            <a:r>
              <a:rPr lang="en-US" dirty="0" err="1">
                <a:latin typeface="Segoe UI"/>
                <a:cs typeface="Segoe UI"/>
              </a:rPr>
              <a:t>Thiết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lập</a:t>
            </a:r>
            <a:r>
              <a:rPr lang="en-US" spc="-2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chuỗi</a:t>
            </a:r>
            <a:r>
              <a:rPr lang="en-US" spc="-1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kết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spc="-25" dirty="0" err="1" smtClean="0">
                <a:latin typeface="Segoe UI"/>
                <a:cs typeface="Segoe UI"/>
              </a:rPr>
              <a:t>nối</a:t>
            </a:r>
            <a:endParaRPr lang="en-US" spc="-25" dirty="0" smtClean="0">
              <a:latin typeface="Segoe UI"/>
              <a:cs typeface="Segoe UI"/>
            </a:endParaRPr>
          </a:p>
          <a:p>
            <a:pPr marL="756285" lvl="1" indent="-286385">
              <a:spcBef>
                <a:spcPts val="595"/>
              </a:spcBef>
              <a:buFont typeface="Wingdings"/>
              <a:buChar char=""/>
              <a:tabLst>
                <a:tab pos="756285" algn="l"/>
              </a:tabLst>
            </a:pPr>
            <a:endParaRPr lang="en-US" spc="-25" dirty="0">
              <a:latin typeface="Segoe UI"/>
              <a:cs typeface="Segoe UI"/>
            </a:endParaRPr>
          </a:p>
          <a:p>
            <a:pPr marL="756285" lvl="1" indent="-286385">
              <a:spcBef>
                <a:spcPts val="595"/>
              </a:spcBef>
              <a:buFont typeface="Wingdings"/>
              <a:buChar char=""/>
              <a:tabLst>
                <a:tab pos="756285" algn="l"/>
              </a:tabLst>
            </a:pPr>
            <a:endParaRPr lang="en-US" spc="-25" dirty="0" smtClean="0">
              <a:latin typeface="Segoe UI"/>
              <a:cs typeface="Segoe UI"/>
            </a:endParaRPr>
          </a:p>
          <a:p>
            <a:pPr marL="756285" lvl="1" indent="-286385">
              <a:spcBef>
                <a:spcPts val="595"/>
              </a:spcBef>
              <a:buFont typeface="Wingdings"/>
              <a:buChar char=""/>
              <a:tabLst>
                <a:tab pos="756285" algn="l"/>
              </a:tabLst>
            </a:pPr>
            <a:endParaRPr lang="en-US" dirty="0" smtClean="0">
              <a:latin typeface="Segoe UI"/>
              <a:cs typeface="Segoe UI"/>
            </a:endParaRPr>
          </a:p>
          <a:p>
            <a:pPr marL="756285" lvl="1" indent="-286385">
              <a:spcBef>
                <a:spcPts val="595"/>
              </a:spcBef>
              <a:buFont typeface="Wingdings"/>
              <a:buChar char=""/>
              <a:tabLst>
                <a:tab pos="756285" algn="l"/>
              </a:tabLst>
            </a:pPr>
            <a:r>
              <a:rPr lang="en-US" dirty="0" err="1" smtClean="0">
                <a:latin typeface="Segoe UI"/>
                <a:cs typeface="Segoe UI"/>
              </a:rPr>
              <a:t>Đăng</a:t>
            </a:r>
            <a:r>
              <a:rPr lang="en-US" spc="-25" dirty="0" smtClean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ký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database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context</a:t>
            </a:r>
            <a:r>
              <a:rPr lang="en-US" spc="-2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service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(</a:t>
            </a:r>
            <a:r>
              <a:rPr lang="en-US" spc="-10" dirty="0" err="1">
                <a:latin typeface="Segoe UI"/>
                <a:cs typeface="Segoe UI"/>
              </a:rPr>
              <a:t>InventoryContext</a:t>
            </a:r>
            <a:r>
              <a:rPr lang="en-US" spc="-10" dirty="0">
                <a:latin typeface="Segoe UI"/>
                <a:cs typeface="Segoe UI"/>
              </a:rPr>
              <a:t>)</a:t>
            </a:r>
            <a:endParaRPr lang="en-US" dirty="0">
              <a:latin typeface="Segoe UI"/>
              <a:cs typeface="Segoe UI"/>
            </a:endParaRPr>
          </a:p>
          <a:p>
            <a:pPr marL="756285" lvl="1" indent="-286385">
              <a:spcBef>
                <a:spcPts val="595"/>
              </a:spcBef>
              <a:buFont typeface="Wingdings"/>
              <a:buChar char=""/>
              <a:tabLst>
                <a:tab pos="756285" algn="l"/>
              </a:tabLst>
            </a:pP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1583" y="2331102"/>
            <a:ext cx="7549896" cy="631031"/>
          </a:xfrm>
          <a:prstGeom prst="rect">
            <a:avLst/>
          </a:prstGeom>
        </p:spPr>
      </p:pic>
      <p:pic>
        <p:nvPicPr>
          <p:cNvPr id="1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9819" y="4150723"/>
            <a:ext cx="9027239" cy="15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+mn-lt"/>
              </a:rPr>
              <a:t>Ví dụ EF Core – API tempalte- Sql Server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Sử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EF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core</a:t>
            </a:r>
            <a:r>
              <a:rPr lang="en-US" spc="-7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có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lớp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Context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và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Entity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grpSp>
        <p:nvGrpSpPr>
          <p:cNvPr id="9" name="object 18"/>
          <p:cNvGrpSpPr/>
          <p:nvPr/>
        </p:nvGrpSpPr>
        <p:grpSpPr>
          <a:xfrm>
            <a:off x="1929790" y="1635735"/>
            <a:ext cx="7724164" cy="4797303"/>
            <a:chOff x="0" y="1435607"/>
            <a:chExt cx="9070847" cy="5422388"/>
          </a:xfrm>
        </p:grpSpPr>
        <p:pic>
          <p:nvPicPr>
            <p:cNvPr id="11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435607"/>
              <a:ext cx="7619999" cy="5422388"/>
            </a:xfrm>
            <a:prstGeom prst="rect">
              <a:avLst/>
            </a:prstGeom>
          </p:spPr>
        </p:pic>
        <p:pic>
          <p:nvPicPr>
            <p:cNvPr id="13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8719" y="4250436"/>
              <a:ext cx="4072128" cy="19690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510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+mn-lt"/>
              </a:rPr>
              <a:t>Ví dụ EF Core – </a:t>
            </a:r>
            <a:r>
              <a:rPr lang="it-IT" b="1" dirty="0" smtClean="0">
                <a:solidFill>
                  <a:srgbClr val="FF0000"/>
                </a:solidFill>
                <a:latin typeface="+mn-lt"/>
              </a:rPr>
              <a:t>API - </a:t>
            </a:r>
            <a:r>
              <a:rPr lang="it-IT" b="1" dirty="0">
                <a:solidFill>
                  <a:srgbClr val="FF0000"/>
                </a:solidFill>
                <a:latin typeface="+mn-lt"/>
              </a:rPr>
              <a:t>Sql Server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780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Sử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kỹ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thuật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scaffolding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để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build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REST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spc="-20" dirty="0">
                <a:latin typeface="Segoe UI"/>
                <a:cs typeface="Segoe UI"/>
              </a:rPr>
              <a:t>APIs</a:t>
            </a:r>
            <a:endParaRPr lang="en-US" dirty="0">
              <a:latin typeface="Segoe UI"/>
              <a:cs typeface="Segoe UI"/>
            </a:endParaRPr>
          </a:p>
          <a:p>
            <a:pPr marL="927100" lvl="1" indent="-457200">
              <a:spcBef>
                <a:spcPts val="595"/>
              </a:spcBef>
              <a:buAutoNum type="arabicPeriod"/>
              <a:tabLst>
                <a:tab pos="927100" algn="l"/>
              </a:tabLst>
            </a:pPr>
            <a:r>
              <a:rPr lang="en-US" dirty="0">
                <a:latin typeface="Segoe UI"/>
                <a:cs typeface="Segoe UI"/>
              </a:rPr>
              <a:t>Right–click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the</a:t>
            </a:r>
            <a:r>
              <a:rPr lang="en-US" spc="-7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Controllers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folder,</a:t>
            </a:r>
            <a:r>
              <a:rPr lang="en-US" spc="-7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choose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Add,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and</a:t>
            </a:r>
            <a:r>
              <a:rPr lang="en-US" spc="-75" dirty="0">
                <a:latin typeface="Segoe UI"/>
                <a:cs typeface="Segoe UI"/>
              </a:rPr>
              <a:t> </a:t>
            </a:r>
            <a:r>
              <a:rPr lang="en-US" spc="-20" dirty="0" smtClean="0">
                <a:latin typeface="Segoe UI"/>
                <a:cs typeface="Segoe UI"/>
              </a:rPr>
              <a:t>then</a:t>
            </a:r>
            <a:r>
              <a:rPr lang="en-US" dirty="0" smtClean="0">
                <a:latin typeface="Segoe UI"/>
                <a:cs typeface="Segoe UI"/>
              </a:rPr>
              <a:t> </a:t>
            </a:r>
            <a:r>
              <a:rPr lang="en-US" sz="2400" dirty="0" smtClean="0">
                <a:latin typeface="Segoe UI"/>
                <a:cs typeface="Segoe UI"/>
              </a:rPr>
              <a:t>click</a:t>
            </a:r>
            <a:r>
              <a:rPr lang="en-US" sz="2400" spc="-35" dirty="0" smtClean="0">
                <a:latin typeface="Segoe UI"/>
                <a:cs typeface="Segoe UI"/>
              </a:rPr>
              <a:t> </a:t>
            </a:r>
            <a:r>
              <a:rPr lang="en-US" sz="2400" spc="-10" dirty="0">
                <a:latin typeface="Segoe UI"/>
                <a:cs typeface="Segoe UI"/>
              </a:rPr>
              <a:t>Controller</a:t>
            </a:r>
            <a:endParaRPr lang="en-US" sz="2400" dirty="0">
              <a:latin typeface="Segoe UI"/>
              <a:cs typeface="Segoe UI"/>
            </a:endParaRPr>
          </a:p>
          <a:p>
            <a:pPr marL="927100" marR="1129030" lvl="1" indent="-457834">
              <a:spcBef>
                <a:spcPts val="580"/>
              </a:spcBef>
              <a:buAutoNum type="arabicPeriod" startAt="2"/>
              <a:tabLst>
                <a:tab pos="927100" algn="l"/>
              </a:tabLst>
            </a:pPr>
            <a:r>
              <a:rPr lang="en-US" dirty="0">
                <a:latin typeface="Segoe UI"/>
                <a:cs typeface="Segoe UI"/>
              </a:rPr>
              <a:t>Select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API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Controller</a:t>
            </a:r>
            <a:r>
              <a:rPr lang="en-US" spc="-1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with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actions</a:t>
            </a:r>
            <a:r>
              <a:rPr lang="en-US" spc="-2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using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the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Entity </a:t>
            </a:r>
            <a:r>
              <a:rPr lang="en-US" dirty="0">
                <a:latin typeface="Segoe UI"/>
                <a:cs typeface="Segoe UI"/>
              </a:rPr>
              <a:t>Framework</a:t>
            </a:r>
            <a:r>
              <a:rPr lang="en-US" spc="-70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template</a:t>
            </a:r>
            <a:endParaRPr lang="en-US" dirty="0">
              <a:latin typeface="Segoe UI"/>
              <a:cs typeface="Segoe UI"/>
            </a:endParaRPr>
          </a:p>
          <a:p>
            <a:pPr marL="927100" marR="5080" lvl="1" indent="-457834">
              <a:spcBef>
                <a:spcPts val="575"/>
              </a:spcBef>
              <a:buAutoNum type="arabicPeriod" startAt="2"/>
              <a:tabLst>
                <a:tab pos="927100" algn="l"/>
              </a:tabLst>
            </a:pPr>
            <a:r>
              <a:rPr lang="en-US" dirty="0">
                <a:latin typeface="Segoe UI"/>
                <a:cs typeface="Segoe UI"/>
              </a:rPr>
              <a:t>Choose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model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class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and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context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class,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and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then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name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spc="-25" dirty="0">
                <a:latin typeface="Segoe UI"/>
                <a:cs typeface="Segoe UI"/>
              </a:rPr>
              <a:t>the </a:t>
            </a:r>
            <a:r>
              <a:rPr lang="en-US" spc="-10" dirty="0">
                <a:latin typeface="Segoe UI"/>
                <a:cs typeface="Segoe UI"/>
              </a:rPr>
              <a:t>controller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0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0" y="3330334"/>
            <a:ext cx="7620000" cy="289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6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+mn-lt"/>
              </a:rPr>
              <a:t>Ví dụ EF Core – API tempalte- Sql Server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170815">
              <a:spcBef>
                <a:spcPts val="18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latin typeface="Segoe UI"/>
                <a:cs typeface="Segoe UI"/>
              </a:rPr>
              <a:t>scaffolding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để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build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REST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APIs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thành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công,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ứng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spc="-20" dirty="0">
                <a:latin typeface="Segoe UI"/>
                <a:cs typeface="Segoe UI"/>
              </a:rPr>
              <a:t>dụng </a:t>
            </a:r>
            <a:r>
              <a:rPr lang="vi-VN" dirty="0">
                <a:latin typeface="Segoe UI"/>
                <a:cs typeface="Segoe UI"/>
              </a:rPr>
              <a:t>sẽ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tự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tạo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controller</a:t>
            </a:r>
            <a:r>
              <a:rPr lang="vi-VN" spc="-3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với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API</a:t>
            </a:r>
            <a:r>
              <a:rPr lang="vi-VN" spc="-3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Action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Methods</a:t>
            </a:r>
            <a:r>
              <a:rPr lang="vi-VN" spc="-25" dirty="0">
                <a:latin typeface="Segoe UI"/>
                <a:cs typeface="Segoe UI"/>
              </a:rPr>
              <a:t> </a:t>
            </a:r>
            <a:r>
              <a:rPr lang="vi-VN" spc="-25" dirty="0" smtClean="0">
                <a:latin typeface="Segoe UI"/>
                <a:cs typeface="Segoe UI"/>
              </a:rPr>
              <a:t>cơ</a:t>
            </a:r>
            <a:r>
              <a:rPr lang="en-US" dirty="0" smtClean="0">
                <a:latin typeface="Segoe UI"/>
                <a:cs typeface="Segoe UI"/>
              </a:rPr>
              <a:t> </a:t>
            </a:r>
            <a:r>
              <a:rPr lang="vi-VN" dirty="0" smtClean="0">
                <a:latin typeface="Segoe UI"/>
                <a:cs typeface="Segoe UI"/>
              </a:rPr>
              <a:t>bản</a:t>
            </a:r>
            <a:r>
              <a:rPr lang="vi-VN" spc="-135" dirty="0" smtClean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(</a:t>
            </a:r>
            <a:r>
              <a:rPr lang="vi-VN" spc="-10" dirty="0">
                <a:solidFill>
                  <a:srgbClr val="2A2A2A"/>
                </a:solidFill>
                <a:latin typeface="Calibri"/>
                <a:cs typeface="Calibri"/>
              </a:rPr>
              <a:t>HttpPost,</a:t>
            </a:r>
            <a:r>
              <a:rPr lang="vi-VN" spc="-5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vi-VN" spc="-10" dirty="0">
                <a:solidFill>
                  <a:srgbClr val="2A2A2A"/>
                </a:solidFill>
                <a:latin typeface="Calibri"/>
                <a:cs typeface="Calibri"/>
              </a:rPr>
              <a:t>HttpDelete,</a:t>
            </a:r>
            <a:r>
              <a:rPr lang="vi-VN" spc="-8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vi-VN" dirty="0">
                <a:solidFill>
                  <a:srgbClr val="2A2A2A"/>
                </a:solidFill>
                <a:latin typeface="Calibri"/>
                <a:cs typeface="Calibri"/>
              </a:rPr>
              <a:t>HttpPut,</a:t>
            </a:r>
            <a:r>
              <a:rPr lang="vi-VN" spc="-7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vi-VN" spc="-10" dirty="0">
                <a:solidFill>
                  <a:srgbClr val="2A2A2A"/>
                </a:solidFill>
                <a:latin typeface="Calibri"/>
                <a:cs typeface="Calibri"/>
              </a:rPr>
              <a:t>HttpGet</a:t>
            </a:r>
            <a:endParaRPr lang="vi-VN" dirty="0"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0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954" y="2596174"/>
            <a:ext cx="5915992" cy="3760176"/>
          </a:xfrm>
          <a:prstGeom prst="rect">
            <a:avLst/>
          </a:prstGeom>
        </p:spPr>
      </p:pic>
      <p:pic>
        <p:nvPicPr>
          <p:cNvPr id="14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4781" y="2846949"/>
            <a:ext cx="3110484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4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+mn-lt"/>
              </a:rPr>
              <a:t>Ví dụ EF Core – API tempalte- Sql Server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Kiểm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tra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đọc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với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Postman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7107" y="1923679"/>
            <a:ext cx="8382000" cy="443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7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+mn-lt"/>
              </a:rPr>
              <a:t>Ví dụ EF Core – API tempalte- Sql Server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Kiểm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tra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thêm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với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Postman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7525" y="1683485"/>
            <a:ext cx="8137105" cy="458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222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12700">
              <a:lnSpc>
                <a:spcPts val="1770"/>
              </a:lnSpc>
            </a:pP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Demo</a:t>
            </a:r>
            <a:r>
              <a:rPr lang="en-US" sz="360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EF</a:t>
            </a:r>
            <a:r>
              <a:rPr lang="en-US" sz="360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core</a:t>
            </a:r>
            <a:r>
              <a:rPr lang="en-US" sz="360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API</a:t>
            </a:r>
            <a:r>
              <a:rPr lang="en-US" sz="3600" spc="2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template</a:t>
            </a:r>
            <a:r>
              <a:rPr lang="en-US" sz="360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 err="1">
                <a:solidFill>
                  <a:srgbClr val="FFC000"/>
                </a:solidFill>
                <a:latin typeface="Calibri"/>
                <a:cs typeface="Calibri"/>
              </a:rPr>
              <a:t>cho</a:t>
            </a:r>
            <a:r>
              <a:rPr lang="en-US" sz="36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spc="-20" dirty="0">
                <a:solidFill>
                  <a:srgbClr val="FFC000"/>
                </a:solidFill>
                <a:latin typeface="Calibri"/>
                <a:cs typeface="Calibri"/>
              </a:rPr>
              <a:t>Crud</a:t>
            </a:r>
            <a:endParaRPr lang="en-US" sz="36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7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+mn-lt"/>
              </a:rPr>
              <a:t>Ví dụ EF Core – </a:t>
            </a:r>
            <a:r>
              <a:rPr lang="it-IT" b="1" dirty="0" smtClean="0">
                <a:solidFill>
                  <a:srgbClr val="FF0000"/>
                </a:solidFill>
                <a:latin typeface="+mn-lt"/>
              </a:rPr>
              <a:t>API - </a:t>
            </a:r>
            <a:r>
              <a:rPr lang="it-IT" b="1" dirty="0">
                <a:solidFill>
                  <a:srgbClr val="FF0000"/>
                </a:solidFill>
                <a:latin typeface="+mn-lt"/>
              </a:rPr>
              <a:t>Sql Server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Tạo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ứng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Asp.net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core</a:t>
            </a:r>
            <a:r>
              <a:rPr lang="en-US" spc="-80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Empty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535" y="1864101"/>
            <a:ext cx="8314944" cy="440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0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+mn-lt"/>
              </a:rPr>
              <a:t>Ví dụ EF Core – </a:t>
            </a:r>
            <a:r>
              <a:rPr lang="it-IT" b="1" dirty="0" smtClean="0">
                <a:solidFill>
                  <a:srgbClr val="FF0000"/>
                </a:solidFill>
                <a:latin typeface="+mn-lt"/>
              </a:rPr>
              <a:t>API - </a:t>
            </a:r>
            <a:r>
              <a:rPr lang="it-IT" b="1" dirty="0">
                <a:solidFill>
                  <a:srgbClr val="FF0000"/>
                </a:solidFill>
                <a:latin typeface="+mn-lt"/>
              </a:rPr>
              <a:t>Sql Server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Sử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spc="-2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Ef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core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cho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csdl</a:t>
            </a:r>
            <a:r>
              <a:rPr lang="en-US" dirty="0">
                <a:latin typeface="Segoe UI"/>
                <a:cs typeface="Segoe UI"/>
              </a:rPr>
              <a:t>,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model,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context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001" y="1645627"/>
            <a:ext cx="2639568" cy="2476500"/>
          </a:xfrm>
          <a:prstGeom prst="rect">
            <a:avLst/>
          </a:prstGeom>
        </p:spPr>
      </p:pic>
      <p:pic>
        <p:nvPicPr>
          <p:cNvPr id="10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9001" y="4625242"/>
            <a:ext cx="3753611" cy="1743075"/>
          </a:xfrm>
          <a:prstGeom prst="rect">
            <a:avLst/>
          </a:prstGeom>
        </p:spPr>
      </p:pic>
      <p:pic>
        <p:nvPicPr>
          <p:cNvPr id="11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72047" y="2100874"/>
            <a:ext cx="5582412" cy="375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7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+mn-lt"/>
              </a:rPr>
              <a:t>Ví dụ EF Core – </a:t>
            </a:r>
            <a:r>
              <a:rPr lang="it-IT" b="1" dirty="0" smtClean="0">
                <a:solidFill>
                  <a:srgbClr val="FF0000"/>
                </a:solidFill>
                <a:latin typeface="+mn-lt"/>
              </a:rPr>
              <a:t>API - </a:t>
            </a:r>
            <a:r>
              <a:rPr lang="it-IT" b="1" dirty="0">
                <a:solidFill>
                  <a:srgbClr val="FF0000"/>
                </a:solidFill>
                <a:latin typeface="+mn-lt"/>
              </a:rPr>
              <a:t>Sql Server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Tạo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Interface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và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class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quy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định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các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thành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phần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spc="-20" dirty="0">
                <a:latin typeface="Segoe UI"/>
                <a:cs typeface="Segoe UI"/>
              </a:rPr>
              <a:t>crud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3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169" y="1661948"/>
            <a:ext cx="4343399" cy="3551688"/>
          </a:xfrm>
          <a:prstGeom prst="rect">
            <a:avLst/>
          </a:prstGeom>
        </p:spPr>
      </p:pic>
      <p:pic>
        <p:nvPicPr>
          <p:cNvPr id="14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500" y="1586136"/>
            <a:ext cx="4648200" cy="2255519"/>
          </a:xfrm>
          <a:prstGeom prst="rect">
            <a:avLst/>
          </a:prstGeom>
        </p:spPr>
      </p:pic>
      <p:pic>
        <p:nvPicPr>
          <p:cNvPr id="15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59570" y="3841655"/>
            <a:ext cx="5122984" cy="269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0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it-IT" b="1" dirty="0">
                <a:solidFill>
                  <a:srgbClr val="FF0000"/>
                </a:solidFill>
                <a:latin typeface="+mn-lt"/>
              </a:rPr>
              <a:t>Ví dụ EF Core – </a:t>
            </a:r>
            <a:r>
              <a:rPr lang="it-IT" b="1" dirty="0" smtClean="0">
                <a:solidFill>
                  <a:srgbClr val="FF0000"/>
                </a:solidFill>
                <a:latin typeface="+mn-lt"/>
              </a:rPr>
              <a:t>API - </a:t>
            </a:r>
            <a:r>
              <a:rPr lang="it-IT" b="1" dirty="0">
                <a:solidFill>
                  <a:srgbClr val="FF0000"/>
                </a:solidFill>
                <a:latin typeface="+mn-lt"/>
              </a:rPr>
              <a:t>Sql Server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5080">
              <a:spcBef>
                <a:spcPts val="95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dirty="0" err="1">
                <a:latin typeface="Segoe UI"/>
                <a:cs typeface="Segoe UI"/>
              </a:rPr>
              <a:t>Tạo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controller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và</a:t>
            </a:r>
            <a:r>
              <a:rPr lang="en-US" spc="-7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các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api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action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method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thông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spc="-25" dirty="0">
                <a:latin typeface="Segoe UI"/>
                <a:cs typeface="Segoe UI"/>
              </a:rPr>
              <a:t>qua </a:t>
            </a:r>
            <a:r>
              <a:rPr lang="en-US" spc="-10" dirty="0">
                <a:latin typeface="Segoe UI"/>
                <a:cs typeface="Segoe UI"/>
              </a:rPr>
              <a:t>interface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0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" y="3657356"/>
            <a:ext cx="6544055" cy="2743198"/>
          </a:xfrm>
          <a:prstGeom prst="rect">
            <a:avLst/>
          </a:prstGeom>
        </p:spPr>
      </p:pic>
      <p:pic>
        <p:nvPicPr>
          <p:cNvPr id="11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4094" y="1722235"/>
            <a:ext cx="5658612" cy="334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0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12700">
              <a:lnSpc>
                <a:spcPts val="1770"/>
              </a:lnSpc>
            </a:pP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Demo</a:t>
            </a:r>
            <a:r>
              <a:rPr lang="en-US" sz="3600" spc="-3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EF</a:t>
            </a:r>
            <a:r>
              <a:rPr lang="en-US" sz="360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core</a:t>
            </a:r>
            <a:r>
              <a:rPr lang="en-US" sz="360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API</a:t>
            </a:r>
            <a:r>
              <a:rPr lang="en-US" sz="3600" spc="2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Empty</a:t>
            </a:r>
            <a:r>
              <a:rPr lang="en-US" sz="360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project</a:t>
            </a:r>
            <a:r>
              <a:rPr lang="en-US" sz="360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 err="1">
                <a:solidFill>
                  <a:srgbClr val="FFC000"/>
                </a:solidFill>
                <a:latin typeface="Calibri"/>
                <a:cs typeface="Calibri"/>
              </a:rPr>
              <a:t>cho</a:t>
            </a:r>
            <a:r>
              <a:rPr lang="en-US" sz="36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spc="-20" dirty="0">
                <a:solidFill>
                  <a:srgbClr val="FFC000"/>
                </a:solidFill>
                <a:latin typeface="Calibri"/>
                <a:cs typeface="Calibri"/>
              </a:rPr>
              <a:t>Crud</a:t>
            </a:r>
            <a:endParaRPr lang="en-US" sz="36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16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8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Web Client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gọi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780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Có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nhiều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cách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sử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spc="-3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API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khác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spc="-20" dirty="0" err="1">
                <a:latin typeface="Segoe UI"/>
                <a:cs typeface="Segoe UI"/>
              </a:rPr>
              <a:t>nhau</a:t>
            </a:r>
            <a:endParaRPr lang="en-US" dirty="0">
              <a:latin typeface="Segoe UI"/>
              <a:cs typeface="Segoe UI"/>
            </a:endParaRPr>
          </a:p>
          <a:p>
            <a:pPr marL="756285" lvl="1" indent="-286385">
              <a:spcBef>
                <a:spcPts val="595"/>
              </a:spcBef>
              <a:buFont typeface="Wingdings"/>
              <a:buChar char=""/>
              <a:tabLst>
                <a:tab pos="756285" algn="l"/>
              </a:tabLst>
            </a:pPr>
            <a:r>
              <a:rPr lang="en-US" spc="-10" dirty="0" err="1">
                <a:latin typeface="Segoe UI"/>
                <a:cs typeface="Segoe UI"/>
              </a:rPr>
              <a:t>HttpWebRequest</a:t>
            </a:r>
            <a:r>
              <a:rPr lang="en-US" spc="-10" dirty="0">
                <a:latin typeface="Segoe UI"/>
                <a:cs typeface="Segoe UI"/>
              </a:rPr>
              <a:t>/Response</a:t>
            </a:r>
            <a:r>
              <a:rPr lang="en-US" spc="-8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Class</a:t>
            </a:r>
            <a:endParaRPr lang="en-US" dirty="0">
              <a:latin typeface="Segoe UI"/>
              <a:cs typeface="Segoe UI"/>
            </a:endParaRPr>
          </a:p>
          <a:p>
            <a:pPr marL="755650" lvl="1">
              <a:spcBef>
                <a:spcPts val="580"/>
              </a:spcBef>
              <a:buFont typeface="Wingdings"/>
              <a:buChar char=""/>
              <a:tabLst>
                <a:tab pos="755650" algn="l"/>
              </a:tabLst>
            </a:pPr>
            <a:r>
              <a:rPr lang="en-US" dirty="0" err="1">
                <a:latin typeface="Segoe UI"/>
                <a:cs typeface="Segoe UI"/>
              </a:rPr>
              <a:t>WebClient</a:t>
            </a:r>
            <a:r>
              <a:rPr lang="en-US" spc="-95" dirty="0">
                <a:latin typeface="Segoe UI"/>
                <a:cs typeface="Segoe UI"/>
              </a:rPr>
              <a:t> </a:t>
            </a:r>
            <a:r>
              <a:rPr lang="en-US" spc="-20" dirty="0">
                <a:latin typeface="Segoe UI"/>
                <a:cs typeface="Segoe UI"/>
              </a:rPr>
              <a:t>Class</a:t>
            </a:r>
            <a:endParaRPr lang="en-US" dirty="0">
              <a:latin typeface="Segoe UI"/>
              <a:cs typeface="Segoe UI"/>
            </a:endParaRPr>
          </a:p>
          <a:p>
            <a:pPr marL="755650" lvl="1">
              <a:spcBef>
                <a:spcPts val="575"/>
              </a:spcBef>
              <a:buFont typeface="Wingdings"/>
              <a:buChar char=""/>
              <a:tabLst>
                <a:tab pos="755650" algn="l"/>
              </a:tabLst>
            </a:pPr>
            <a:r>
              <a:rPr lang="en-US" dirty="0" err="1">
                <a:latin typeface="Segoe UI"/>
                <a:cs typeface="Segoe UI"/>
              </a:rPr>
              <a:t>HttpClient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Class</a:t>
            </a:r>
            <a:endParaRPr lang="en-US" dirty="0">
              <a:latin typeface="Segoe UI"/>
              <a:cs typeface="Segoe UI"/>
            </a:endParaRPr>
          </a:p>
          <a:p>
            <a:pPr marL="755650" lvl="1">
              <a:spcBef>
                <a:spcPts val="575"/>
              </a:spcBef>
              <a:buFont typeface="Wingdings"/>
              <a:buChar char=""/>
              <a:tabLst>
                <a:tab pos="755650" algn="l"/>
              </a:tabLst>
            </a:pPr>
            <a:r>
              <a:rPr lang="en-US" dirty="0" err="1">
                <a:latin typeface="Segoe UI"/>
                <a:cs typeface="Segoe UI"/>
              </a:rPr>
              <a:t>RestSharp</a:t>
            </a:r>
            <a:r>
              <a:rPr lang="en-US" spc="-11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NuGet</a:t>
            </a:r>
            <a:r>
              <a:rPr lang="en-US" spc="-100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Package</a:t>
            </a:r>
            <a:endParaRPr lang="en-US" dirty="0">
              <a:latin typeface="Segoe UI"/>
              <a:cs typeface="Segoe UI"/>
            </a:endParaRPr>
          </a:p>
          <a:p>
            <a:pPr marL="755650" lvl="1">
              <a:spcBef>
                <a:spcPts val="580"/>
              </a:spcBef>
              <a:buFont typeface="Wingdings"/>
              <a:buChar char=""/>
              <a:tabLst>
                <a:tab pos="755650" algn="l"/>
              </a:tabLst>
            </a:pPr>
            <a:r>
              <a:rPr lang="en-US" dirty="0" err="1">
                <a:latin typeface="Segoe UI"/>
                <a:cs typeface="Segoe UI"/>
              </a:rPr>
              <a:t>ServiceStack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Http</a:t>
            </a:r>
            <a:r>
              <a:rPr lang="en-US" spc="-45" dirty="0">
                <a:latin typeface="Segoe UI"/>
                <a:cs typeface="Segoe UI"/>
              </a:rPr>
              <a:t> </a:t>
            </a:r>
            <a:r>
              <a:rPr lang="en-US" spc="-20" dirty="0" err="1">
                <a:latin typeface="Segoe UI"/>
                <a:cs typeface="Segoe UI"/>
              </a:rPr>
              <a:t>Utils</a:t>
            </a:r>
            <a:endParaRPr lang="en-US" dirty="0">
              <a:latin typeface="Segoe UI"/>
              <a:cs typeface="Segoe UI"/>
            </a:endParaRPr>
          </a:p>
          <a:p>
            <a:pPr marL="755650" lvl="1">
              <a:spcBef>
                <a:spcPts val="575"/>
              </a:spcBef>
              <a:buFont typeface="Wingdings"/>
              <a:buChar char=""/>
              <a:tabLst>
                <a:tab pos="755650" algn="l"/>
              </a:tabLst>
            </a:pPr>
            <a:r>
              <a:rPr lang="en-US" spc="-10" dirty="0" err="1">
                <a:latin typeface="Segoe UI"/>
                <a:cs typeface="Segoe UI"/>
              </a:rPr>
              <a:t>Flurl</a:t>
            </a:r>
            <a:endParaRPr lang="en-US" dirty="0">
              <a:latin typeface="Segoe UI"/>
              <a:cs typeface="Segoe UI"/>
            </a:endParaRPr>
          </a:p>
          <a:p>
            <a:pPr marL="755650" lvl="1">
              <a:spcBef>
                <a:spcPts val="580"/>
              </a:spcBef>
              <a:buFont typeface="Wingdings"/>
              <a:buChar char=""/>
              <a:tabLst>
                <a:tab pos="755650" algn="l"/>
              </a:tabLst>
            </a:pPr>
            <a:r>
              <a:rPr lang="en-US" spc="-10" dirty="0" err="1">
                <a:latin typeface="Segoe UI"/>
                <a:cs typeface="Segoe UI"/>
              </a:rPr>
              <a:t>DalSoft.RestClient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0485" y="3657356"/>
            <a:ext cx="7391400" cy="220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22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Web Client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gọi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5080">
              <a:spcBef>
                <a:spcPts val="95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latin typeface="Segoe UI"/>
                <a:cs typeface="Segoe UI"/>
              </a:rPr>
              <a:t>Hầu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hết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các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client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side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platform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hiện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nay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đều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tương </a:t>
            </a:r>
            <a:r>
              <a:rPr lang="vi-VN" dirty="0">
                <a:latin typeface="Segoe UI"/>
                <a:cs typeface="Segoe UI"/>
              </a:rPr>
              <a:t>thích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và</a:t>
            </a:r>
            <a:r>
              <a:rPr lang="vi-VN" spc="-8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tương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tác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được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với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RESTful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spc="-20" dirty="0">
                <a:latin typeface="Segoe UI"/>
                <a:cs typeface="Segoe UI"/>
              </a:rPr>
              <a:t>APIs</a:t>
            </a:r>
            <a:endParaRPr lang="vi-VN" dirty="0">
              <a:latin typeface="Segoe UI"/>
              <a:cs typeface="Segoe UI"/>
            </a:endParaRPr>
          </a:p>
          <a:p>
            <a:pPr marL="755650" lvl="1">
              <a:spcBef>
                <a:spcPts val="595"/>
              </a:spcBef>
              <a:buFont typeface="Wingdings"/>
              <a:buChar char=""/>
              <a:tabLst>
                <a:tab pos="755650" algn="l"/>
              </a:tabLst>
            </a:pPr>
            <a:r>
              <a:rPr lang="vi-VN" spc="-10" dirty="0">
                <a:latin typeface="Segoe UI"/>
                <a:cs typeface="Segoe UI"/>
              </a:rPr>
              <a:t>Jquery</a:t>
            </a:r>
            <a:endParaRPr lang="vi-VN" dirty="0">
              <a:latin typeface="Segoe UI"/>
              <a:cs typeface="Segoe UI"/>
            </a:endParaRPr>
          </a:p>
          <a:p>
            <a:pPr marL="755650" lvl="1">
              <a:spcBef>
                <a:spcPts val="575"/>
              </a:spcBef>
              <a:buFont typeface="Wingdings"/>
              <a:buChar char=""/>
              <a:tabLst>
                <a:tab pos="755650" algn="l"/>
              </a:tabLst>
            </a:pPr>
            <a:r>
              <a:rPr lang="vi-VN" spc="-10" dirty="0">
                <a:latin typeface="Segoe UI"/>
                <a:cs typeface="Segoe UI"/>
              </a:rPr>
              <a:t>Angular</a:t>
            </a:r>
            <a:endParaRPr lang="vi-VN" dirty="0">
              <a:latin typeface="Segoe UI"/>
              <a:cs typeface="Segoe UI"/>
            </a:endParaRPr>
          </a:p>
          <a:p>
            <a:pPr marL="755650" lvl="1">
              <a:spcBef>
                <a:spcPts val="580"/>
              </a:spcBef>
              <a:buFont typeface="Wingdings"/>
              <a:buChar char=""/>
              <a:tabLst>
                <a:tab pos="755650" algn="l"/>
              </a:tabLst>
            </a:pPr>
            <a:r>
              <a:rPr lang="vi-VN" spc="-10" dirty="0">
                <a:latin typeface="Segoe UI"/>
                <a:cs typeface="Segoe UI"/>
              </a:rPr>
              <a:t>Android</a:t>
            </a:r>
            <a:endParaRPr lang="vi-VN" dirty="0">
              <a:latin typeface="Segoe UI"/>
              <a:cs typeface="Segoe UI"/>
            </a:endParaRPr>
          </a:p>
          <a:p>
            <a:pPr marL="755650" lvl="1">
              <a:spcBef>
                <a:spcPts val="575"/>
              </a:spcBef>
              <a:buFont typeface="Wingdings"/>
              <a:buChar char=""/>
              <a:tabLst>
                <a:tab pos="755650" algn="l"/>
              </a:tabLst>
            </a:pPr>
            <a:r>
              <a:rPr lang="vi-VN" spc="-25" dirty="0">
                <a:latin typeface="Segoe UI"/>
                <a:cs typeface="Segoe UI"/>
              </a:rPr>
              <a:t>Ios</a:t>
            </a:r>
            <a:endParaRPr lang="vi-VN" dirty="0">
              <a:latin typeface="Segoe UI"/>
              <a:cs typeface="Segoe UI"/>
            </a:endParaRPr>
          </a:p>
          <a:p>
            <a:pPr marL="755650" lvl="1">
              <a:spcBef>
                <a:spcPts val="575"/>
              </a:spcBef>
              <a:buFont typeface="Wingdings"/>
              <a:buChar char=""/>
              <a:tabLst>
                <a:tab pos="755650" algn="l"/>
              </a:tabLst>
            </a:pPr>
            <a:r>
              <a:rPr lang="vi-VN" spc="-50" dirty="0">
                <a:latin typeface="Segoe UI"/>
                <a:cs typeface="Segoe UI"/>
              </a:rPr>
              <a:t>…</a:t>
            </a:r>
            <a:endParaRPr lang="vi-VN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7663" y="1890714"/>
            <a:ext cx="6679692" cy="464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1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+mn-lt"/>
              </a:rPr>
              <a:t>Ví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dụ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gọi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Tạo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ứng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Asp.net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core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spc="-25" dirty="0" err="1">
                <a:latin typeface="Segoe UI"/>
                <a:cs typeface="Segoe UI"/>
              </a:rPr>
              <a:t>Mvc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6067" y="1778745"/>
            <a:ext cx="7068303" cy="448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1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+mn-lt"/>
              </a:rPr>
              <a:t>Ví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dụ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gọi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1800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Cài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đặt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spc="-10" dirty="0" err="1">
                <a:latin typeface="Segoe UI"/>
                <a:cs typeface="Segoe UI"/>
              </a:rPr>
              <a:t>Newtonsoft.Json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package: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hỗ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trợ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spc="-10" dirty="0" err="1" smtClean="0">
                <a:latin typeface="Segoe UI"/>
                <a:cs typeface="Segoe UI"/>
              </a:rPr>
              <a:t>Deserialize</a:t>
            </a:r>
            <a:r>
              <a:rPr lang="en-US" dirty="0" smtClean="0">
                <a:latin typeface="Segoe UI"/>
                <a:cs typeface="Segoe UI"/>
              </a:rPr>
              <a:t> JSON</a:t>
            </a:r>
            <a:r>
              <a:rPr lang="en-US" spc="-65" dirty="0" smtClean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sang</a:t>
            </a:r>
            <a:r>
              <a:rPr lang="en-US" spc="-70" dirty="0">
                <a:latin typeface="Segoe UI"/>
                <a:cs typeface="Segoe UI"/>
              </a:rPr>
              <a:t> </a:t>
            </a:r>
            <a:r>
              <a:rPr lang="en-US" spc="-10" dirty="0" smtClean="0">
                <a:latin typeface="Segoe UI"/>
                <a:cs typeface="Segoe UI"/>
              </a:rPr>
              <a:t>object</a:t>
            </a:r>
          </a:p>
          <a:p>
            <a:pPr marL="354965" indent="-342265">
              <a:spcBef>
                <a:spcPts val="1800"/>
              </a:spcBef>
              <a:buFont typeface="Wingdings"/>
              <a:buChar char=""/>
              <a:tabLst>
                <a:tab pos="354965" algn="l"/>
              </a:tabLst>
            </a:pPr>
            <a:endParaRPr lang="en-US" spc="-10" dirty="0">
              <a:latin typeface="Segoe UI"/>
              <a:cs typeface="Segoe UI"/>
            </a:endParaRPr>
          </a:p>
          <a:p>
            <a:pPr marL="354965" indent="-342265">
              <a:spcBef>
                <a:spcPts val="1800"/>
              </a:spcBef>
              <a:buFont typeface="Wingdings"/>
              <a:buChar char=""/>
              <a:tabLst>
                <a:tab pos="354965" algn="l"/>
              </a:tabLst>
            </a:pPr>
            <a:endParaRPr lang="en-US" spc="-10" dirty="0" smtClean="0">
              <a:latin typeface="Segoe UI"/>
              <a:cs typeface="Segoe UI"/>
            </a:endParaRPr>
          </a:p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endParaRPr lang="en-US" dirty="0" smtClean="0">
              <a:latin typeface="Segoe UI"/>
              <a:cs typeface="Segoe UI"/>
            </a:endParaRPr>
          </a:p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 smtClean="0">
                <a:latin typeface="Segoe UI"/>
                <a:cs typeface="Segoe UI"/>
              </a:rPr>
              <a:t>Sử</a:t>
            </a:r>
            <a:r>
              <a:rPr lang="en-US" spc="-75" dirty="0" smtClean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dụng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HttpClient</a:t>
            </a:r>
            <a:r>
              <a:rPr lang="en-US" dirty="0">
                <a:latin typeface="Segoe UI"/>
                <a:cs typeface="Segoe UI"/>
              </a:rPr>
              <a:t>()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class</a:t>
            </a:r>
            <a:r>
              <a:rPr lang="en-US" spc="-8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tạo</a:t>
            </a:r>
            <a:r>
              <a:rPr lang="en-US" spc="-7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các</a:t>
            </a:r>
            <a:r>
              <a:rPr lang="en-US" spc="-8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Request</a:t>
            </a:r>
            <a:r>
              <a:rPr lang="en-US" spc="-7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tới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spc="-10" dirty="0" err="1" smtClean="0">
                <a:latin typeface="Segoe UI"/>
                <a:cs typeface="Segoe UI"/>
              </a:rPr>
              <a:t>RESTful</a:t>
            </a:r>
            <a:r>
              <a:rPr lang="en-US" spc="-20" dirty="0" err="1" smtClean="0">
                <a:latin typeface="Segoe UI"/>
                <a:cs typeface="Segoe UI"/>
              </a:rPr>
              <a:t>APIs</a:t>
            </a:r>
            <a:endParaRPr lang="en-US" dirty="0">
              <a:latin typeface="Segoe UI"/>
              <a:cs typeface="Segoe UI"/>
            </a:endParaRPr>
          </a:p>
          <a:p>
            <a:pPr marL="354965" indent="-342265">
              <a:spcBef>
                <a:spcPts val="1800"/>
              </a:spcBef>
              <a:buFont typeface="Wingdings"/>
              <a:buChar char=""/>
              <a:tabLst>
                <a:tab pos="354965" algn="l"/>
              </a:tabLst>
            </a:pPr>
            <a:endParaRPr lang="en-US" spc="-10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1452" y="1742702"/>
            <a:ext cx="5693663" cy="1399081"/>
          </a:xfrm>
          <a:prstGeom prst="rect">
            <a:avLst/>
          </a:prstGeom>
        </p:spPr>
      </p:pic>
      <p:pic>
        <p:nvPicPr>
          <p:cNvPr id="10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94790" y="3871427"/>
            <a:ext cx="7200902" cy="248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7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đọc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record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từ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212725">
              <a:spcBef>
                <a:spcPts val="18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vi-VN" dirty="0">
                <a:latin typeface="Segoe UI"/>
                <a:cs typeface="Segoe UI"/>
              </a:rPr>
              <a:t>Tạo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action</a:t>
            </a:r>
            <a:r>
              <a:rPr lang="vi-VN" spc="-8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trong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controller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gọi</a:t>
            </a:r>
            <a:r>
              <a:rPr lang="vi-VN" spc="-7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tới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Url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endpoint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spc="-25" dirty="0">
                <a:latin typeface="Segoe UI"/>
                <a:cs typeface="Segoe UI"/>
              </a:rPr>
              <a:t>của </a:t>
            </a:r>
            <a:r>
              <a:rPr lang="vi-VN" dirty="0">
                <a:latin typeface="Segoe UI"/>
                <a:cs typeface="Segoe UI"/>
              </a:rPr>
              <a:t>RESTful</a:t>
            </a:r>
            <a:r>
              <a:rPr lang="vi-VN" spc="-6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APIs,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xử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lý</a:t>
            </a:r>
            <a:r>
              <a:rPr lang="vi-VN" spc="-6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DeserializeObject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json</a:t>
            </a:r>
            <a:r>
              <a:rPr lang="vi-VN" spc="-7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sang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object</a:t>
            </a:r>
            <a:endParaRPr lang="vi-VN" dirty="0">
              <a:latin typeface="Segoe UI"/>
              <a:cs typeface="Segoe UI"/>
            </a:endParaRPr>
          </a:p>
          <a:p>
            <a:pPr marL="354965" indent="-342265">
              <a:spcBef>
                <a:spcPts val="675"/>
              </a:spcBef>
              <a:buFont typeface="Wingdings"/>
              <a:buChar char=""/>
              <a:tabLst>
                <a:tab pos="354965" algn="l"/>
              </a:tabLst>
            </a:pPr>
            <a:r>
              <a:rPr lang="vi-VN" dirty="0">
                <a:latin typeface="Segoe UI"/>
                <a:cs typeface="Segoe UI"/>
              </a:rPr>
              <a:t>Action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method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phải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được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thiết</a:t>
            </a:r>
            <a:r>
              <a:rPr lang="vi-VN" spc="-5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kế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bất</a:t>
            </a:r>
            <a:r>
              <a:rPr lang="vi-VN" spc="-40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đồng</a:t>
            </a:r>
            <a:r>
              <a:rPr lang="vi-VN" spc="-55" dirty="0">
                <a:latin typeface="Segoe UI"/>
                <a:cs typeface="Segoe UI"/>
              </a:rPr>
              <a:t> </a:t>
            </a:r>
            <a:r>
              <a:rPr lang="vi-VN" dirty="0">
                <a:latin typeface="Segoe UI"/>
                <a:cs typeface="Segoe UI"/>
              </a:rPr>
              <a:t>bộ</a:t>
            </a:r>
            <a:r>
              <a:rPr lang="vi-VN" spc="-45" dirty="0">
                <a:latin typeface="Segoe UI"/>
                <a:cs typeface="Segoe UI"/>
              </a:rPr>
              <a:t> </a:t>
            </a:r>
            <a:r>
              <a:rPr lang="vi-VN" spc="-25" dirty="0" smtClean="0">
                <a:latin typeface="Segoe UI"/>
                <a:cs typeface="Segoe UI"/>
              </a:rPr>
              <a:t>khi</a:t>
            </a:r>
            <a:r>
              <a:rPr lang="en-US" dirty="0" smtClean="0">
                <a:latin typeface="Segoe UI"/>
                <a:cs typeface="Segoe UI"/>
              </a:rPr>
              <a:t> </a:t>
            </a:r>
            <a:r>
              <a:rPr lang="vi-VN" dirty="0" smtClean="0">
                <a:latin typeface="Segoe UI"/>
                <a:cs typeface="Segoe UI"/>
              </a:rPr>
              <a:t>dùng</a:t>
            </a:r>
            <a:r>
              <a:rPr lang="vi-VN" spc="-55" dirty="0" smtClean="0">
                <a:latin typeface="Segoe UI"/>
                <a:cs typeface="Segoe UI"/>
              </a:rPr>
              <a:t> </a:t>
            </a:r>
            <a:r>
              <a:rPr lang="vi-VN" spc="-10" dirty="0">
                <a:latin typeface="Segoe UI"/>
                <a:cs typeface="Segoe UI"/>
              </a:rPr>
              <a:t>HttpClient</a:t>
            </a:r>
            <a:endParaRPr lang="vi-VN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9644" y="2821893"/>
            <a:ext cx="8197866" cy="344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5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đọc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record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từ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1800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Tạo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view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hiển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thị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kết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quả</a:t>
            </a:r>
            <a:r>
              <a:rPr lang="en-US" spc="-55" dirty="0">
                <a:latin typeface="Segoe UI"/>
                <a:cs typeface="Segoe UI"/>
              </a:rPr>
              <a:t> </a:t>
            </a:r>
            <a:endParaRPr lang="en-US" spc="-55" dirty="0" smtClean="0">
              <a:latin typeface="Segoe UI"/>
              <a:cs typeface="Segoe UI"/>
            </a:endParaRPr>
          </a:p>
          <a:p>
            <a:pPr marL="12700" indent="0">
              <a:spcBef>
                <a:spcPts val="1800"/>
              </a:spcBef>
              <a:buNone/>
              <a:tabLst>
                <a:tab pos="354965" algn="l"/>
              </a:tabLst>
            </a:pPr>
            <a:r>
              <a:rPr lang="en-US" dirty="0" err="1" smtClean="0">
                <a:latin typeface="Segoe UI"/>
                <a:cs typeface="Segoe UI"/>
              </a:rPr>
              <a:t>với</a:t>
            </a:r>
            <a:r>
              <a:rPr lang="en-US" spc="-55" dirty="0" smtClean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2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button</a:t>
            </a:r>
            <a:r>
              <a:rPr lang="en-US" spc="-50" dirty="0">
                <a:latin typeface="Segoe UI"/>
                <a:cs typeface="Segoe UI"/>
              </a:rPr>
              <a:t> </a:t>
            </a:r>
            <a:endParaRPr lang="en-US" spc="-50" dirty="0" smtClean="0">
              <a:latin typeface="Segoe UI"/>
              <a:cs typeface="Segoe UI"/>
            </a:endParaRPr>
          </a:p>
          <a:p>
            <a:pPr marL="12700" indent="0">
              <a:spcBef>
                <a:spcPts val="1800"/>
              </a:spcBef>
              <a:buNone/>
              <a:tabLst>
                <a:tab pos="354965" algn="l"/>
              </a:tabLst>
            </a:pPr>
            <a:r>
              <a:rPr lang="en-US" dirty="0" smtClean="0">
                <a:latin typeface="Segoe UI"/>
                <a:cs typeface="Segoe UI"/>
              </a:rPr>
              <a:t>Delete</a:t>
            </a:r>
            <a:r>
              <a:rPr lang="en-US" spc="-40" dirty="0" smtClean="0">
                <a:latin typeface="Segoe UI"/>
                <a:cs typeface="Segoe UI"/>
              </a:rPr>
              <a:t> </a:t>
            </a:r>
            <a:r>
              <a:rPr lang="en-US" spc="-25" dirty="0" err="1" smtClean="0">
                <a:latin typeface="Segoe UI"/>
                <a:cs typeface="Segoe UI"/>
              </a:rPr>
              <a:t>và</a:t>
            </a:r>
            <a:r>
              <a:rPr lang="en-US" dirty="0" smtClean="0">
                <a:latin typeface="Segoe UI"/>
                <a:cs typeface="Segoe UI"/>
              </a:rPr>
              <a:t> </a:t>
            </a:r>
            <a:r>
              <a:rPr lang="en-US" spc="-10" dirty="0" smtClean="0">
                <a:latin typeface="Segoe UI"/>
                <a:cs typeface="Segoe UI"/>
              </a:rPr>
              <a:t>Update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3554" y="1142512"/>
            <a:ext cx="6679692" cy="541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1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đọc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record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từ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Chạy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spc="-10" dirty="0">
                <a:latin typeface="Segoe UI"/>
                <a:cs typeface="Segoe UI"/>
              </a:rPr>
              <a:t>RESTful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APIs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và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client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kiểm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tra</a:t>
            </a:r>
            <a:r>
              <a:rPr lang="en-US" spc="-65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kết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spc="-25" dirty="0" err="1">
                <a:latin typeface="Segoe UI"/>
                <a:cs typeface="Segoe UI"/>
              </a:rPr>
              <a:t>quả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039" y="2223966"/>
            <a:ext cx="9143999" cy="329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32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đọc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record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từ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pc="-60" dirty="0" err="1">
                <a:latin typeface="Segoe UI"/>
                <a:cs typeface="Segoe UI"/>
              </a:rPr>
              <a:t>Yêu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cầu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từ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Api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theo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spc="-25" dirty="0">
                <a:latin typeface="Segoe UI"/>
                <a:cs typeface="Segoe UI"/>
              </a:rPr>
              <a:t>Id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1945246"/>
            <a:ext cx="8382000" cy="422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62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đọc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record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từ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pc="-60" dirty="0" err="1">
                <a:latin typeface="Segoe UI"/>
                <a:cs typeface="Segoe UI"/>
              </a:rPr>
              <a:t>Yêu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cầu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spc="-6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từ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Api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theo</a:t>
            </a:r>
            <a:r>
              <a:rPr lang="en-US" spc="-55" dirty="0">
                <a:latin typeface="Segoe UI"/>
                <a:cs typeface="Segoe UI"/>
              </a:rPr>
              <a:t> </a:t>
            </a:r>
            <a:r>
              <a:rPr lang="en-US" spc="-25" dirty="0">
                <a:latin typeface="Segoe UI"/>
                <a:cs typeface="Segoe UI"/>
              </a:rPr>
              <a:t>Id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296" y="1618244"/>
            <a:ext cx="6024372" cy="4078224"/>
          </a:xfrm>
          <a:prstGeom prst="rect">
            <a:avLst/>
          </a:prstGeom>
        </p:spPr>
      </p:pic>
      <p:pic>
        <p:nvPicPr>
          <p:cNvPr id="10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71868" y="2999465"/>
            <a:ext cx="6368796" cy="210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04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đọc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record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từ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Thêm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từ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spc="-25" dirty="0" err="1">
                <a:latin typeface="Segoe UI"/>
                <a:cs typeface="Segoe UI"/>
              </a:rPr>
              <a:t>Api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1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184" y="2100874"/>
            <a:ext cx="8891016" cy="335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63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đọc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record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từ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Thêm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từ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spc="-25" dirty="0" err="1">
                <a:latin typeface="Segoe UI"/>
                <a:cs typeface="Segoe UI"/>
              </a:rPr>
              <a:t>Api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549" y="1764626"/>
            <a:ext cx="5126115" cy="4281248"/>
          </a:xfrm>
          <a:prstGeom prst="rect">
            <a:avLst/>
          </a:prstGeom>
        </p:spPr>
      </p:pic>
      <p:pic>
        <p:nvPicPr>
          <p:cNvPr id="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98577" y="2760431"/>
            <a:ext cx="5593079" cy="271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5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đọc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record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từ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Thêm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liệu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từ</a:t>
            </a:r>
            <a:r>
              <a:rPr lang="en-US" spc="-35" dirty="0">
                <a:latin typeface="Segoe UI"/>
                <a:cs typeface="Segoe UI"/>
              </a:rPr>
              <a:t> </a:t>
            </a:r>
            <a:r>
              <a:rPr lang="en-US" spc="-25" dirty="0" err="1">
                <a:latin typeface="Segoe UI"/>
                <a:cs typeface="Segoe UI"/>
              </a:rPr>
              <a:t>Api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0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0128" y="1877919"/>
            <a:ext cx="8488680" cy="417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6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đọc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record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từ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Cập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nhật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spc="-20" dirty="0" err="1">
                <a:latin typeface="Segoe UI"/>
                <a:cs typeface="Segoe UI"/>
              </a:rPr>
              <a:t>liệu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714" y="2100874"/>
            <a:ext cx="8357616" cy="361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7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đọc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record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từ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Cập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nhật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spc="-20" dirty="0" err="1">
                <a:latin typeface="Segoe UI"/>
                <a:cs typeface="Segoe UI"/>
              </a:rPr>
              <a:t>liệu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877" y="1971050"/>
            <a:ext cx="4989575" cy="3372612"/>
          </a:xfrm>
          <a:prstGeom prst="rect">
            <a:avLst/>
          </a:prstGeom>
        </p:spPr>
      </p:pic>
      <p:pic>
        <p:nvPicPr>
          <p:cNvPr id="10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93071" y="2177913"/>
            <a:ext cx="5655564" cy="357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6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Asp.net core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đọc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record </a:t>
            </a:r>
            <a:r>
              <a:rPr lang="en-US" b="1" dirty="0" err="1">
                <a:solidFill>
                  <a:srgbClr val="FF0000"/>
                </a:solidFill>
                <a:latin typeface="+mn-lt"/>
              </a:rPr>
              <a:t>từ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RESTful APIs</a:t>
            </a:r>
            <a:endParaRPr lang="en-US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dirty="0" err="1">
                <a:latin typeface="Segoe UI"/>
                <a:cs typeface="Segoe UI"/>
              </a:rPr>
              <a:t>Cập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nhật</a:t>
            </a:r>
            <a:r>
              <a:rPr lang="en-US" spc="-40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dữ</a:t>
            </a:r>
            <a:r>
              <a:rPr lang="en-US" spc="-50" dirty="0">
                <a:latin typeface="Segoe UI"/>
                <a:cs typeface="Segoe UI"/>
              </a:rPr>
              <a:t> </a:t>
            </a:r>
            <a:r>
              <a:rPr lang="en-US" spc="-20" dirty="0" err="1">
                <a:latin typeface="Segoe UI"/>
                <a:cs typeface="Segoe UI"/>
              </a:rPr>
              <a:t>liệu</a:t>
            </a:r>
            <a:endParaRPr lang="en-US" dirty="0">
              <a:latin typeface="Segoe UI"/>
              <a:cs typeface="Segoe U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1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1638" y="2004089"/>
            <a:ext cx="6390895" cy="400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7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12700">
              <a:lnSpc>
                <a:spcPts val="1770"/>
              </a:lnSpc>
            </a:pP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Demo</a:t>
            </a:r>
            <a:r>
              <a:rPr lang="en-US" sz="360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client</a:t>
            </a:r>
            <a:r>
              <a:rPr lang="en-US" sz="360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 err="1">
                <a:solidFill>
                  <a:srgbClr val="FFC000"/>
                </a:solidFill>
                <a:latin typeface="Calibri"/>
                <a:cs typeface="Calibri"/>
              </a:rPr>
              <a:t>gọi</a:t>
            </a:r>
            <a:r>
              <a:rPr lang="en-US" sz="36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 err="1">
                <a:solidFill>
                  <a:srgbClr val="FFC000"/>
                </a:solidFill>
                <a:latin typeface="Calibri"/>
                <a:cs typeface="Calibri"/>
              </a:rPr>
              <a:t>các</a:t>
            </a:r>
            <a:r>
              <a:rPr lang="en-US" sz="36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Calibri"/>
                <a:cs typeface="Calibri"/>
              </a:rPr>
              <a:t>crud</a:t>
            </a:r>
            <a:r>
              <a:rPr lang="en-US" sz="360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dirty="0" err="1">
                <a:solidFill>
                  <a:srgbClr val="FFC000"/>
                </a:solidFill>
                <a:latin typeface="Calibri"/>
                <a:cs typeface="Calibri"/>
              </a:rPr>
              <a:t>từ</a:t>
            </a:r>
            <a:r>
              <a:rPr lang="en-US" sz="360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3600" spc="-25" dirty="0" err="1">
                <a:solidFill>
                  <a:srgbClr val="FFC000"/>
                </a:solidFill>
                <a:latin typeface="Calibri"/>
                <a:cs typeface="Calibri"/>
              </a:rPr>
              <a:t>Api</a:t>
            </a:r>
            <a:endParaRPr lang="en-US" sz="36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32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4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0" y="2057401"/>
            <a:ext cx="10511204" cy="3974122"/>
          </a:xfrm>
        </p:spPr>
        <p:txBody>
          <a:bodyPr>
            <a:noAutofit/>
          </a:bodyPr>
          <a:lstStyle/>
          <a:p>
            <a:pPr marL="11430">
              <a:lnSpc>
                <a:spcPct val="100000"/>
              </a:lnSpc>
              <a:spcBef>
                <a:spcPts val="865"/>
              </a:spcBef>
              <a:buSzPct val="96875"/>
              <a:tabLst>
                <a:tab pos="375285" algn="l"/>
              </a:tabLst>
            </a:pPr>
            <a:r>
              <a:rPr lang="en-US" sz="3200" dirty="0">
                <a:solidFill>
                  <a:srgbClr val="FFC000"/>
                </a:solidFill>
              </a:rPr>
              <a:t>web</a:t>
            </a:r>
            <a:r>
              <a:rPr lang="en-US" sz="3200" spc="-60" dirty="0">
                <a:solidFill>
                  <a:srgbClr val="FFC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API</a:t>
            </a:r>
            <a:r>
              <a:rPr lang="en-US" sz="3200" spc="-65" dirty="0">
                <a:solidFill>
                  <a:srgbClr val="FFC000"/>
                </a:solidFill>
              </a:rPr>
              <a:t> </a:t>
            </a:r>
            <a:r>
              <a:rPr lang="en-US" sz="3200" spc="-40" dirty="0">
                <a:solidFill>
                  <a:srgbClr val="FFC000"/>
                </a:solidFill>
              </a:rPr>
              <a:t>Template</a:t>
            </a:r>
            <a:r>
              <a:rPr lang="en-US" sz="3200" spc="-35" dirty="0">
                <a:solidFill>
                  <a:srgbClr val="FFC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–</a:t>
            </a:r>
            <a:r>
              <a:rPr lang="en-US" sz="3200" spc="-45" dirty="0">
                <a:solidFill>
                  <a:srgbClr val="FFC000"/>
                </a:solidFill>
              </a:rPr>
              <a:t> </a:t>
            </a:r>
            <a:r>
              <a:rPr lang="en-US" sz="3200" dirty="0" err="1">
                <a:solidFill>
                  <a:srgbClr val="FFC000"/>
                </a:solidFill>
              </a:rPr>
              <a:t>Sql</a:t>
            </a:r>
            <a:r>
              <a:rPr lang="en-US" sz="3200" spc="-55" dirty="0">
                <a:solidFill>
                  <a:srgbClr val="FFC000"/>
                </a:solidFill>
              </a:rPr>
              <a:t> </a:t>
            </a:r>
            <a:r>
              <a:rPr lang="en-US" sz="3200" spc="-10" dirty="0">
                <a:solidFill>
                  <a:srgbClr val="FFC000"/>
                </a:solidFill>
              </a:rPr>
              <a:t>Server</a:t>
            </a:r>
            <a:br>
              <a:rPr lang="en-US" sz="3200" spc="-10" dirty="0">
                <a:solidFill>
                  <a:srgbClr val="FFC000"/>
                </a:solidFill>
              </a:rPr>
            </a:br>
            <a:r>
              <a:rPr lang="en-US" sz="3200" dirty="0">
                <a:solidFill>
                  <a:srgbClr val="FFC000"/>
                </a:solidFill>
              </a:rPr>
              <a:t>web</a:t>
            </a:r>
            <a:r>
              <a:rPr lang="en-US" sz="3200" spc="-40" dirty="0">
                <a:solidFill>
                  <a:srgbClr val="FFC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API</a:t>
            </a:r>
            <a:r>
              <a:rPr lang="en-US" sz="3200" spc="-35" dirty="0">
                <a:solidFill>
                  <a:srgbClr val="FFC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user</a:t>
            </a:r>
            <a:r>
              <a:rPr lang="en-US" sz="3200" spc="-25" dirty="0">
                <a:solidFill>
                  <a:srgbClr val="FFC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define</a:t>
            </a:r>
            <a:r>
              <a:rPr lang="en-US" sz="3200" spc="-40" dirty="0">
                <a:solidFill>
                  <a:srgbClr val="FFC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–</a:t>
            </a:r>
            <a:r>
              <a:rPr lang="en-US" sz="3200" spc="-20" dirty="0">
                <a:solidFill>
                  <a:srgbClr val="FFC000"/>
                </a:solidFill>
              </a:rPr>
              <a:t> </a:t>
            </a:r>
            <a:r>
              <a:rPr lang="en-US" sz="3200" dirty="0" err="1">
                <a:solidFill>
                  <a:srgbClr val="FFC000"/>
                </a:solidFill>
              </a:rPr>
              <a:t>Sql</a:t>
            </a:r>
            <a:r>
              <a:rPr lang="en-US" sz="3200" spc="-30" dirty="0">
                <a:solidFill>
                  <a:srgbClr val="FFC000"/>
                </a:solidFill>
              </a:rPr>
              <a:t> </a:t>
            </a:r>
            <a:r>
              <a:rPr lang="en-US" sz="3200" spc="-10" dirty="0">
                <a:solidFill>
                  <a:srgbClr val="FFC000"/>
                </a:solidFill>
              </a:rPr>
              <a:t>Server</a:t>
            </a:r>
            <a:br>
              <a:rPr lang="en-US" sz="3200" spc="-10" dirty="0">
                <a:solidFill>
                  <a:srgbClr val="FFC000"/>
                </a:solidFill>
              </a:rPr>
            </a:br>
            <a:r>
              <a:rPr lang="en-US" sz="3200" dirty="0">
                <a:solidFill>
                  <a:srgbClr val="FFC000"/>
                </a:solidFill>
              </a:rPr>
              <a:t>web</a:t>
            </a:r>
            <a:r>
              <a:rPr lang="en-US" sz="3200" spc="-90" dirty="0">
                <a:solidFill>
                  <a:srgbClr val="FFC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Client</a:t>
            </a:r>
            <a:r>
              <a:rPr lang="en-US" sz="3200" spc="-75" dirty="0">
                <a:solidFill>
                  <a:srgbClr val="FFC000"/>
                </a:solidFill>
              </a:rPr>
              <a:t> </a:t>
            </a:r>
            <a:r>
              <a:rPr lang="en-US" sz="3200" dirty="0" err="1">
                <a:solidFill>
                  <a:srgbClr val="FFC000"/>
                </a:solidFill>
              </a:rPr>
              <a:t>gọi</a:t>
            </a:r>
            <a:r>
              <a:rPr lang="en-US" sz="3200" spc="-90" dirty="0">
                <a:solidFill>
                  <a:srgbClr val="FFC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RESTful</a:t>
            </a:r>
            <a:r>
              <a:rPr lang="en-US" sz="3200" spc="-70" dirty="0">
                <a:solidFill>
                  <a:srgbClr val="FFC000"/>
                </a:solidFill>
              </a:rPr>
              <a:t> </a:t>
            </a:r>
            <a:r>
              <a:rPr lang="en-US" sz="3200" spc="-20" dirty="0">
                <a:solidFill>
                  <a:srgbClr val="FFC000"/>
                </a:solidFill>
              </a:rPr>
              <a:t>APIs</a:t>
            </a:r>
            <a:endParaRPr lang="en-US" sz="3200" spc="-2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-1" y="6296202"/>
            <a:ext cx="11933241" cy="4891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L</a:t>
            </a:r>
            <a:r>
              <a:rPr lang="vi-VN" dirty="0" smtClean="0"/>
              <a:t>ập </a:t>
            </a:r>
            <a:r>
              <a:rPr lang="vi-VN" dirty="0"/>
              <a:t>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 flipH="1">
            <a:off x="888522" y="6155524"/>
            <a:ext cx="1283177" cy="514057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</a:t>
            </a:r>
            <a:r>
              <a:rPr lang="en-US" sz="6000" dirty="0" err="1" smtClean="0">
                <a:solidFill>
                  <a:schemeClr val="bg1"/>
                </a:solidFill>
              </a:rPr>
              <a:t>Tổng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kết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bài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học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0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803</Words>
  <Application>Microsoft Office PowerPoint</Application>
  <PresentationFormat>Widescreen</PresentationFormat>
  <Paragraphs>163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7" baseType="lpstr">
      <vt:lpstr>Arial</vt:lpstr>
      <vt:lpstr>Calibri</vt:lpstr>
      <vt:lpstr>Calibri Light</vt:lpstr>
      <vt:lpstr>Courier New</vt:lpstr>
      <vt:lpstr>Roboto</vt:lpstr>
      <vt:lpstr>Roboto Lt</vt:lpstr>
      <vt:lpstr>Segoe UI</vt:lpstr>
      <vt:lpstr>Tw Cen MT</vt:lpstr>
      <vt:lpstr>Tw Cen MT Condensed</vt:lpstr>
      <vt:lpstr>Wingdings</vt:lpstr>
      <vt:lpstr>Wingdings 3</vt:lpstr>
      <vt:lpstr>Office Theme</vt:lpstr>
      <vt:lpstr>ModernClassicBlock-3</vt:lpstr>
      <vt:lpstr>Custom Design</vt:lpstr>
      <vt:lpstr>Lập Trình C#3</vt:lpstr>
      <vt:lpstr>Mục tiêu</vt:lpstr>
      <vt:lpstr>WEB API - ASP.NET CORE – SQL SERVER</vt:lpstr>
      <vt:lpstr>Ví dụ EF Core – API tempalte- Sql Server</vt:lpstr>
      <vt:lpstr>Ví dụ EF Core – API tempalte- Sql Server</vt:lpstr>
      <vt:lpstr>Ví dụ EF Core – API tempalte- Sql Server</vt:lpstr>
      <vt:lpstr>Ví dụ EF Core – API - Sql Server</vt:lpstr>
      <vt:lpstr>Ví dụ EF Core – API tempalte- Sql Server</vt:lpstr>
      <vt:lpstr>Ví dụ EF Core – API tempalte- Sql Server</vt:lpstr>
      <vt:lpstr>Ví dụ EF Core – API tempalte- Sql Server</vt:lpstr>
      <vt:lpstr>Demo EF core API template cho Crud</vt:lpstr>
      <vt:lpstr>Ví dụ EF Core – API - Sql Server</vt:lpstr>
      <vt:lpstr>Ví dụ EF Core – API - Sql Server</vt:lpstr>
      <vt:lpstr>Ví dụ EF Core – API - Sql Server</vt:lpstr>
      <vt:lpstr>Ví dụ EF Core – API - Sql Server</vt:lpstr>
      <vt:lpstr>Demo EF core API Empty project cho Crud</vt:lpstr>
      <vt:lpstr>Web Client gọi RESTful APIs</vt:lpstr>
      <vt:lpstr>Web Client gọi RESTful APIs</vt:lpstr>
      <vt:lpstr>Ví dụ Asp.net core gọi RESTful APIs</vt:lpstr>
      <vt:lpstr>Ví dụ Asp.net core gọi RESTful APIs</vt:lpstr>
      <vt:lpstr>Asp.net core đọc record từ RESTful APIs</vt:lpstr>
      <vt:lpstr>Asp.net core đọc record từ RESTful APIs</vt:lpstr>
      <vt:lpstr>Asp.net core đọc record từ RESTful APIs</vt:lpstr>
      <vt:lpstr>Asp.net core đọc record từ RESTful APIs</vt:lpstr>
      <vt:lpstr>Asp.net core đọc record từ RESTful APIs</vt:lpstr>
      <vt:lpstr>Asp.net core đọc record từ RESTful APIs</vt:lpstr>
      <vt:lpstr>Asp.net core đọc record từ RESTful APIs</vt:lpstr>
      <vt:lpstr>Asp.net core đọc record từ RESTful APIs</vt:lpstr>
      <vt:lpstr>Asp.net core đọc record từ RESTful APIs</vt:lpstr>
      <vt:lpstr>Asp.net core đọc record từ RESTful APIs</vt:lpstr>
      <vt:lpstr>Asp.net core đọc record từ RESTful APIs</vt:lpstr>
      <vt:lpstr>Demo client gọi các crud từ Api</vt:lpstr>
      <vt:lpstr>web API Template – Sql Server web API user define – Sql Server web Client gọi RESTful APIs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C#3</dc:title>
  <dc:creator>Nguy Nguyen Uy Vu</dc:creator>
  <cp:lastModifiedBy>Nguy Nguyen Uy Vu</cp:lastModifiedBy>
  <cp:revision>81</cp:revision>
  <dcterms:created xsi:type="dcterms:W3CDTF">2024-12-10T15:23:11Z</dcterms:created>
  <dcterms:modified xsi:type="dcterms:W3CDTF">2024-12-29T08:46:52Z</dcterms:modified>
</cp:coreProperties>
</file>