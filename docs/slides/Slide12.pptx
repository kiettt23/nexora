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jpg"/>
  <Override PartName="/ppt/media/image13.jpg" ContentType="image/jpg"/>
  <Override PartName="/ppt/media/image14.jpg" ContentType="image/jpg"/>
  <Override PartName="/ppt/media/image19.jpg" ContentType="image/jpg"/>
  <Override PartName="/ppt/media/image23.jpg" ContentType="image/jpg"/>
  <Override PartName="/ppt/media/image26.jpg" ContentType="image/jpg"/>
  <Override PartName="/ppt/media/image27.jpg" ContentType="image/jpg"/>
  <Override PartName="/ppt/media/image31.jpg" ContentType="image/jpg"/>
  <Override PartName="/ppt/media/image32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7" r:id="rId3"/>
  </p:sldMasterIdLst>
  <p:notesMasterIdLst>
    <p:notesMasterId r:id="rId38"/>
  </p:notesMasterIdLst>
  <p:sldIdLst>
    <p:sldId id="257" r:id="rId4"/>
    <p:sldId id="258" r:id="rId5"/>
    <p:sldId id="259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412" r:id="rId19"/>
    <p:sldId id="332" r:id="rId20"/>
    <p:sldId id="369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357" r:id="rId36"/>
    <p:sldId id="28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67F05-D95D-49FE-87B7-67C84346D2CD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582C-81C5-4156-B658-E10D67690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E5FABD-26C8-4F74-B1E3-45BC91BC9D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2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4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8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7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21926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79988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187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6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0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3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141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60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289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286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6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73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673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408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224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4320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217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50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58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45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86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573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615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31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532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140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78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519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633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543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7721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017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294815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8842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2787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7437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74826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663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4270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390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78662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2790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2682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245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561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008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235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532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3623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18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886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25001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3161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4B414-6006-A545-91A5-6439F5733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6400" y="4038600"/>
            <a:ext cx="6705600" cy="830884"/>
          </a:xfrm>
        </p:spPr>
        <p:txBody>
          <a:bodyPr>
            <a:normAutofit/>
          </a:bodyPr>
          <a:lstStyle>
            <a:lvl1pPr algn="l">
              <a:defRPr sz="36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7244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Résultat de recherche d'images pour &quot;testing&quot;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8" y="2439665"/>
            <a:ext cx="2827624" cy="20348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C30FD-63C3-C741-9C8B-9481A688A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81000"/>
            <a:ext cx="396888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53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8839200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F313-9C13-47C6-A228-B55986214473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8719"/>
            <a:ext cx="2032000" cy="461818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983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6EF9-73EC-47CA-9E52-574751B1CDA3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965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F786-C4DF-431A-9246-1EC1829B2C78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574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9D84-263E-478C-94B6-63AC70204759}" type="datetime1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22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8565-00B5-4601-AD26-950DAB626426}" type="datetime1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668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AF78-3B29-49D4-81C3-7555616E6373}" type="datetime1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52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8055-7455-47F1-BA44-73D8B83B9342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937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46837-A547-4964-AC0B-E650641F7846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145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0451A-A87B-4BA7-B824-056B86D6CA5D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663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4BB19-EC7D-4033-B460-36F421974985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3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-1930400" y="6188076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C0512-7E02-4E40-BD9C-21FAB993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13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1387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13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C4897-F721-4489-83C3-CD2672282672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topdev.vn/blog/json-la-gi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placeholder.typicode.com/users" TargetMode="External"/><Relationship Id="rId2" Type="http://schemas.openxmlformats.org/officeDocument/2006/relationships/hyperlink" Target="https://www.getpostman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localhost:5001/api/Reserv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localhost:5001/api/Reserv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localhost:5001/api/Reserv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751591" cy="7560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C#3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0" y="3299438"/>
            <a:ext cx="7244861" cy="1196362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rgbClr val="FFC000"/>
                </a:solidFill>
              </a:rPr>
              <a:t>Bài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3200" dirty="0" smtClean="0">
                <a:solidFill>
                  <a:srgbClr val="FFC000"/>
                </a:solidFill>
              </a:rPr>
              <a:t>12: </a:t>
            </a:r>
            <a:r>
              <a:rPr lang="en-US" sz="3200" b="1" dirty="0" smtClean="0">
                <a:solidFill>
                  <a:srgbClr val="FFC000"/>
                </a:solidFill>
                <a:cs typeface="Segoe UI"/>
              </a:rPr>
              <a:t>WEB</a:t>
            </a:r>
            <a:r>
              <a:rPr lang="en-US" sz="3200" b="1" spc="90" dirty="0" smtClean="0">
                <a:solidFill>
                  <a:srgbClr val="FFC000"/>
                </a:solidFill>
                <a:cs typeface="Segoe UI"/>
              </a:rPr>
              <a:t> </a:t>
            </a:r>
            <a:r>
              <a:rPr lang="en-US" sz="3200" b="1" dirty="0">
                <a:solidFill>
                  <a:srgbClr val="FFC000"/>
                </a:solidFill>
                <a:cs typeface="Segoe UI"/>
              </a:rPr>
              <a:t>APIS</a:t>
            </a:r>
            <a:r>
              <a:rPr lang="en-US" sz="3200" b="1" spc="114" dirty="0">
                <a:solidFill>
                  <a:srgbClr val="FFC000"/>
                </a:solidFill>
                <a:cs typeface="Segoe UI"/>
              </a:rPr>
              <a:t> </a:t>
            </a:r>
            <a:r>
              <a:rPr lang="en-US" sz="3200" b="1" dirty="0">
                <a:solidFill>
                  <a:srgbClr val="FFC000"/>
                </a:solidFill>
                <a:cs typeface="Segoe UI"/>
              </a:rPr>
              <a:t>-</a:t>
            </a:r>
            <a:r>
              <a:rPr lang="en-US" sz="3200" b="1" spc="-25" dirty="0">
                <a:solidFill>
                  <a:srgbClr val="FFC000"/>
                </a:solidFill>
                <a:cs typeface="Segoe UI"/>
              </a:rPr>
              <a:t> </a:t>
            </a:r>
            <a:r>
              <a:rPr lang="en-US" sz="3200" b="1" spc="-40" dirty="0">
                <a:solidFill>
                  <a:srgbClr val="FFC000"/>
                </a:solidFill>
                <a:cs typeface="Segoe UI"/>
              </a:rPr>
              <a:t>ASP.NET</a:t>
            </a:r>
            <a:r>
              <a:rPr lang="en-US" sz="3200" b="1" spc="-25" dirty="0">
                <a:solidFill>
                  <a:srgbClr val="FFC000"/>
                </a:solidFill>
                <a:cs typeface="Segoe UI"/>
              </a:rPr>
              <a:t> </a:t>
            </a:r>
            <a:r>
              <a:rPr lang="en-US" sz="3200" b="1" spc="-20" dirty="0" smtClean="0">
                <a:solidFill>
                  <a:srgbClr val="FFC000"/>
                </a:solidFill>
                <a:cs typeface="Segoe UI"/>
              </a:rPr>
              <a:t>CORE</a:t>
            </a:r>
            <a:endParaRPr lang="en-US" sz="3200"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Mục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tiêu</a:t>
            </a:r>
            <a:endParaRPr lang="en-US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>
              <a:spcBef>
                <a:spcPts val="775"/>
              </a:spcBef>
              <a:buFont typeface="Wingdings"/>
              <a:buChar char=""/>
              <a:tabLst>
                <a:tab pos="355600" algn="l"/>
              </a:tabLst>
            </a:pPr>
            <a:r>
              <a:rPr lang="en-US" sz="3200" dirty="0">
                <a:latin typeface="Segoe UI"/>
                <a:cs typeface="Segoe UI"/>
              </a:rPr>
              <a:t>Web</a:t>
            </a:r>
            <a:r>
              <a:rPr lang="en-US" sz="3200" spc="-130" dirty="0">
                <a:latin typeface="Segoe UI"/>
                <a:cs typeface="Segoe UI"/>
              </a:rPr>
              <a:t> </a:t>
            </a:r>
            <a:r>
              <a:rPr lang="en-US" sz="3200" spc="-25" dirty="0" err="1">
                <a:latin typeface="Segoe UI"/>
                <a:cs typeface="Segoe UI"/>
              </a:rPr>
              <a:t>Api</a:t>
            </a:r>
            <a:endParaRPr lang="en-US" sz="3200" dirty="0">
              <a:latin typeface="Segoe UI"/>
              <a:cs typeface="Segoe UI"/>
            </a:endParaRPr>
          </a:p>
          <a:p>
            <a:pPr marL="355600">
              <a:spcBef>
                <a:spcPts val="675"/>
              </a:spcBef>
              <a:buFont typeface="Wingdings"/>
              <a:buChar char=""/>
              <a:tabLst>
                <a:tab pos="355600" algn="l"/>
              </a:tabLst>
            </a:pPr>
            <a:r>
              <a:rPr lang="en-US" sz="3200" spc="-35" dirty="0">
                <a:latin typeface="Segoe UI"/>
                <a:cs typeface="Segoe UI"/>
              </a:rPr>
              <a:t>Testing</a:t>
            </a:r>
            <a:r>
              <a:rPr lang="en-US" sz="3200" spc="-7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Api</a:t>
            </a:r>
            <a:r>
              <a:rPr lang="en-US" sz="3200" spc="-55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-</a:t>
            </a:r>
            <a:r>
              <a:rPr lang="en-US" sz="3200" spc="-65" dirty="0">
                <a:latin typeface="Segoe UI"/>
                <a:cs typeface="Segoe UI"/>
              </a:rPr>
              <a:t> </a:t>
            </a:r>
            <a:r>
              <a:rPr lang="en-US" sz="3200" spc="-10" dirty="0">
                <a:latin typeface="Segoe UI"/>
                <a:cs typeface="Segoe UI"/>
              </a:rPr>
              <a:t>Postman</a:t>
            </a:r>
            <a:endParaRPr lang="en-US" sz="3200" dirty="0">
              <a:latin typeface="Segoe UI"/>
              <a:cs typeface="Segoe UI"/>
            </a:endParaRPr>
          </a:p>
          <a:p>
            <a:pPr marL="355600">
              <a:spcBef>
                <a:spcPts val="670"/>
              </a:spcBef>
              <a:buFont typeface="Wingdings"/>
              <a:buChar char=""/>
              <a:tabLst>
                <a:tab pos="355600" algn="l"/>
              </a:tabLst>
            </a:pPr>
            <a:r>
              <a:rPr lang="en-US" sz="3200" dirty="0">
                <a:latin typeface="Segoe UI"/>
                <a:cs typeface="Segoe UI"/>
              </a:rPr>
              <a:t>Web</a:t>
            </a:r>
            <a:r>
              <a:rPr lang="en-US" sz="3200" spc="-85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APIs</a:t>
            </a:r>
            <a:r>
              <a:rPr lang="en-US" sz="3200" spc="-80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in</a:t>
            </a:r>
            <a:r>
              <a:rPr lang="en-US" sz="3200" spc="-80" dirty="0">
                <a:latin typeface="Segoe UI"/>
                <a:cs typeface="Segoe UI"/>
              </a:rPr>
              <a:t> </a:t>
            </a:r>
            <a:r>
              <a:rPr lang="en-US" sz="3200" spc="-55" dirty="0">
                <a:latin typeface="Segoe UI"/>
                <a:cs typeface="Segoe UI"/>
              </a:rPr>
              <a:t>ASP.NET</a:t>
            </a:r>
            <a:r>
              <a:rPr lang="en-US" sz="3200" spc="-70" dirty="0">
                <a:latin typeface="Segoe UI"/>
                <a:cs typeface="Segoe UI"/>
              </a:rPr>
              <a:t> </a:t>
            </a:r>
            <a:r>
              <a:rPr lang="en-US" sz="3200" spc="-20" dirty="0">
                <a:latin typeface="Segoe UI"/>
                <a:cs typeface="Segoe UI"/>
              </a:rPr>
              <a:t>Core</a:t>
            </a:r>
            <a:endParaRPr lang="en-US" sz="3200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5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WEB</a:t>
            </a:r>
            <a:r>
              <a:rPr lang="en-US" b="1" spc="9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b="1" spc="-25" dirty="0">
                <a:solidFill>
                  <a:srgbClr val="FF0000"/>
                </a:solidFill>
                <a:latin typeface="+mn-lt"/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330" marR="374650" indent="-342265"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Kiến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trúc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ứng dụng hiện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đại ngày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nay ngày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càng phân</a:t>
            </a:r>
            <a:r>
              <a:rPr lang="vi-VN" spc="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tán, 	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không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phụ thuộc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ngôn ngữ đã thúc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đẩy việc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ứng dụng</a:t>
            </a:r>
            <a:r>
              <a:rPr lang="vi-VN" spc="-1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endParaRPr lang="vi-VN" dirty="0">
              <a:latin typeface="Times New Roman"/>
              <a:cs typeface="Times New Roman"/>
            </a:endParaRPr>
          </a:p>
          <a:p>
            <a:pPr marL="354330" marR="5080" indent="-342265"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phương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thức,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giao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thức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kết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nối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với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thư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viện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và 	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ứng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dụng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khác(Application</a:t>
            </a:r>
            <a:r>
              <a:rPr lang="vi-VN" spc="-6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Programming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Interface)</a:t>
            </a:r>
            <a:endParaRPr lang="vi-VN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2484" y="3120431"/>
            <a:ext cx="5508116" cy="323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WEB</a:t>
            </a:r>
            <a:r>
              <a:rPr lang="en-US" b="1" spc="9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b="1" spc="-25" dirty="0">
                <a:solidFill>
                  <a:srgbClr val="FF0000"/>
                </a:solidFill>
                <a:latin typeface="+mn-lt"/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330" marR="220979" indent="-342265">
              <a:spcBef>
                <a:spcPts val="105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spc="-114" dirty="0">
                <a:solidFill>
                  <a:srgbClr val="444444"/>
                </a:solidFill>
                <a:latin typeface="Times New Roman"/>
                <a:cs typeface="Times New Roman"/>
              </a:rPr>
              <a:t>Web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r>
              <a:rPr lang="vi-VN" spc="-1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</a:t>
            </a:r>
            <a:r>
              <a:rPr lang="vi-VN" spc="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một</a:t>
            </a:r>
            <a:r>
              <a:rPr lang="vi-VN" spc="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phương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thức</a:t>
            </a:r>
            <a:r>
              <a:rPr lang="vi-VN" spc="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dùng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để</a:t>
            </a:r>
            <a:r>
              <a:rPr lang="vi-VN" spc="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cho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phép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ứng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dụng</a:t>
            </a:r>
            <a:r>
              <a:rPr lang="vi-VN" spc="-35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khác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nhau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có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thể giao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tiếp,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trao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đổi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dữ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liệu qua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lại.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Dữ</a:t>
            </a:r>
            <a:r>
              <a:rPr lang="vi-VN" spc="-12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liệu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được</a:t>
            </a:r>
            <a:r>
              <a:rPr lang="vi-VN" spc="-6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10" dirty="0">
                <a:solidFill>
                  <a:srgbClr val="444444"/>
                </a:solidFill>
                <a:latin typeface="Times New Roman"/>
                <a:cs typeface="Times New Roman"/>
              </a:rPr>
              <a:t>Web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trả lại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thường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ở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dạng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JSON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hoặc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XML</a:t>
            </a:r>
            <a:r>
              <a:rPr lang="vi-VN" spc="-13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thông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qua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giao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thức HTTP</a:t>
            </a:r>
            <a:r>
              <a:rPr lang="vi-VN" spc="-1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hoặc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HTTPS</a:t>
            </a:r>
            <a:endParaRPr lang="vi-VN" dirty="0">
              <a:latin typeface="Times New Roman"/>
              <a:cs typeface="Times New Roman"/>
            </a:endParaRPr>
          </a:p>
          <a:p>
            <a:pPr marL="355600" marR="680085" indent="-343535">
              <a:spcBef>
                <a:spcPts val="63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spc="-75" dirty="0">
                <a:solidFill>
                  <a:srgbClr val="444444"/>
                </a:solidFill>
                <a:latin typeface="Times New Roman"/>
                <a:cs typeface="Times New Roman"/>
              </a:rPr>
              <a:t>Web</a:t>
            </a:r>
            <a:r>
              <a:rPr lang="vi-VN" spc="-18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hỗ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trợ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restful đầy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đủ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 phương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thức: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Get,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Post,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Put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Delete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dữ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liệu</a:t>
            </a:r>
            <a:endParaRPr lang="vi-VN" dirty="0">
              <a:latin typeface="Times New Roman"/>
              <a:cs typeface="Times New Roman"/>
            </a:endParaRPr>
          </a:p>
          <a:p>
            <a:pPr marL="354330" marR="483870" indent="-342265">
              <a:spcBef>
                <a:spcPts val="625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Hỗ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trợ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đầy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đủ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thành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phần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HTTP: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URI,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request/response</a:t>
            </a:r>
            <a:r>
              <a:rPr lang="vi-VN" spc="-6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headers,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caching,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versioning,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content </a:t>
            </a:r>
            <a:r>
              <a:rPr lang="vi-VN" spc="-10" dirty="0" smtClean="0">
                <a:solidFill>
                  <a:srgbClr val="444444"/>
                </a:solidFill>
                <a:latin typeface="Times New Roman"/>
                <a:cs typeface="Times New Roman"/>
              </a:rPr>
              <a:t>format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.</a:t>
            </a:r>
            <a:endParaRPr lang="vi-VN" dirty="0">
              <a:latin typeface="Times New Roman"/>
              <a:cs typeface="Times New Roman"/>
            </a:endParaRPr>
          </a:p>
          <a:p>
            <a:pPr marL="354330" marR="5080" indent="-342265">
              <a:spcBef>
                <a:spcPts val="625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Hầu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hết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website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đều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ứng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dụng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đến</a:t>
            </a:r>
            <a:r>
              <a:rPr lang="vi-VN" spc="-6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75" dirty="0">
                <a:solidFill>
                  <a:srgbClr val="444444"/>
                </a:solidFill>
                <a:latin typeface="Times New Roman"/>
                <a:cs typeface="Times New Roman"/>
              </a:rPr>
              <a:t>Web</a:t>
            </a:r>
            <a:r>
              <a:rPr lang="vi-VN" spc="-17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cho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phép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kết</a:t>
            </a:r>
            <a:r>
              <a:rPr lang="vi-VN" spc="-1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nối,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lấy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dữ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liệu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hoặc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cập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nhật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cơ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sở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dữ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liệu</a:t>
            </a:r>
            <a:r>
              <a:rPr lang="vi-VN" spc="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(login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thông</a:t>
            </a:r>
            <a:r>
              <a:rPr lang="vi-VN" spc="-2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qua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Google,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Facebook,</a:t>
            </a:r>
            <a:r>
              <a:rPr lang="vi-VN" spc="-7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Twitter)</a:t>
            </a:r>
            <a:endParaRPr lang="vi-VN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2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REST</a:t>
            </a:r>
            <a:r>
              <a:rPr lang="en-US" sz="3600" b="1" dirty="0">
                <a:solidFill>
                  <a:srgbClr val="FF0000"/>
                </a:solidFill>
              </a:rPr>
              <a:t>FUL</a:t>
            </a:r>
            <a:r>
              <a:rPr lang="en-US" sz="4000" b="1" spc="40" dirty="0">
                <a:solidFill>
                  <a:srgbClr val="FF0000"/>
                </a:solidFill>
              </a:rPr>
              <a:t> </a:t>
            </a:r>
            <a:r>
              <a:rPr lang="en-US" b="1" spc="-25" dirty="0">
                <a:solidFill>
                  <a:srgbClr val="FF0000"/>
                </a:solidFill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330" marR="280035" indent="-342265">
              <a:spcBef>
                <a:spcPts val="105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REST(REpresentational</a:t>
            </a:r>
            <a:r>
              <a:rPr lang="vi-VN" spc="-6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State</a:t>
            </a:r>
            <a:r>
              <a:rPr lang="vi-VN" spc="-8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Transfer)</a:t>
            </a:r>
            <a:r>
              <a:rPr lang="vi-VN" spc="-6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một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hệ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thống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1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ràng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buộc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(constraints)</a:t>
            </a:r>
            <a:endParaRPr lang="vi-VN" dirty="0">
              <a:latin typeface="Times New Roman"/>
              <a:cs typeface="Times New Roman"/>
            </a:endParaRPr>
          </a:p>
          <a:p>
            <a:pPr marL="355600" marR="293370" indent="-343535">
              <a:spcBef>
                <a:spcPts val="625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một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kiểu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kiến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trúc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được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sử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dụng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trong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việc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giao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tiếp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giữa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máy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tính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(máy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tính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nhân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và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máy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chủ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 smtClean="0">
                <a:solidFill>
                  <a:srgbClr val="444444"/>
                </a:solidFill>
                <a:latin typeface="Times New Roman"/>
                <a:cs typeface="Times New Roman"/>
              </a:rPr>
              <a:t>của</a:t>
            </a: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trang</a:t>
            </a:r>
            <a:r>
              <a:rPr lang="vi-VN" spc="-1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web)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trong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việc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quản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lý các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tài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nguyên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trên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internet.</a:t>
            </a:r>
            <a:endParaRPr lang="vi-VN" dirty="0">
              <a:latin typeface="Times New Roman"/>
              <a:cs typeface="Times New Roman"/>
            </a:endParaRPr>
          </a:p>
          <a:p>
            <a:pPr marL="355600" marR="167640" indent="-343535">
              <a:spcBef>
                <a:spcPts val="625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RESTful</a:t>
            </a:r>
            <a:r>
              <a:rPr lang="vi-VN" spc="-17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một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tiêu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chuẩn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tuân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thủ Rest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dùng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trong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việc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thiết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kế</a:t>
            </a:r>
            <a:r>
              <a:rPr lang="vi-VN" spc="-1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cho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ứng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dụng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web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(thiết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kế</a:t>
            </a:r>
            <a:r>
              <a:rPr lang="vi-VN" spc="-6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 smtClean="0">
                <a:solidFill>
                  <a:srgbClr val="444444"/>
                </a:solidFill>
                <a:latin typeface="Times New Roman"/>
                <a:cs typeface="Times New Roman"/>
              </a:rPr>
              <a:t>Web</a:t>
            </a: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services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)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để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tiện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cho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việc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quản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lý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resource,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chú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trọng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vào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tài nguyên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hệ thống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(tệp văn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bản,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ảnh,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âm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thanh,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video,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hoặc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dữ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liệu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động…),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bao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gồm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trạng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thái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tài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nguyên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được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định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dạng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và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được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truyền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tải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qua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HTTP.</a:t>
            </a:r>
            <a:endParaRPr lang="vi-VN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3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REST</a:t>
            </a:r>
            <a:r>
              <a:rPr lang="en-US" sz="3600" b="1" dirty="0">
                <a:solidFill>
                  <a:srgbClr val="FF0000"/>
                </a:solidFill>
              </a:rPr>
              <a:t>FUL</a:t>
            </a:r>
            <a:r>
              <a:rPr lang="en-US" sz="4000" b="1" spc="40" dirty="0">
                <a:solidFill>
                  <a:srgbClr val="FF0000"/>
                </a:solidFill>
              </a:rPr>
              <a:t> </a:t>
            </a:r>
            <a:r>
              <a:rPr lang="en-US" b="1" spc="-25" dirty="0">
                <a:solidFill>
                  <a:srgbClr val="FF0000"/>
                </a:solidFill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75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600" dirty="0">
                <a:solidFill>
                  <a:srgbClr val="444444"/>
                </a:solidFill>
                <a:latin typeface="Times New Roman"/>
                <a:cs typeface="Times New Roman"/>
              </a:rPr>
              <a:t>REST</a:t>
            </a:r>
            <a:r>
              <a:rPr lang="en-US" sz="2600" spc="-7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600" spc="-10" dirty="0">
                <a:solidFill>
                  <a:srgbClr val="444444"/>
                </a:solidFill>
                <a:latin typeface="Times New Roman"/>
                <a:cs typeface="Times New Roman"/>
              </a:rPr>
              <a:t>constraints</a:t>
            </a:r>
            <a:endParaRPr lang="en-US" sz="2600" dirty="0">
              <a:latin typeface="Times New Roman"/>
              <a:cs typeface="Times New Roman"/>
            </a:endParaRPr>
          </a:p>
          <a:p>
            <a:pPr marL="755650" lvl="1">
              <a:spcBef>
                <a:spcPts val="550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sz="2200" dirty="0" err="1">
                <a:solidFill>
                  <a:srgbClr val="444444"/>
                </a:solidFill>
                <a:latin typeface="Times New Roman"/>
                <a:cs typeface="Times New Roman"/>
              </a:rPr>
              <a:t>Kiến</a:t>
            </a:r>
            <a:r>
              <a:rPr lang="en-US" sz="2200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rgbClr val="444444"/>
                </a:solidFill>
                <a:latin typeface="Times New Roman"/>
                <a:cs typeface="Times New Roman"/>
              </a:rPr>
              <a:t>trúc</a:t>
            </a:r>
            <a:r>
              <a:rPr lang="en-US" sz="22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200" spc="-10" dirty="0">
                <a:solidFill>
                  <a:srgbClr val="444444"/>
                </a:solidFill>
                <a:latin typeface="Times New Roman"/>
                <a:cs typeface="Times New Roman"/>
              </a:rPr>
              <a:t>client-server</a:t>
            </a:r>
            <a:endParaRPr lang="en-US" sz="2200" dirty="0">
              <a:latin typeface="Times New Roman"/>
              <a:cs typeface="Times New Roman"/>
            </a:endParaRPr>
          </a:p>
          <a:p>
            <a:pPr marL="755650" lvl="1">
              <a:spcBef>
                <a:spcPts val="525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sz="2200" spc="-10" dirty="0">
                <a:solidFill>
                  <a:srgbClr val="444444"/>
                </a:solidFill>
                <a:latin typeface="Times New Roman"/>
                <a:cs typeface="Times New Roman"/>
              </a:rPr>
              <a:t>Stateless</a:t>
            </a:r>
            <a:endParaRPr lang="en-US" sz="2200" dirty="0">
              <a:latin typeface="Times New Roman"/>
              <a:cs typeface="Times New Roman"/>
            </a:endParaRPr>
          </a:p>
          <a:p>
            <a:pPr marL="755650" lvl="1">
              <a:spcBef>
                <a:spcPts val="530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sz="2200" spc="-10" dirty="0" err="1">
                <a:solidFill>
                  <a:srgbClr val="444444"/>
                </a:solidFill>
                <a:latin typeface="Times New Roman"/>
                <a:cs typeface="Times New Roman"/>
              </a:rPr>
              <a:t>Cacheability</a:t>
            </a:r>
            <a:endParaRPr lang="en-US" sz="2200" dirty="0">
              <a:latin typeface="Times New Roman"/>
              <a:cs typeface="Times New Roman"/>
            </a:endParaRPr>
          </a:p>
          <a:p>
            <a:pPr marL="755650" lvl="1">
              <a:spcBef>
                <a:spcPts val="530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sz="2200" dirty="0">
                <a:solidFill>
                  <a:srgbClr val="444444"/>
                </a:solidFill>
                <a:latin typeface="Times New Roman"/>
                <a:cs typeface="Times New Roman"/>
              </a:rPr>
              <a:t>Layered</a:t>
            </a:r>
            <a:r>
              <a:rPr lang="en-US" sz="2200" spc="-6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200" spc="-10" dirty="0">
                <a:solidFill>
                  <a:srgbClr val="444444"/>
                </a:solidFill>
                <a:latin typeface="Times New Roman"/>
                <a:cs typeface="Times New Roman"/>
              </a:rPr>
              <a:t>system</a:t>
            </a:r>
            <a:endParaRPr lang="en-US" sz="2200" dirty="0">
              <a:latin typeface="Times New Roman"/>
              <a:cs typeface="Times New Roman"/>
            </a:endParaRPr>
          </a:p>
          <a:p>
            <a:pPr marL="755650" lvl="1">
              <a:spcBef>
                <a:spcPts val="530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sz="2200" dirty="0">
                <a:solidFill>
                  <a:srgbClr val="444444"/>
                </a:solidFill>
                <a:latin typeface="Times New Roman"/>
                <a:cs typeface="Times New Roman"/>
              </a:rPr>
              <a:t>Uniform</a:t>
            </a:r>
            <a:r>
              <a:rPr lang="en-US" sz="2200" spc="-7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200" spc="-10" dirty="0">
                <a:solidFill>
                  <a:srgbClr val="444444"/>
                </a:solidFill>
                <a:latin typeface="Times New Roman"/>
                <a:cs typeface="Times New Roman"/>
              </a:rPr>
              <a:t>interface</a:t>
            </a:r>
            <a:endParaRPr lang="en-US" sz="2200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5519" y="881674"/>
            <a:ext cx="5753100" cy="462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6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REST</a:t>
            </a:r>
            <a:r>
              <a:rPr lang="en-US" sz="3600" b="1" dirty="0">
                <a:solidFill>
                  <a:srgbClr val="FF0000"/>
                </a:solidFill>
              </a:rPr>
              <a:t>FUL</a:t>
            </a:r>
            <a:r>
              <a:rPr lang="en-US" sz="4000" b="1" spc="40" dirty="0">
                <a:solidFill>
                  <a:srgbClr val="FF0000"/>
                </a:solidFill>
              </a:rPr>
              <a:t> </a:t>
            </a:r>
            <a:r>
              <a:rPr lang="en-US" b="1" spc="-25" dirty="0">
                <a:solidFill>
                  <a:srgbClr val="FF0000"/>
                </a:solidFill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600" dirty="0" err="1">
                <a:solidFill>
                  <a:srgbClr val="444444"/>
                </a:solidFill>
                <a:latin typeface="Times New Roman"/>
                <a:cs typeface="Times New Roman"/>
              </a:rPr>
              <a:t>Nguyên</a:t>
            </a:r>
            <a:r>
              <a:rPr lang="en-US" sz="2600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 err="1">
                <a:solidFill>
                  <a:srgbClr val="444444"/>
                </a:solidFill>
                <a:latin typeface="Times New Roman"/>
                <a:cs typeface="Times New Roman"/>
              </a:rPr>
              <a:t>lý</a:t>
            </a:r>
            <a:r>
              <a:rPr lang="en-US" sz="26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 err="1">
                <a:solidFill>
                  <a:srgbClr val="444444"/>
                </a:solidFill>
                <a:latin typeface="Times New Roman"/>
                <a:cs typeface="Times New Roman"/>
              </a:rPr>
              <a:t>hoạt</a:t>
            </a:r>
            <a:r>
              <a:rPr lang="en-US" sz="260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 err="1">
                <a:solidFill>
                  <a:srgbClr val="444444"/>
                </a:solidFill>
                <a:latin typeface="Times New Roman"/>
                <a:cs typeface="Times New Roman"/>
              </a:rPr>
              <a:t>động</a:t>
            </a:r>
            <a:r>
              <a:rPr lang="en-US" sz="26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rgbClr val="444444"/>
                </a:solidFill>
                <a:latin typeface="Times New Roman"/>
                <a:cs typeface="Times New Roman"/>
              </a:rPr>
              <a:t>RESTful</a:t>
            </a:r>
            <a:r>
              <a:rPr lang="en-US" sz="2600" spc="-16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z="2600" spc="-25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endParaRPr lang="en-US" sz="2600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9237" y="2304606"/>
            <a:ext cx="7533909" cy="295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3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REST</a:t>
            </a:r>
            <a:r>
              <a:rPr lang="en-US" sz="3600" b="1" dirty="0">
                <a:solidFill>
                  <a:srgbClr val="FF0000"/>
                </a:solidFill>
              </a:rPr>
              <a:t>FUL</a:t>
            </a:r>
            <a:r>
              <a:rPr lang="en-US" sz="4000" b="1" spc="40" dirty="0">
                <a:solidFill>
                  <a:srgbClr val="FF0000"/>
                </a:solidFill>
              </a:rPr>
              <a:t> </a:t>
            </a:r>
            <a:r>
              <a:rPr lang="en-US" b="1" spc="-25" dirty="0">
                <a:solidFill>
                  <a:srgbClr val="FF0000"/>
                </a:solidFill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1800" dirty="0">
                <a:solidFill>
                  <a:srgbClr val="212121"/>
                </a:solidFill>
                <a:latin typeface="Verdana"/>
                <a:cs typeface="Verdana"/>
              </a:rPr>
              <a:t>GET(SELECT):</a:t>
            </a:r>
            <a:r>
              <a:rPr lang="en-US" sz="1800" spc="-5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spc="-20" dirty="0" err="1">
                <a:solidFill>
                  <a:srgbClr val="212121"/>
                </a:solidFill>
                <a:latin typeface="Verdana"/>
                <a:cs typeface="Verdana"/>
              </a:rPr>
              <a:t>Trả</a:t>
            </a:r>
            <a:r>
              <a:rPr lang="en-US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về</a:t>
            </a:r>
            <a:r>
              <a:rPr lang="en-US" sz="1800" spc="-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một</a:t>
            </a:r>
            <a:r>
              <a:rPr lang="en-US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>
                <a:solidFill>
                  <a:srgbClr val="212121"/>
                </a:solidFill>
                <a:latin typeface="Verdana"/>
                <a:cs typeface="Verdana"/>
              </a:rPr>
              <a:t>Resource</a:t>
            </a:r>
            <a:r>
              <a:rPr lang="en-US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hoặc</a:t>
            </a:r>
            <a:r>
              <a:rPr lang="en-US" sz="1800" spc="-5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một</a:t>
            </a:r>
            <a:r>
              <a:rPr lang="en-US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danh</a:t>
            </a:r>
            <a:r>
              <a:rPr lang="en-US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sách</a:t>
            </a:r>
            <a:r>
              <a:rPr lang="en-US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spc="-10" dirty="0">
                <a:solidFill>
                  <a:srgbClr val="212121"/>
                </a:solidFill>
                <a:latin typeface="Verdana"/>
                <a:cs typeface="Verdana"/>
              </a:rPr>
              <a:t>Resource.</a:t>
            </a:r>
            <a:endParaRPr lang="en-US" sz="1800" dirty="0">
              <a:latin typeface="Verdana"/>
              <a:cs typeface="Verdana"/>
            </a:endParaRPr>
          </a:p>
          <a:p>
            <a:pPr marL="354965" indent="-342265"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1800" dirty="0">
                <a:solidFill>
                  <a:srgbClr val="212121"/>
                </a:solidFill>
                <a:latin typeface="Verdana"/>
                <a:cs typeface="Verdana"/>
              </a:rPr>
              <a:t>POST</a:t>
            </a:r>
            <a:r>
              <a:rPr lang="en-US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>
                <a:solidFill>
                  <a:srgbClr val="212121"/>
                </a:solidFill>
                <a:latin typeface="Verdana"/>
                <a:cs typeface="Verdana"/>
              </a:rPr>
              <a:t>(CREATE):</a:t>
            </a:r>
            <a:r>
              <a:rPr lang="en-US" sz="1800" spc="-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Tạo</a:t>
            </a:r>
            <a:r>
              <a:rPr lang="en-US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mới</a:t>
            </a:r>
            <a:r>
              <a:rPr lang="en-US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một</a:t>
            </a:r>
            <a:r>
              <a:rPr lang="en-US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spc="-10" dirty="0">
                <a:solidFill>
                  <a:srgbClr val="212121"/>
                </a:solidFill>
                <a:latin typeface="Verdana"/>
                <a:cs typeface="Verdana"/>
              </a:rPr>
              <a:t>Resource.</a:t>
            </a:r>
            <a:endParaRPr lang="en-US" sz="1800" dirty="0">
              <a:latin typeface="Verdana"/>
              <a:cs typeface="Verdan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US" sz="1800" dirty="0">
                <a:solidFill>
                  <a:srgbClr val="212121"/>
                </a:solidFill>
                <a:latin typeface="Verdana"/>
                <a:cs typeface="Verdana"/>
              </a:rPr>
              <a:t>PUT</a:t>
            </a:r>
            <a:r>
              <a:rPr lang="en-US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>
                <a:solidFill>
                  <a:srgbClr val="212121"/>
                </a:solidFill>
                <a:latin typeface="Verdana"/>
                <a:cs typeface="Verdana"/>
              </a:rPr>
              <a:t>(UPDATE):</a:t>
            </a:r>
            <a:r>
              <a:rPr lang="en-US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Cập</a:t>
            </a:r>
            <a:r>
              <a:rPr lang="en-US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nhật</a:t>
            </a:r>
            <a:r>
              <a:rPr lang="en-US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thông</a:t>
            </a:r>
            <a:r>
              <a:rPr lang="en-US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>
                <a:solidFill>
                  <a:srgbClr val="212121"/>
                </a:solidFill>
                <a:latin typeface="Verdana"/>
                <a:cs typeface="Verdana"/>
              </a:rPr>
              <a:t>tin</a:t>
            </a:r>
            <a:r>
              <a:rPr lang="en-US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cho</a:t>
            </a:r>
            <a:r>
              <a:rPr lang="en-US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spc="-10" dirty="0">
                <a:solidFill>
                  <a:srgbClr val="212121"/>
                </a:solidFill>
                <a:latin typeface="Verdana"/>
                <a:cs typeface="Verdana"/>
              </a:rPr>
              <a:t>Resource.</a:t>
            </a:r>
            <a:endParaRPr lang="en-US" sz="1800" dirty="0">
              <a:latin typeface="Verdana"/>
              <a:cs typeface="Verdan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US" sz="1800" dirty="0">
                <a:solidFill>
                  <a:srgbClr val="212121"/>
                </a:solidFill>
                <a:latin typeface="Verdana"/>
                <a:cs typeface="Verdana"/>
              </a:rPr>
              <a:t>DELETE</a:t>
            </a:r>
            <a:r>
              <a:rPr lang="en-US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>
                <a:solidFill>
                  <a:srgbClr val="212121"/>
                </a:solidFill>
                <a:latin typeface="Verdana"/>
                <a:cs typeface="Verdana"/>
              </a:rPr>
              <a:t>(DELETE):</a:t>
            </a:r>
            <a:r>
              <a:rPr lang="en-US" sz="1800" spc="-5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Xoá</a:t>
            </a:r>
            <a:r>
              <a:rPr lang="en-US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dirty="0" err="1">
                <a:solidFill>
                  <a:srgbClr val="212121"/>
                </a:solidFill>
                <a:latin typeface="Verdana"/>
                <a:cs typeface="Verdana"/>
              </a:rPr>
              <a:t>một</a:t>
            </a:r>
            <a:r>
              <a:rPr lang="en-US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en-US" sz="1800" spc="-35" dirty="0" smtClean="0">
                <a:solidFill>
                  <a:srgbClr val="212121"/>
                </a:solidFill>
                <a:latin typeface="Verdana"/>
                <a:cs typeface="Verdana"/>
              </a:rPr>
              <a:t>Resource</a:t>
            </a:r>
            <a:endParaRPr lang="en-US" sz="1800" baseline="2314" dirty="0">
              <a:latin typeface="Arial MT"/>
              <a:cs typeface="Arial M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9739" y="2482576"/>
            <a:ext cx="6893521" cy="395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2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cap="small" dirty="0" err="1">
                <a:solidFill>
                  <a:srgbClr val="FF0000"/>
                </a:solidFill>
              </a:rPr>
              <a:t>Một</a:t>
            </a:r>
            <a:r>
              <a:rPr lang="en-US" b="1" cap="small" spc="110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số</a:t>
            </a:r>
            <a:r>
              <a:rPr lang="en-US" b="1" cap="small" spc="95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nguyên</a:t>
            </a:r>
            <a:r>
              <a:rPr lang="en-US" b="1" cap="small" spc="110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tắc</a:t>
            </a:r>
            <a:r>
              <a:rPr lang="en-US" b="1" cap="small" spc="95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tốt</a:t>
            </a:r>
            <a:r>
              <a:rPr lang="en-US" b="1" cap="small" spc="100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thiết</a:t>
            </a:r>
            <a:r>
              <a:rPr lang="en-US" b="1" cap="small" spc="100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kế</a:t>
            </a:r>
            <a:r>
              <a:rPr lang="en-US" b="1" cap="small" spc="100" dirty="0">
                <a:solidFill>
                  <a:srgbClr val="FF0000"/>
                </a:solidFill>
              </a:rPr>
              <a:t> </a:t>
            </a:r>
            <a:r>
              <a:rPr lang="en-US" b="1" cap="small" spc="-40" dirty="0">
                <a:solidFill>
                  <a:srgbClr val="FF0000"/>
                </a:solidFill>
              </a:rPr>
              <a:t>RESTful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Không</a:t>
            </a:r>
            <a:r>
              <a:rPr lang="en-US" spc="-40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nên</a:t>
            </a:r>
            <a:r>
              <a:rPr lang="en-US" spc="-25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dùng</a:t>
            </a:r>
            <a:r>
              <a:rPr lang="en-US" spc="-15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các</a:t>
            </a:r>
            <a:r>
              <a:rPr lang="en-US" spc="-5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động</a:t>
            </a:r>
            <a:r>
              <a:rPr lang="en-US" spc="-40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từ</a:t>
            </a:r>
            <a:r>
              <a:rPr lang="en-US" dirty="0">
                <a:solidFill>
                  <a:srgbClr val="444444"/>
                </a:solidFill>
                <a:latin typeface="+mn-lt"/>
                <a:cs typeface="Times New Roman"/>
              </a:rPr>
              <a:t>,</a:t>
            </a:r>
            <a:r>
              <a:rPr lang="en-US" spc="-5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chỉ</a:t>
            </a:r>
            <a:r>
              <a:rPr lang="en-US" spc="-20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sử</a:t>
            </a:r>
            <a:r>
              <a:rPr lang="en-US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dụng</a:t>
            </a:r>
            <a:r>
              <a:rPr lang="en-US" spc="-35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danh</a:t>
            </a:r>
            <a:r>
              <a:rPr lang="en-US" spc="-20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từ</a:t>
            </a:r>
            <a:r>
              <a:rPr lang="en-US" spc="-5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+mn-lt"/>
                <a:cs typeface="Times New Roman"/>
              </a:rPr>
              <a:t>số</a:t>
            </a:r>
            <a:r>
              <a:rPr lang="en-US" spc="-5" dirty="0">
                <a:solidFill>
                  <a:srgbClr val="444444"/>
                </a:solidFill>
                <a:latin typeface="+mn-lt"/>
                <a:cs typeface="Times New Roman"/>
              </a:rPr>
              <a:t> </a:t>
            </a:r>
            <a:r>
              <a:rPr lang="en-US" spc="-10" dirty="0" err="1" smtClean="0">
                <a:solidFill>
                  <a:srgbClr val="444444"/>
                </a:solidFill>
                <a:latin typeface="+mn-lt"/>
                <a:cs typeface="Times New Roman"/>
              </a:rPr>
              <a:t>nhiều</a:t>
            </a:r>
            <a:endParaRPr lang="en-US" spc="-10" dirty="0" smtClean="0">
              <a:solidFill>
                <a:srgbClr val="444444"/>
              </a:solidFill>
              <a:latin typeface="+mn-lt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en-US" spc="-10" dirty="0">
              <a:solidFill>
                <a:srgbClr val="444444"/>
              </a:solidFill>
              <a:latin typeface="+mn-lt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en-US" spc="-10" dirty="0" smtClean="0">
              <a:solidFill>
                <a:srgbClr val="444444"/>
              </a:solidFill>
              <a:latin typeface="+mn-lt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en-US" spc="-10" dirty="0">
              <a:solidFill>
                <a:srgbClr val="444444"/>
              </a:solidFill>
              <a:latin typeface="+mn-lt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Sử</a:t>
            </a:r>
            <a:r>
              <a:rPr lang="en-US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dụng</a:t>
            </a:r>
            <a:r>
              <a:rPr lang="en-US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444444"/>
                </a:solidFill>
                <a:latin typeface="Times New Roman"/>
                <a:cs typeface="Times New Roman"/>
              </a:rPr>
              <a:t>'/' </a:t>
            </a: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để</a:t>
            </a:r>
            <a:r>
              <a:rPr lang="en-US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chỉ</a:t>
            </a:r>
            <a:r>
              <a:rPr lang="en-US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ra</a:t>
            </a:r>
            <a:r>
              <a:rPr lang="en-US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mối</a:t>
            </a:r>
            <a:r>
              <a:rPr lang="en-US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quan</a:t>
            </a:r>
            <a:r>
              <a:rPr lang="en-US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hệ</a:t>
            </a:r>
            <a:r>
              <a:rPr lang="en-US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thứ</a:t>
            </a:r>
            <a:r>
              <a:rPr lang="en-US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pc="-25" dirty="0" err="1" smtClean="0">
                <a:solidFill>
                  <a:srgbClr val="444444"/>
                </a:solidFill>
                <a:latin typeface="Times New Roman"/>
                <a:cs typeface="Times New Roman"/>
              </a:rPr>
              <a:t>bậc</a:t>
            </a:r>
            <a:endParaRPr lang="en-US" spc="-25" dirty="0" smtClean="0">
              <a:solidFill>
                <a:srgbClr val="444444"/>
              </a:solidFill>
              <a:latin typeface="Times New Roman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en-US" spc="-25" dirty="0">
              <a:solidFill>
                <a:srgbClr val="444444"/>
              </a:solidFill>
              <a:latin typeface="Times New Roman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en-US" spc="-25" dirty="0" smtClean="0">
              <a:solidFill>
                <a:srgbClr val="444444"/>
              </a:solidFill>
              <a:latin typeface="Times New Roman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Sử dụng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chữ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thường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trong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URIs</a:t>
            </a:r>
            <a:endParaRPr lang="vi-VN" dirty="0">
              <a:latin typeface="Times New Roman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en-US" dirty="0" smtClean="0">
              <a:latin typeface="Times New Roman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Sử</a:t>
            </a:r>
            <a:r>
              <a:rPr lang="en-US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444444"/>
                </a:solidFill>
                <a:latin typeface="Times New Roman"/>
                <a:cs typeface="Times New Roman"/>
              </a:rPr>
              <a:t>dụng</a:t>
            </a:r>
            <a:r>
              <a:rPr lang="en-US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444444"/>
                </a:solidFill>
                <a:latin typeface="Times New Roman"/>
                <a:cs typeface="Times New Roman"/>
              </a:rPr>
              <a:t>SSL/TLS</a:t>
            </a:r>
            <a:endParaRPr lang="en-US" dirty="0">
              <a:latin typeface="Times New Roman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en-US" dirty="0">
              <a:latin typeface="+mn-lt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grpSp>
        <p:nvGrpSpPr>
          <p:cNvPr id="8" name="object 18"/>
          <p:cNvGrpSpPr/>
          <p:nvPr/>
        </p:nvGrpSpPr>
        <p:grpSpPr>
          <a:xfrm>
            <a:off x="1765080" y="1656628"/>
            <a:ext cx="2700409" cy="888492"/>
            <a:chOff x="2517648" y="1700783"/>
            <a:chExt cx="2700409" cy="888492"/>
          </a:xfrm>
        </p:grpSpPr>
        <p:pic>
          <p:nvPicPr>
            <p:cNvPr id="10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7648" y="1703831"/>
              <a:ext cx="2048255" cy="885444"/>
            </a:xfrm>
            <a:prstGeom prst="rect">
              <a:avLst/>
            </a:prstGeom>
          </p:spPr>
        </p:pic>
        <p:pic>
          <p:nvPicPr>
            <p:cNvPr id="11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57245" y="2129804"/>
              <a:ext cx="560812" cy="159922"/>
            </a:xfrm>
            <a:prstGeom prst="rect">
              <a:avLst/>
            </a:prstGeom>
          </p:spPr>
        </p:pic>
        <p:sp>
          <p:nvSpPr>
            <p:cNvPr id="13" name="object 21"/>
            <p:cNvSpPr/>
            <p:nvPr/>
          </p:nvSpPr>
          <p:spPr>
            <a:xfrm>
              <a:off x="4691633" y="2127503"/>
              <a:ext cx="500380" cy="114300"/>
            </a:xfrm>
            <a:custGeom>
              <a:avLst/>
              <a:gdLst/>
              <a:ahLst/>
              <a:cxnLst/>
              <a:rect l="l" t="t" r="r" b="b"/>
              <a:pathLst>
                <a:path w="500379" h="114300">
                  <a:moveTo>
                    <a:pt x="385699" y="0"/>
                  </a:moveTo>
                  <a:lnTo>
                    <a:pt x="385699" y="114300"/>
                  </a:lnTo>
                  <a:lnTo>
                    <a:pt x="461899" y="76200"/>
                  </a:lnTo>
                  <a:lnTo>
                    <a:pt x="404749" y="76200"/>
                  </a:lnTo>
                  <a:lnTo>
                    <a:pt x="404749" y="38100"/>
                  </a:lnTo>
                  <a:lnTo>
                    <a:pt x="461899" y="38100"/>
                  </a:lnTo>
                  <a:lnTo>
                    <a:pt x="385699" y="0"/>
                  </a:lnTo>
                  <a:close/>
                </a:path>
                <a:path w="500379" h="114300">
                  <a:moveTo>
                    <a:pt x="38569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85699" y="76200"/>
                  </a:lnTo>
                  <a:lnTo>
                    <a:pt x="385699" y="38100"/>
                  </a:lnTo>
                  <a:close/>
                </a:path>
                <a:path w="500379" h="114300">
                  <a:moveTo>
                    <a:pt x="461899" y="38100"/>
                  </a:moveTo>
                  <a:lnTo>
                    <a:pt x="404749" y="38100"/>
                  </a:lnTo>
                  <a:lnTo>
                    <a:pt x="404749" y="76200"/>
                  </a:lnTo>
                  <a:lnTo>
                    <a:pt x="461899" y="76200"/>
                  </a:lnTo>
                  <a:lnTo>
                    <a:pt x="499999" y="57150"/>
                  </a:lnTo>
                  <a:lnTo>
                    <a:pt x="461899" y="3810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14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21480" y="1700783"/>
              <a:ext cx="469391" cy="483108"/>
            </a:xfrm>
            <a:prstGeom prst="rect">
              <a:avLst/>
            </a:prstGeom>
          </p:spPr>
        </p:pic>
      </p:grpSp>
      <p:grpSp>
        <p:nvGrpSpPr>
          <p:cNvPr id="15" name="object 23"/>
          <p:cNvGrpSpPr/>
          <p:nvPr/>
        </p:nvGrpSpPr>
        <p:grpSpPr>
          <a:xfrm>
            <a:off x="5304277" y="1677964"/>
            <a:ext cx="1389888" cy="867156"/>
            <a:chOff x="5469635" y="1712976"/>
            <a:chExt cx="1389888" cy="867156"/>
          </a:xfrm>
        </p:grpSpPr>
        <p:pic>
          <p:nvPicPr>
            <p:cNvPr id="16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69635" y="1712976"/>
              <a:ext cx="1389888" cy="867156"/>
            </a:xfrm>
            <a:prstGeom prst="rect">
              <a:avLst/>
            </a:prstGeom>
          </p:spPr>
        </p:pic>
        <p:pic>
          <p:nvPicPr>
            <p:cNvPr id="17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3847" y="1758696"/>
              <a:ext cx="417575" cy="277367"/>
            </a:xfrm>
            <a:prstGeom prst="rect">
              <a:avLst/>
            </a:prstGeom>
          </p:spPr>
        </p:pic>
      </p:grpSp>
      <p:pic>
        <p:nvPicPr>
          <p:cNvPr id="18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01446" y="3431128"/>
            <a:ext cx="3986784" cy="688848"/>
          </a:xfrm>
          <a:prstGeom prst="rect">
            <a:avLst/>
          </a:prstGeom>
        </p:spPr>
      </p:pic>
      <p:pic>
        <p:nvPicPr>
          <p:cNvPr id="19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45363" y="4304126"/>
            <a:ext cx="4059936" cy="708660"/>
          </a:xfrm>
          <a:prstGeom prst="rect">
            <a:avLst/>
          </a:prstGeom>
        </p:spPr>
      </p:pic>
      <p:pic>
        <p:nvPicPr>
          <p:cNvPr id="20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08716" y="5317356"/>
            <a:ext cx="4166615" cy="65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1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cap="small" dirty="0">
                <a:solidFill>
                  <a:srgbClr val="FF0000"/>
                </a:solidFill>
              </a:rPr>
              <a:t>Postman</a:t>
            </a:r>
            <a:r>
              <a:rPr lang="en-US" b="1" cap="small" spc="8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-</a:t>
            </a:r>
            <a:r>
              <a:rPr lang="en-US" b="1" cap="small" spc="-5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test</a:t>
            </a:r>
            <a:r>
              <a:rPr lang="en-US" b="1" cap="small" spc="70" dirty="0">
                <a:solidFill>
                  <a:srgbClr val="FF0000"/>
                </a:solidFill>
              </a:rPr>
              <a:t> </a:t>
            </a:r>
            <a:r>
              <a:rPr lang="en-US" b="1" cap="small" spc="-60" dirty="0">
                <a:solidFill>
                  <a:srgbClr val="FF0000"/>
                </a:solidFill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marR="11239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Postman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một</a:t>
            </a:r>
            <a:r>
              <a:rPr lang="vi-VN" spc="-1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App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Extensions,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cho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phép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làm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việc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với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các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API,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nhất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REST,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giúp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ích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rất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nhiều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cho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việc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testing.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Hỗ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trợ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tất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cả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phương</a:t>
            </a:r>
            <a:r>
              <a:rPr lang="vi-VN" spc="-5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thức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HTTP</a:t>
            </a:r>
            <a:r>
              <a:rPr lang="vi-VN" spc="-1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(GET,</a:t>
            </a:r>
            <a:r>
              <a:rPr lang="vi-VN" spc="-5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POST,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 smtClean="0">
                <a:solidFill>
                  <a:srgbClr val="444444"/>
                </a:solidFill>
                <a:latin typeface="Times New Roman"/>
                <a:cs typeface="Times New Roman"/>
              </a:rPr>
              <a:t>PUT,</a:t>
            </a:r>
            <a:r>
              <a:rPr lang="en-US" spc="-2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DELETE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,</a:t>
            </a:r>
            <a:r>
              <a:rPr lang="vi-VN" spc="-6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OPTIONS,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HEAD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...)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Postman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cho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phép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lưu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lại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lần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sử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dụng.</a:t>
            </a:r>
            <a:endParaRPr lang="vi-VN" dirty="0">
              <a:latin typeface="Times New Roman"/>
              <a:cs typeface="Times New Roman"/>
            </a:endParaRPr>
          </a:p>
          <a:p>
            <a:pPr marL="354965" marR="5080">
              <a:spcBef>
                <a:spcPts val="62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Có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thể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thiết kế,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mô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phỏng,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gỡ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lỗi,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kiểm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tra,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tài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liệu,</a:t>
            </a:r>
            <a:r>
              <a:rPr lang="vi-VN" spc="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theo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dõi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và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xuất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bản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tất cả</a:t>
            </a:r>
            <a:r>
              <a:rPr lang="vi-VN" spc="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17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API</a:t>
            </a:r>
            <a:endParaRPr lang="vi-VN" dirty="0">
              <a:latin typeface="Times New Roman"/>
              <a:cs typeface="Times New Roman"/>
            </a:endParaRPr>
          </a:p>
          <a:p>
            <a:pPr marL="354965" indent="-342265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en-US" dirty="0">
              <a:latin typeface="+mn-lt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21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0" y="3578473"/>
            <a:ext cx="4724400" cy="281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3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cap="small" dirty="0">
                <a:solidFill>
                  <a:srgbClr val="FF0000"/>
                </a:solidFill>
              </a:rPr>
              <a:t>Postman</a:t>
            </a:r>
            <a:r>
              <a:rPr lang="en-US" b="1" cap="small" spc="8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-</a:t>
            </a:r>
            <a:r>
              <a:rPr lang="en-US" b="1" cap="small" spc="-5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test</a:t>
            </a:r>
            <a:r>
              <a:rPr lang="en-US" b="1" cap="small" spc="70" dirty="0">
                <a:solidFill>
                  <a:srgbClr val="FF0000"/>
                </a:solidFill>
              </a:rPr>
              <a:t> </a:t>
            </a:r>
            <a:r>
              <a:rPr lang="en-US" b="1" cap="small" spc="-60" dirty="0">
                <a:solidFill>
                  <a:srgbClr val="FF0000"/>
                </a:solidFill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8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Cách</a:t>
            </a:r>
            <a:r>
              <a:rPr lang="vi-VN" sz="26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sử</a:t>
            </a:r>
            <a:r>
              <a:rPr lang="vi-VN" sz="2600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dụng</a:t>
            </a:r>
            <a:r>
              <a:rPr lang="vi-VN" sz="26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spc="-10" dirty="0">
                <a:solidFill>
                  <a:srgbClr val="444444"/>
                </a:solidFill>
                <a:latin typeface="Times New Roman"/>
                <a:cs typeface="Times New Roman"/>
              </a:rPr>
              <a:t>Postman</a:t>
            </a:r>
            <a:endParaRPr lang="vi-VN" sz="2600" dirty="0">
              <a:latin typeface="Times New Roman"/>
              <a:cs typeface="Times New Roman"/>
            </a:endParaRPr>
          </a:p>
          <a:p>
            <a:pPr marL="756285" lvl="1" indent="-286385">
              <a:spcBef>
                <a:spcPts val="385"/>
              </a:spcBef>
              <a:buFont typeface="Arial MT"/>
              <a:buChar char="•"/>
              <a:tabLst>
                <a:tab pos="756285" algn="l"/>
              </a:tabLst>
            </a:pP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Cho</a:t>
            </a:r>
            <a:r>
              <a:rPr lang="vi-VN" sz="1400" spc="-3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phép</a:t>
            </a:r>
            <a:r>
              <a:rPr lang="vi-VN" sz="1400" spc="-4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gửi</a:t>
            </a:r>
            <a:r>
              <a:rPr lang="vi-VN" sz="1400" spc="-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HTTP</a:t>
            </a:r>
            <a:r>
              <a:rPr lang="vi-VN" sz="1400" spc="-8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Request</a:t>
            </a:r>
            <a:r>
              <a:rPr lang="vi-VN" sz="1400" spc="-4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với</a:t>
            </a:r>
            <a:r>
              <a:rPr lang="vi-VN" sz="1400" spc="-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các</a:t>
            </a:r>
            <a:r>
              <a:rPr lang="vi-VN" sz="1400" spc="-2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method</a:t>
            </a:r>
            <a:r>
              <a:rPr lang="vi-VN" sz="1400" spc="-3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spc="-20" dirty="0">
                <a:solidFill>
                  <a:srgbClr val="212121"/>
                </a:solidFill>
                <a:latin typeface="Times New Roman"/>
                <a:cs typeface="Times New Roman"/>
              </a:rPr>
              <a:t>GET,</a:t>
            </a:r>
            <a:r>
              <a:rPr lang="vi-VN" sz="1400" spc="-2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spc="-20" dirty="0">
                <a:solidFill>
                  <a:srgbClr val="212121"/>
                </a:solidFill>
                <a:latin typeface="Times New Roman"/>
                <a:cs typeface="Times New Roman"/>
              </a:rPr>
              <a:t>POST,</a:t>
            </a:r>
            <a:r>
              <a:rPr lang="vi-VN" sz="1400" spc="-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spc="-20" dirty="0">
                <a:solidFill>
                  <a:srgbClr val="212121"/>
                </a:solidFill>
                <a:latin typeface="Times New Roman"/>
                <a:cs typeface="Times New Roman"/>
              </a:rPr>
              <a:t>PUT,</a:t>
            </a:r>
            <a:r>
              <a:rPr lang="vi-VN" sz="1400" spc="-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spc="-10" dirty="0">
                <a:solidFill>
                  <a:srgbClr val="212121"/>
                </a:solidFill>
                <a:latin typeface="Times New Roman"/>
                <a:cs typeface="Times New Roman"/>
              </a:rPr>
              <a:t>DELETE.</a:t>
            </a:r>
            <a:endParaRPr lang="vi-VN" sz="1400" dirty="0">
              <a:latin typeface="Times New Roman"/>
              <a:cs typeface="Times New Roman"/>
            </a:endParaRPr>
          </a:p>
          <a:p>
            <a:pPr marL="756285" lvl="1" indent="-286385">
              <a:spcBef>
                <a:spcPts val="340"/>
              </a:spcBef>
              <a:buFont typeface="Arial MT"/>
              <a:buChar char="•"/>
              <a:tabLst>
                <a:tab pos="756285" algn="l"/>
              </a:tabLst>
            </a:pP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Cho</a:t>
            </a:r>
            <a:r>
              <a:rPr lang="vi-VN" sz="1400" spc="-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phép</a:t>
            </a:r>
            <a:r>
              <a:rPr lang="vi-VN" sz="1400" spc="-2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post</a:t>
            </a:r>
            <a:r>
              <a:rPr lang="vi-VN" sz="1400" spc="-2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dữ liệu</a:t>
            </a:r>
            <a:r>
              <a:rPr lang="vi-VN" sz="1400" spc="-2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dưới</a:t>
            </a:r>
            <a:r>
              <a:rPr lang="vi-VN" sz="1400" spc="-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dạng</a:t>
            </a:r>
            <a:r>
              <a:rPr lang="vi-VN" sz="1400" spc="-2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form</a:t>
            </a:r>
            <a:r>
              <a:rPr lang="vi-VN" sz="1400" spc="-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(key-value),</a:t>
            </a:r>
            <a:r>
              <a:rPr lang="vi-VN" sz="1400" spc="-4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text,</a:t>
            </a:r>
            <a:r>
              <a:rPr lang="vi-VN" sz="1400" spc="-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json</a:t>
            </a:r>
            <a:r>
              <a:rPr lang="vi-VN" sz="1400" spc="-10" dirty="0">
                <a:solidFill>
                  <a:srgbClr val="212121"/>
                </a:solidFill>
                <a:latin typeface="Times New Roman"/>
                <a:cs typeface="Times New Roman"/>
              </a:rPr>
              <a:t>.</a:t>
            </a:r>
            <a:endParaRPr lang="vi-VN" sz="1400" dirty="0">
              <a:latin typeface="Times New Roman"/>
              <a:cs typeface="Times New Roman"/>
            </a:endParaRPr>
          </a:p>
          <a:p>
            <a:pPr marL="756285" lvl="1" indent="-286385">
              <a:spcBef>
                <a:spcPts val="335"/>
              </a:spcBef>
              <a:buFont typeface="Arial MT"/>
              <a:buChar char="•"/>
              <a:tabLst>
                <a:tab pos="756285" algn="l"/>
              </a:tabLst>
            </a:pP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Hiện</a:t>
            </a:r>
            <a:r>
              <a:rPr lang="vi-VN" sz="1400" spc="-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kết</a:t>
            </a:r>
            <a:r>
              <a:rPr lang="vi-VN" sz="1400" spc="-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quả</a:t>
            </a:r>
            <a:r>
              <a:rPr lang="vi-VN" sz="1400" spc="-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trả</a:t>
            </a:r>
            <a:r>
              <a:rPr lang="vi-VN" sz="1400" spc="-2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về</a:t>
            </a:r>
            <a:r>
              <a:rPr lang="vi-VN" sz="1400" spc="-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dạng</a:t>
            </a:r>
            <a:r>
              <a:rPr lang="vi-VN" sz="1400" spc="-2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text,</a:t>
            </a:r>
            <a:r>
              <a:rPr lang="vi-VN" sz="1400" spc="-3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hình</a:t>
            </a:r>
            <a:r>
              <a:rPr lang="vi-VN" sz="1400" spc="-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ảnh,</a:t>
            </a:r>
            <a:r>
              <a:rPr lang="vi-VN" sz="1400" spc="-2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XML, </a:t>
            </a:r>
            <a:r>
              <a:rPr lang="vi-VN" sz="1400" spc="-10" dirty="0">
                <a:solidFill>
                  <a:srgbClr val="212121"/>
                </a:solidFill>
                <a:latin typeface="Times New Roman"/>
                <a:cs typeface="Times New Roman"/>
              </a:rPr>
              <a:t>JSON.</a:t>
            </a:r>
            <a:endParaRPr lang="vi-VN" sz="1400" dirty="0">
              <a:latin typeface="Times New Roman"/>
              <a:cs typeface="Times New Roman"/>
            </a:endParaRPr>
          </a:p>
          <a:p>
            <a:pPr marL="756285" lvl="1" indent="-286385">
              <a:spcBef>
                <a:spcPts val="335"/>
              </a:spcBef>
              <a:buFont typeface="Arial MT"/>
              <a:buChar char="•"/>
              <a:tabLst>
                <a:tab pos="756285" algn="l"/>
              </a:tabLst>
            </a:pP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Hỗ</a:t>
            </a:r>
            <a:r>
              <a:rPr lang="vi-VN" sz="1400" spc="-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trợ</a:t>
            </a:r>
            <a:r>
              <a:rPr lang="vi-VN" sz="1400" spc="-4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authorization</a:t>
            </a:r>
            <a:r>
              <a:rPr lang="vi-VN" sz="1400" spc="-5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(Oauth1,</a:t>
            </a:r>
            <a:r>
              <a:rPr lang="vi-VN" sz="1400" spc="-4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spc="-25" dirty="0">
                <a:solidFill>
                  <a:srgbClr val="212121"/>
                </a:solidFill>
                <a:latin typeface="Times New Roman"/>
                <a:cs typeface="Times New Roman"/>
              </a:rPr>
              <a:t>2).</a:t>
            </a:r>
            <a:endParaRPr lang="vi-VN" sz="1400" dirty="0">
              <a:latin typeface="Times New Roman"/>
              <a:cs typeface="Times New Roman"/>
            </a:endParaRPr>
          </a:p>
          <a:p>
            <a:pPr marL="756285" lvl="1" indent="-286385">
              <a:spcBef>
                <a:spcPts val="455"/>
              </a:spcBef>
              <a:buFont typeface="Arial MT"/>
              <a:buChar char="•"/>
              <a:tabLst>
                <a:tab pos="756285" algn="l"/>
              </a:tabLst>
            </a:pP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Cho</a:t>
            </a:r>
            <a:r>
              <a:rPr lang="vi-VN" sz="1400" spc="-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phép</a:t>
            </a:r>
            <a:r>
              <a:rPr lang="vi-VN" sz="1400" spc="-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thay</a:t>
            </a:r>
            <a:r>
              <a:rPr lang="vi-VN" sz="1400" spc="-2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đổi</a:t>
            </a:r>
            <a:r>
              <a:rPr lang="vi-VN" sz="1400" spc="-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header</a:t>
            </a:r>
            <a:r>
              <a:rPr lang="vi-VN" sz="1400" spc="-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của</a:t>
            </a:r>
            <a:r>
              <a:rPr lang="vi-VN" sz="1400" spc="-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dirty="0">
                <a:solidFill>
                  <a:srgbClr val="212121"/>
                </a:solidFill>
                <a:latin typeface="Times New Roman"/>
                <a:cs typeface="Times New Roman"/>
              </a:rPr>
              <a:t>các</a:t>
            </a:r>
            <a:r>
              <a:rPr lang="vi-VN" sz="1400" spc="-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lang="vi-VN" sz="1400" spc="-10" dirty="0">
                <a:solidFill>
                  <a:srgbClr val="212121"/>
                </a:solidFill>
                <a:latin typeface="Times New Roman"/>
                <a:cs typeface="Times New Roman"/>
              </a:rPr>
              <a:t>request</a:t>
            </a:r>
            <a:r>
              <a:rPr lang="vi-VN" sz="2000" spc="-10" dirty="0">
                <a:solidFill>
                  <a:srgbClr val="212121"/>
                </a:solidFill>
                <a:latin typeface="Times New Roman"/>
                <a:cs typeface="Times New Roman"/>
              </a:rPr>
              <a:t>.</a:t>
            </a:r>
            <a:endParaRPr lang="vi-VN" sz="2000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8400" y="3064766"/>
            <a:ext cx="7356231" cy="345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0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cap="small" dirty="0">
                <a:solidFill>
                  <a:srgbClr val="FF0000"/>
                </a:solidFill>
              </a:rPr>
              <a:t>Postman</a:t>
            </a:r>
            <a:r>
              <a:rPr lang="en-US" b="1" cap="small" spc="8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-</a:t>
            </a:r>
            <a:r>
              <a:rPr lang="en-US" b="1" cap="small" spc="-5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test</a:t>
            </a:r>
            <a:r>
              <a:rPr lang="en-US" b="1" cap="small" spc="70" dirty="0">
                <a:solidFill>
                  <a:srgbClr val="FF0000"/>
                </a:solidFill>
              </a:rPr>
              <a:t> </a:t>
            </a:r>
            <a:r>
              <a:rPr lang="en-US" b="1" cap="small" spc="-60" dirty="0">
                <a:solidFill>
                  <a:srgbClr val="FF0000"/>
                </a:solidFill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marR="5080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sz="2400" dirty="0"/>
              <a:t>Json là</a:t>
            </a:r>
            <a:r>
              <a:rPr lang="vi-VN" sz="2400" spc="-15" dirty="0"/>
              <a:t> </a:t>
            </a:r>
            <a:r>
              <a:rPr lang="vi-VN" sz="2400" dirty="0"/>
              <a:t>một</a:t>
            </a:r>
            <a:r>
              <a:rPr lang="vi-VN" sz="2400" spc="10" dirty="0"/>
              <a:t> </a:t>
            </a:r>
            <a:r>
              <a:rPr lang="vi-VN" sz="2400" dirty="0"/>
              <a:t>kiểu</a:t>
            </a:r>
            <a:r>
              <a:rPr lang="vi-VN" sz="2400" spc="-15" dirty="0"/>
              <a:t> </a:t>
            </a:r>
            <a:r>
              <a:rPr lang="vi-VN" sz="2400" dirty="0"/>
              <a:t>định</a:t>
            </a:r>
            <a:r>
              <a:rPr lang="vi-VN" sz="2400" spc="-20" dirty="0"/>
              <a:t> </a:t>
            </a:r>
            <a:r>
              <a:rPr lang="vi-VN" sz="2400" dirty="0"/>
              <a:t>dạng</a:t>
            </a:r>
            <a:r>
              <a:rPr lang="vi-VN" sz="2400" spc="-25" dirty="0"/>
              <a:t> </a:t>
            </a:r>
            <a:r>
              <a:rPr lang="vi-VN" sz="2400" dirty="0"/>
              <a:t>dữ liệu</a:t>
            </a:r>
            <a:r>
              <a:rPr lang="vi-VN" sz="2400" spc="-5" dirty="0"/>
              <a:t> </a:t>
            </a:r>
            <a:r>
              <a:rPr lang="vi-VN" sz="2400" dirty="0"/>
              <a:t>trong</a:t>
            </a:r>
            <a:r>
              <a:rPr lang="vi-VN" sz="2400" spc="-25" dirty="0"/>
              <a:t> </a:t>
            </a:r>
            <a:r>
              <a:rPr lang="vi-VN" sz="2400" dirty="0"/>
              <a:t>đó</a:t>
            </a:r>
            <a:r>
              <a:rPr lang="vi-VN" sz="2400" spc="-10" dirty="0"/>
              <a:t> </a:t>
            </a:r>
            <a:r>
              <a:rPr lang="vi-VN" sz="2400" dirty="0"/>
              <a:t>sử</a:t>
            </a:r>
            <a:r>
              <a:rPr lang="vi-VN" sz="2400" spc="-5" dirty="0"/>
              <a:t> </a:t>
            </a:r>
            <a:r>
              <a:rPr lang="vi-VN" sz="2400" dirty="0"/>
              <a:t>dụng</a:t>
            </a:r>
            <a:r>
              <a:rPr lang="vi-VN" sz="2400" spc="-20" dirty="0"/>
              <a:t> </a:t>
            </a:r>
            <a:r>
              <a:rPr lang="vi-VN" sz="2400" dirty="0"/>
              <a:t>văn</a:t>
            </a:r>
            <a:r>
              <a:rPr lang="vi-VN" sz="2400" spc="-25" dirty="0"/>
              <a:t> bản </a:t>
            </a:r>
            <a:r>
              <a:rPr lang="vi-VN" sz="2400" dirty="0"/>
              <a:t>thuần</a:t>
            </a:r>
            <a:r>
              <a:rPr lang="vi-VN" sz="2400" spc="-30" dirty="0"/>
              <a:t> </a:t>
            </a:r>
            <a:r>
              <a:rPr lang="vi-VN" sz="2400" dirty="0"/>
              <a:t>tuý, định</a:t>
            </a:r>
            <a:r>
              <a:rPr lang="vi-VN" sz="2400" spc="-25" dirty="0"/>
              <a:t> </a:t>
            </a:r>
            <a:r>
              <a:rPr lang="vi-VN" sz="2400" dirty="0"/>
              <a:t>dạng</a:t>
            </a:r>
            <a:r>
              <a:rPr lang="vi-VN" sz="2400" spc="-15" dirty="0"/>
              <a:t> </a:t>
            </a:r>
            <a:r>
              <a:rPr lang="vi-VN" sz="2400" dirty="0"/>
              <a:t>JSON</a:t>
            </a:r>
            <a:r>
              <a:rPr lang="vi-VN" sz="2400" spc="-15" dirty="0"/>
              <a:t> </a:t>
            </a:r>
            <a:r>
              <a:rPr lang="vi-VN" sz="2400" dirty="0"/>
              <a:t>sử</a:t>
            </a:r>
            <a:r>
              <a:rPr lang="vi-VN" sz="2400" spc="5" dirty="0"/>
              <a:t> </a:t>
            </a:r>
            <a:r>
              <a:rPr lang="vi-VN" sz="2400" dirty="0"/>
              <a:t>dụng</a:t>
            </a:r>
            <a:r>
              <a:rPr lang="vi-VN" sz="2400" spc="-35" dirty="0"/>
              <a:t> </a:t>
            </a:r>
            <a:r>
              <a:rPr lang="vi-VN" sz="2400" dirty="0"/>
              <a:t>các cặp</a:t>
            </a:r>
            <a:r>
              <a:rPr lang="vi-VN" sz="2400" spc="-15" dirty="0"/>
              <a:t> </a:t>
            </a:r>
            <a:r>
              <a:rPr lang="vi-VN" sz="2400" dirty="0"/>
              <a:t>key</a:t>
            </a:r>
            <a:r>
              <a:rPr lang="vi-VN" sz="2400" spc="-5" dirty="0"/>
              <a:t> </a:t>
            </a:r>
            <a:r>
              <a:rPr lang="vi-VN" sz="2400" dirty="0"/>
              <a:t>-</a:t>
            </a:r>
            <a:r>
              <a:rPr lang="vi-VN" sz="2400" spc="-15" dirty="0"/>
              <a:t> </a:t>
            </a:r>
            <a:r>
              <a:rPr lang="vi-VN" sz="2400" dirty="0"/>
              <a:t>value</a:t>
            </a:r>
            <a:r>
              <a:rPr lang="vi-VN" sz="2400" spc="-15" dirty="0"/>
              <a:t> </a:t>
            </a:r>
            <a:r>
              <a:rPr lang="vi-VN" sz="2400" spc="-25" dirty="0" smtClean="0"/>
              <a:t>để</a:t>
            </a:r>
            <a:r>
              <a:rPr lang="en-US" sz="2400" spc="-25" dirty="0" smtClean="0"/>
              <a:t> </a:t>
            </a:r>
            <a:r>
              <a:rPr lang="vi-VN" sz="2400" dirty="0" smtClean="0"/>
              <a:t>dữ</a:t>
            </a:r>
            <a:r>
              <a:rPr lang="vi-VN" sz="2400" spc="-30" dirty="0" smtClean="0"/>
              <a:t> </a:t>
            </a:r>
            <a:r>
              <a:rPr lang="vi-VN" sz="2400" dirty="0"/>
              <a:t>liệu</a:t>
            </a:r>
            <a:r>
              <a:rPr lang="vi-VN" sz="2400" spc="-15" dirty="0"/>
              <a:t> </a:t>
            </a:r>
            <a:r>
              <a:rPr lang="vi-VN" sz="2400" dirty="0"/>
              <a:t>sử</a:t>
            </a:r>
            <a:r>
              <a:rPr lang="vi-VN" sz="2400" spc="-15" dirty="0"/>
              <a:t> </a:t>
            </a:r>
            <a:r>
              <a:rPr lang="vi-VN" sz="2400" spc="-20" dirty="0"/>
              <a:t>dụng</a:t>
            </a:r>
          </a:p>
          <a:p>
            <a:pPr marL="354965" marR="859155">
              <a:spcBef>
                <a:spcPts val="62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sz="2400" dirty="0"/>
              <a:t>Được</a:t>
            </a:r>
            <a:r>
              <a:rPr lang="vi-VN" sz="2400" spc="-20" dirty="0"/>
              <a:t> </a:t>
            </a:r>
            <a:r>
              <a:rPr lang="vi-VN" sz="2400" dirty="0"/>
              <a:t>xây</a:t>
            </a:r>
            <a:r>
              <a:rPr lang="vi-VN" sz="2400" spc="-30" dirty="0"/>
              <a:t> </a:t>
            </a:r>
            <a:r>
              <a:rPr lang="vi-VN" sz="2400" dirty="0"/>
              <a:t>dựng</a:t>
            </a:r>
            <a:r>
              <a:rPr lang="vi-VN" sz="2400" spc="-25" dirty="0"/>
              <a:t> </a:t>
            </a:r>
            <a:r>
              <a:rPr lang="vi-VN" sz="2400" dirty="0"/>
              <a:t>dựa</a:t>
            </a:r>
            <a:r>
              <a:rPr lang="vi-VN" sz="2400" spc="-25" dirty="0"/>
              <a:t> </a:t>
            </a:r>
            <a:r>
              <a:rPr lang="vi-VN" sz="2400" dirty="0"/>
              <a:t>trên</a:t>
            </a:r>
            <a:r>
              <a:rPr lang="vi-VN" sz="2400" spc="-5" dirty="0"/>
              <a:t> </a:t>
            </a:r>
            <a:r>
              <a:rPr lang="vi-VN" sz="2400" dirty="0"/>
              <a:t>một</a:t>
            </a:r>
            <a:r>
              <a:rPr lang="vi-VN" sz="2400" spc="-5" dirty="0"/>
              <a:t> </a:t>
            </a:r>
            <a:r>
              <a:rPr lang="vi-VN" sz="2400" dirty="0"/>
              <a:t>tiêu</a:t>
            </a:r>
            <a:r>
              <a:rPr lang="vi-VN" sz="2400" spc="10" dirty="0"/>
              <a:t> </a:t>
            </a:r>
            <a:r>
              <a:rPr lang="vi-VN" sz="2400" dirty="0"/>
              <a:t>chuẩn</a:t>
            </a:r>
            <a:r>
              <a:rPr lang="vi-VN" sz="2400" spc="-40" dirty="0"/>
              <a:t> </a:t>
            </a:r>
            <a:r>
              <a:rPr lang="vi-VN" sz="2400" dirty="0"/>
              <a:t>của</a:t>
            </a:r>
            <a:r>
              <a:rPr lang="vi-VN" sz="2400" spc="-15" dirty="0"/>
              <a:t> </a:t>
            </a:r>
            <a:r>
              <a:rPr lang="vi-VN" sz="2400" dirty="0"/>
              <a:t>ngôn</a:t>
            </a:r>
            <a:r>
              <a:rPr lang="vi-VN" sz="2400" spc="-35" dirty="0"/>
              <a:t> </a:t>
            </a:r>
            <a:r>
              <a:rPr lang="vi-VN" sz="2400" spc="-25" dirty="0"/>
              <a:t>ngữ </a:t>
            </a:r>
            <a:r>
              <a:rPr lang="vi-VN" sz="2400" dirty="0"/>
              <a:t>JavaScrip</a:t>
            </a:r>
            <a:r>
              <a:rPr lang="vi-VN" sz="2400" spc="-25" dirty="0"/>
              <a:t> </a:t>
            </a:r>
            <a:r>
              <a:rPr lang="vi-VN" sz="2400" dirty="0"/>
              <a:t>và</a:t>
            </a:r>
            <a:r>
              <a:rPr lang="vi-VN" sz="2400" spc="-25" dirty="0"/>
              <a:t> </a:t>
            </a:r>
            <a:r>
              <a:rPr lang="vi-VN" sz="2400" dirty="0"/>
              <a:t>là</a:t>
            </a:r>
            <a:r>
              <a:rPr lang="vi-VN" sz="2400" spc="-10" dirty="0"/>
              <a:t> </a:t>
            </a:r>
            <a:r>
              <a:rPr lang="vi-VN" sz="2400" dirty="0"/>
              <a:t>viết</a:t>
            </a:r>
            <a:r>
              <a:rPr lang="vi-VN" sz="2400" spc="-20" dirty="0"/>
              <a:t> </a:t>
            </a:r>
            <a:r>
              <a:rPr lang="vi-VN" sz="2400" dirty="0"/>
              <a:t>tắt</a:t>
            </a:r>
            <a:r>
              <a:rPr lang="vi-VN" sz="2400" spc="-10" dirty="0"/>
              <a:t> </a:t>
            </a:r>
            <a:r>
              <a:rPr lang="vi-VN" sz="2400" dirty="0"/>
              <a:t>của</a:t>
            </a:r>
            <a:r>
              <a:rPr lang="vi-VN" sz="2400" spc="-20" dirty="0"/>
              <a:t> </a:t>
            </a:r>
            <a:r>
              <a:rPr lang="vi-VN" sz="2400" dirty="0"/>
              <a:t>cụm</a:t>
            </a:r>
            <a:r>
              <a:rPr lang="vi-VN" sz="2400" spc="-20" dirty="0"/>
              <a:t> </a:t>
            </a:r>
            <a:r>
              <a:rPr lang="vi-VN" sz="2400" dirty="0"/>
              <a:t>từ</a:t>
            </a:r>
            <a:r>
              <a:rPr lang="vi-VN" sz="2400" spc="-10" dirty="0"/>
              <a:t> </a:t>
            </a:r>
            <a:r>
              <a:rPr lang="vi-VN" sz="2400" dirty="0"/>
              <a:t>JavaScript</a:t>
            </a:r>
            <a:r>
              <a:rPr lang="vi-VN" sz="2400" spc="-20" dirty="0"/>
              <a:t> </a:t>
            </a:r>
            <a:r>
              <a:rPr lang="vi-VN" sz="2400" spc="-10" dirty="0"/>
              <a:t>Object Notation</a:t>
            </a:r>
          </a:p>
          <a:p>
            <a:pPr marL="354965" indent="-342265">
              <a:spcBef>
                <a:spcPts val="62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sz="2400" dirty="0"/>
              <a:t>JSON</a:t>
            </a:r>
            <a:r>
              <a:rPr lang="vi-VN" sz="2400" spc="-30" dirty="0"/>
              <a:t> </a:t>
            </a:r>
            <a:r>
              <a:rPr lang="vi-VN" sz="2400" dirty="0"/>
              <a:t>là</a:t>
            </a:r>
            <a:r>
              <a:rPr lang="vi-VN" sz="2400" spc="-25" dirty="0"/>
              <a:t> </a:t>
            </a:r>
            <a:r>
              <a:rPr lang="vi-VN" sz="2400" dirty="0"/>
              <a:t>một</a:t>
            </a:r>
            <a:r>
              <a:rPr lang="vi-VN" sz="2400" spc="-10" dirty="0"/>
              <a:t> </a:t>
            </a:r>
            <a:r>
              <a:rPr lang="vi-VN" sz="2400" dirty="0"/>
              <a:t>tiêu</a:t>
            </a:r>
            <a:r>
              <a:rPr lang="vi-VN" sz="2400" spc="-10" dirty="0"/>
              <a:t> </a:t>
            </a:r>
            <a:r>
              <a:rPr lang="vi-VN" sz="2400" dirty="0"/>
              <a:t>chuẩn</a:t>
            </a:r>
            <a:r>
              <a:rPr lang="vi-VN" sz="2400" spc="-45" dirty="0"/>
              <a:t> </a:t>
            </a:r>
            <a:r>
              <a:rPr lang="vi-VN" sz="2400" dirty="0"/>
              <a:t>mở</a:t>
            </a:r>
            <a:r>
              <a:rPr lang="vi-VN" sz="2400" spc="-15" dirty="0"/>
              <a:t> </a:t>
            </a:r>
            <a:r>
              <a:rPr lang="vi-VN" sz="2400" dirty="0"/>
              <a:t>để</a:t>
            </a:r>
            <a:r>
              <a:rPr lang="vi-VN" sz="2400" spc="-10" dirty="0"/>
              <a:t> </a:t>
            </a:r>
            <a:r>
              <a:rPr lang="vi-VN" sz="2400" dirty="0"/>
              <a:t>trao</a:t>
            </a:r>
            <a:r>
              <a:rPr lang="vi-VN" sz="2400" spc="-25" dirty="0"/>
              <a:t> </a:t>
            </a:r>
            <a:r>
              <a:rPr lang="vi-VN" sz="2400" dirty="0"/>
              <a:t>đổi</a:t>
            </a:r>
            <a:r>
              <a:rPr lang="vi-VN" sz="2400" spc="-25" dirty="0"/>
              <a:t> </a:t>
            </a:r>
            <a:r>
              <a:rPr lang="vi-VN" sz="2400" dirty="0"/>
              <a:t>dữ</a:t>
            </a:r>
            <a:r>
              <a:rPr lang="vi-VN" sz="2400" spc="-20" dirty="0"/>
              <a:t> </a:t>
            </a:r>
            <a:r>
              <a:rPr lang="vi-VN" sz="2400" dirty="0"/>
              <a:t>liệu</a:t>
            </a:r>
            <a:r>
              <a:rPr lang="vi-VN" sz="2400" spc="-15" dirty="0"/>
              <a:t> </a:t>
            </a:r>
            <a:r>
              <a:rPr lang="vi-VN" sz="2400" dirty="0"/>
              <a:t>trên</a:t>
            </a:r>
            <a:r>
              <a:rPr lang="vi-VN" sz="2400" spc="-15" dirty="0"/>
              <a:t> </a:t>
            </a:r>
            <a:r>
              <a:rPr lang="vi-VN" sz="2400" spc="-25" dirty="0"/>
              <a:t>web</a:t>
            </a:r>
            <a:endParaRPr lang="vi-VN" sz="2400"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4677" y="3925181"/>
            <a:ext cx="3508248" cy="158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96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cap="small" dirty="0">
                <a:solidFill>
                  <a:srgbClr val="FF0000"/>
                </a:solidFill>
              </a:rPr>
              <a:t>Postman</a:t>
            </a:r>
            <a:r>
              <a:rPr lang="en-US" b="1" cap="small" spc="8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-</a:t>
            </a:r>
            <a:r>
              <a:rPr lang="en-US" b="1" cap="small" spc="-5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test</a:t>
            </a:r>
            <a:r>
              <a:rPr lang="en-US" b="1" cap="small" spc="70" dirty="0">
                <a:solidFill>
                  <a:srgbClr val="FF0000"/>
                </a:solidFill>
              </a:rPr>
              <a:t> </a:t>
            </a:r>
            <a:r>
              <a:rPr lang="en-US" b="1" cap="small" spc="-60" dirty="0">
                <a:solidFill>
                  <a:srgbClr val="FF0000"/>
                </a:solidFill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75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/>
              <a:t>Có</a:t>
            </a:r>
            <a:r>
              <a:rPr lang="vi-VN" spc="-15" dirty="0"/>
              <a:t> </a:t>
            </a:r>
            <a:r>
              <a:rPr lang="vi-VN" dirty="0"/>
              <a:t>thể thấy</a:t>
            </a:r>
            <a:r>
              <a:rPr lang="vi-VN" spc="-5" dirty="0"/>
              <a:t> </a:t>
            </a:r>
            <a:r>
              <a:rPr lang="vi-VN" dirty="0"/>
              <a:t>cú</a:t>
            </a:r>
            <a:r>
              <a:rPr lang="vi-VN" spc="-15" dirty="0"/>
              <a:t> </a:t>
            </a:r>
            <a:r>
              <a:rPr lang="vi-VN" dirty="0"/>
              <a:t>pháp</a:t>
            </a:r>
            <a:r>
              <a:rPr lang="vi-VN" spc="-25" dirty="0"/>
              <a:t> </a:t>
            </a:r>
            <a:r>
              <a:rPr lang="vi-VN" dirty="0"/>
              <a:t>của JSON</a:t>
            </a:r>
            <a:r>
              <a:rPr lang="vi-VN" spc="-15" dirty="0"/>
              <a:t> </a:t>
            </a:r>
            <a:r>
              <a:rPr lang="vi-VN" dirty="0"/>
              <a:t>có</a:t>
            </a:r>
            <a:r>
              <a:rPr lang="vi-VN" spc="-15" dirty="0"/>
              <a:t> </a:t>
            </a:r>
            <a:r>
              <a:rPr lang="vi-VN" dirty="0"/>
              <a:t>2</a:t>
            </a:r>
            <a:r>
              <a:rPr lang="vi-VN" spc="-10" dirty="0"/>
              <a:t> </a:t>
            </a:r>
            <a:r>
              <a:rPr lang="vi-VN" dirty="0"/>
              <a:t>phần</a:t>
            </a:r>
            <a:r>
              <a:rPr lang="vi-VN" spc="-30" dirty="0"/>
              <a:t> </a:t>
            </a:r>
            <a:r>
              <a:rPr lang="vi-VN" dirty="0"/>
              <a:t>đó</a:t>
            </a:r>
            <a:r>
              <a:rPr lang="vi-VN" spc="-5" dirty="0"/>
              <a:t> </a:t>
            </a:r>
            <a:r>
              <a:rPr lang="vi-VN" dirty="0"/>
              <a:t>là</a:t>
            </a:r>
            <a:r>
              <a:rPr lang="vi-VN" spc="-5" dirty="0"/>
              <a:t> </a:t>
            </a:r>
            <a:r>
              <a:rPr lang="vi-VN" dirty="0"/>
              <a:t>key</a:t>
            </a:r>
            <a:r>
              <a:rPr lang="vi-VN" spc="-25" dirty="0"/>
              <a:t> </a:t>
            </a:r>
            <a:r>
              <a:rPr lang="vi-VN" dirty="0"/>
              <a:t>và </a:t>
            </a:r>
            <a:r>
              <a:rPr lang="vi-VN" spc="-10" dirty="0"/>
              <a:t>value:</a:t>
            </a:r>
          </a:p>
          <a:p>
            <a:pPr marL="755650" lvl="1">
              <a:spcBef>
                <a:spcPts val="545"/>
              </a:spcBef>
              <a:buFont typeface="Wingdings"/>
              <a:buChar char=""/>
              <a:tabLst>
                <a:tab pos="75565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Chuỗi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JSON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được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bao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lại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bởi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dấu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ngoặc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nhọn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{}</a:t>
            </a:r>
            <a:endParaRPr lang="vi-VN" dirty="0">
              <a:latin typeface="Times New Roman"/>
              <a:cs typeface="Times New Roman"/>
            </a:endParaRPr>
          </a:p>
          <a:p>
            <a:pPr marL="755015" marR="97790" lvl="1">
              <a:spcBef>
                <a:spcPts val="530"/>
              </a:spcBef>
              <a:buFont typeface="Wingdings"/>
              <a:buChar char=""/>
              <a:tabLst>
                <a:tab pos="756285" algn="l"/>
                <a:tab pos="730885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5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key,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valuecủa</a:t>
            </a:r>
            <a:r>
              <a:rPr lang="vi-VN" spc="-5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JSON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bắt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buộc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phải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đặt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trong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dấu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nháy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kép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{“}, 	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nếu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bạn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đặt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nó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trong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dấu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nháy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đơn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thì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đây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không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phải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một</a:t>
            </a:r>
            <a:r>
              <a:rPr lang="vi-VN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chuỗi </a:t>
            </a:r>
            <a:r>
              <a:rPr lang="en-US" spc="-1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JSON</a:t>
            </a:r>
            <a:r>
              <a:rPr lang="vi-VN" spc="-45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đúng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chuẩn.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Nếu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trường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hợp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trong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value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của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bạn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có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chứa </a:t>
            </a:r>
            <a:r>
              <a:rPr lang="en-US" spc="-2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dấu</a:t>
            </a:r>
            <a:r>
              <a:rPr lang="vi-VN" spc="-3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nháy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kép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"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thì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hãy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dùng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dấu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(\)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để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đặt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trước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nó,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ví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 smtClean="0">
                <a:solidFill>
                  <a:srgbClr val="444444"/>
                </a:solidFill>
                <a:latin typeface="Times New Roman"/>
                <a:cs typeface="Times New Roman"/>
              </a:rPr>
              <a:t>dụ</a:t>
            </a:r>
            <a:r>
              <a:rPr lang="en-US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\"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json</a:t>
            </a:r>
            <a:r>
              <a:rPr lang="vi-VN" spc="-5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là </a:t>
            </a:r>
            <a:r>
              <a:rPr lang="en-US" spc="-25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 smtClean="0">
                <a:solidFill>
                  <a:srgbClr val="444444"/>
                </a:solidFill>
                <a:latin typeface="Times New Roman"/>
                <a:cs typeface="Times New Roman"/>
              </a:rPr>
              <a:t>gì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\".</a:t>
            </a:r>
            <a:endParaRPr lang="vi-VN" dirty="0">
              <a:latin typeface="Times New Roman"/>
              <a:cs typeface="Times New Roman"/>
            </a:endParaRPr>
          </a:p>
          <a:p>
            <a:pPr marL="755650" lvl="1">
              <a:spcBef>
                <a:spcPts val="530"/>
              </a:spcBef>
              <a:buFont typeface="Wingdings"/>
              <a:buChar char=""/>
              <a:tabLst>
                <a:tab pos="755650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Nếu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có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nhiều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dữ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liệu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thì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dùng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dấu</a:t>
            </a:r>
            <a:r>
              <a:rPr lang="vi-VN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phẩy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,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để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ngăn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10" dirty="0">
                <a:solidFill>
                  <a:srgbClr val="444444"/>
                </a:solidFill>
                <a:latin typeface="Times New Roman"/>
                <a:cs typeface="Times New Roman"/>
              </a:rPr>
              <a:t>cách.</a:t>
            </a:r>
            <a:endParaRPr lang="vi-VN" dirty="0">
              <a:latin typeface="Times New Roman"/>
              <a:cs typeface="Times New Roman"/>
            </a:endParaRPr>
          </a:p>
          <a:p>
            <a:pPr marL="755015" marR="20955" lvl="1">
              <a:spcBef>
                <a:spcPts val="530"/>
              </a:spcBef>
              <a:buFont typeface="Wingdings"/>
              <a:buChar char=""/>
              <a:tabLst>
                <a:tab pos="756285" algn="l"/>
              </a:tabLst>
            </a:pP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Các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key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của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JSON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bạn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nên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đặt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chữ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cái</a:t>
            </a:r>
            <a:r>
              <a:rPr lang="vi-VN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không</a:t>
            </a:r>
            <a:r>
              <a:rPr lang="vi-VN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dấu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hoặc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số,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dấu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_</a:t>
            </a:r>
            <a:r>
              <a:rPr lang="vi-VN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và </a:t>
            </a:r>
            <a:r>
              <a:rPr lang="en-US" spc="-25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 smtClean="0">
                <a:solidFill>
                  <a:srgbClr val="444444"/>
                </a:solidFill>
                <a:latin typeface="Times New Roman"/>
                <a:cs typeface="Times New Roman"/>
              </a:rPr>
              <a:t>không</a:t>
            </a:r>
            <a:r>
              <a:rPr lang="vi-VN" spc="-50" dirty="0" smtClean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có</a:t>
            </a:r>
            <a:r>
              <a:rPr lang="vi-VN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khoảng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trắng.,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ký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tự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đầu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tiên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không</a:t>
            </a:r>
            <a:r>
              <a:rPr lang="vi-VN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nên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đặt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444444"/>
                </a:solidFill>
                <a:latin typeface="Times New Roman"/>
                <a:cs typeface="Times New Roman"/>
              </a:rPr>
              <a:t>là</a:t>
            </a:r>
            <a:r>
              <a:rPr lang="vi-VN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444444"/>
                </a:solidFill>
                <a:latin typeface="Times New Roman"/>
                <a:cs typeface="Times New Roman"/>
              </a:rPr>
              <a:t>số.</a:t>
            </a:r>
            <a:endParaRPr lang="vi-VN" dirty="0">
              <a:latin typeface="Times New Roman"/>
              <a:cs typeface="Times New Roman"/>
            </a:endParaRPr>
          </a:p>
          <a:p>
            <a:pPr marL="354965" marR="814069">
              <a:spcBef>
                <a:spcPts val="610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/>
              <a:t>C#</a:t>
            </a:r>
            <a:r>
              <a:rPr lang="vi-VN" spc="-15" dirty="0"/>
              <a:t> </a:t>
            </a:r>
            <a:r>
              <a:rPr lang="vi-VN" dirty="0"/>
              <a:t>hỗ</a:t>
            </a:r>
            <a:r>
              <a:rPr lang="vi-VN" spc="-15" dirty="0"/>
              <a:t> </a:t>
            </a:r>
            <a:r>
              <a:rPr lang="vi-VN" dirty="0"/>
              <a:t>trợ nhiều</a:t>
            </a:r>
            <a:r>
              <a:rPr lang="vi-VN" spc="-20" dirty="0"/>
              <a:t> </a:t>
            </a:r>
            <a:r>
              <a:rPr lang="vi-VN" dirty="0"/>
              <a:t>cách</a:t>
            </a:r>
            <a:r>
              <a:rPr lang="vi-VN" spc="-15" dirty="0"/>
              <a:t> </a:t>
            </a:r>
            <a:r>
              <a:rPr lang="vi-VN" dirty="0"/>
              <a:t>tương</a:t>
            </a:r>
            <a:r>
              <a:rPr lang="vi-VN" spc="-25" dirty="0"/>
              <a:t> </a:t>
            </a:r>
            <a:r>
              <a:rPr lang="vi-VN" dirty="0"/>
              <a:t>tác</a:t>
            </a:r>
            <a:r>
              <a:rPr lang="vi-VN" spc="-10" dirty="0"/>
              <a:t> </a:t>
            </a:r>
            <a:r>
              <a:rPr lang="vi-VN" dirty="0"/>
              <a:t>với</a:t>
            </a:r>
            <a:r>
              <a:rPr lang="vi-VN" spc="-5" dirty="0"/>
              <a:t> </a:t>
            </a:r>
            <a:r>
              <a:rPr lang="vi-VN" dirty="0"/>
              <a:t>Json</a:t>
            </a:r>
            <a:r>
              <a:rPr lang="vi-VN" spc="-15" dirty="0"/>
              <a:t> </a:t>
            </a:r>
            <a:r>
              <a:rPr lang="vi-VN" dirty="0"/>
              <a:t>thông</a:t>
            </a:r>
            <a:r>
              <a:rPr lang="vi-VN" spc="-30" dirty="0"/>
              <a:t> </a:t>
            </a:r>
            <a:r>
              <a:rPr lang="vi-VN" dirty="0"/>
              <a:t>qua</a:t>
            </a:r>
            <a:r>
              <a:rPr lang="vi-VN" spc="-20" dirty="0"/>
              <a:t> </a:t>
            </a:r>
            <a:r>
              <a:rPr lang="vi-VN" spc="-25" dirty="0"/>
              <a:t>các </a:t>
            </a:r>
            <a:r>
              <a:rPr lang="vi-VN" dirty="0"/>
              <a:t>Namespaces</a:t>
            </a:r>
            <a:r>
              <a:rPr lang="vi-VN" spc="-65" dirty="0"/>
              <a:t> </a:t>
            </a:r>
            <a:r>
              <a:rPr lang="vi-VN" spc="-10" dirty="0"/>
              <a:t>(System.Text.Json,</a:t>
            </a:r>
            <a:r>
              <a:rPr lang="vi-VN" spc="-45" dirty="0"/>
              <a:t> </a:t>
            </a:r>
            <a:r>
              <a:rPr lang="vi-VN" spc="-10" dirty="0"/>
              <a:t>Newtonsoft.Json…)</a:t>
            </a:r>
            <a:endParaRPr lang="vi-VN" spc="-1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0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cap="small" dirty="0">
                <a:solidFill>
                  <a:srgbClr val="FF0000"/>
                </a:solidFill>
              </a:rPr>
              <a:t>Postman</a:t>
            </a:r>
            <a:r>
              <a:rPr lang="en-US" b="1" cap="small" spc="8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-</a:t>
            </a:r>
            <a:r>
              <a:rPr lang="en-US" b="1" cap="small" spc="-50" dirty="0">
                <a:solidFill>
                  <a:srgbClr val="FF0000"/>
                </a:solidFill>
              </a:rPr>
              <a:t> </a:t>
            </a:r>
            <a:r>
              <a:rPr lang="en-US" b="1" cap="small" dirty="0">
                <a:solidFill>
                  <a:srgbClr val="FF0000"/>
                </a:solidFill>
              </a:rPr>
              <a:t>test</a:t>
            </a:r>
            <a:r>
              <a:rPr lang="en-US" b="1" cap="small" spc="70" dirty="0">
                <a:solidFill>
                  <a:srgbClr val="FF0000"/>
                </a:solidFill>
              </a:rPr>
              <a:t> </a:t>
            </a:r>
            <a:r>
              <a:rPr lang="en-US" b="1" cap="small" spc="-60" dirty="0">
                <a:solidFill>
                  <a:srgbClr val="FF0000"/>
                </a:solidFill>
              </a:rPr>
              <a:t>API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marR="5080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Truy</a:t>
            </a:r>
            <a:r>
              <a:rPr lang="vi-VN" sz="2600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cập</a:t>
            </a:r>
            <a:r>
              <a:rPr lang="vi-VN" sz="26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vào</a:t>
            </a:r>
            <a:r>
              <a:rPr lang="vi-VN" sz="2600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trang</a:t>
            </a:r>
            <a:r>
              <a:rPr lang="vi-VN" sz="26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chủ:</a:t>
            </a:r>
            <a:r>
              <a:rPr lang="vi-VN" sz="26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https://www.getpostman.com/</a:t>
            </a:r>
            <a:r>
              <a:rPr lang="vi-VN" sz="26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vi-VN" sz="2600" spc="-20" dirty="0">
                <a:solidFill>
                  <a:srgbClr val="444444"/>
                </a:solidFill>
                <a:latin typeface="Times New Roman"/>
                <a:cs typeface="Times New Roman"/>
              </a:rPr>
              <a:t>chọn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nền</a:t>
            </a:r>
            <a:r>
              <a:rPr lang="vi-VN" sz="26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tảng</a:t>
            </a:r>
            <a:r>
              <a:rPr lang="vi-VN" sz="26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muốn</a:t>
            </a:r>
            <a:r>
              <a:rPr lang="vi-VN" sz="26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cài</a:t>
            </a:r>
            <a:r>
              <a:rPr lang="vi-VN" sz="2600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đặt</a:t>
            </a:r>
            <a:r>
              <a:rPr lang="vi-VN" sz="26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như</a:t>
            </a:r>
            <a:r>
              <a:rPr lang="vi-VN" sz="2600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cho</a:t>
            </a:r>
            <a:r>
              <a:rPr lang="vi-VN" sz="26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Mac,</a:t>
            </a:r>
            <a:r>
              <a:rPr lang="vi-VN" sz="2600" spc="-8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Windows</a:t>
            </a:r>
            <a:r>
              <a:rPr lang="vi-VN" sz="2600" spc="-5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hoặc</a:t>
            </a:r>
            <a:r>
              <a:rPr lang="vi-VN" sz="2600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spc="-10" dirty="0">
                <a:solidFill>
                  <a:srgbClr val="444444"/>
                </a:solidFill>
                <a:latin typeface="Times New Roman"/>
                <a:cs typeface="Times New Roman"/>
              </a:rPr>
              <a:t>Linux</a:t>
            </a:r>
            <a:endParaRPr lang="vi-VN" sz="2600" dirty="0">
              <a:latin typeface="Times New Roman"/>
              <a:cs typeface="Times New Roman"/>
            </a:endParaRPr>
          </a:p>
          <a:p>
            <a:pPr marL="354965" marR="1338580">
              <a:spcBef>
                <a:spcPts val="62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Làm</a:t>
            </a:r>
            <a:r>
              <a:rPr lang="vi-VN" sz="2600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việc</a:t>
            </a:r>
            <a:r>
              <a:rPr lang="vi-VN" sz="2600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với</a:t>
            </a:r>
            <a:r>
              <a:rPr lang="vi-VN" sz="26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request</a:t>
            </a:r>
            <a:r>
              <a:rPr lang="vi-VN" sz="26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get (sử</a:t>
            </a:r>
            <a:r>
              <a:rPr lang="vi-VN" sz="2600" spc="-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dụng</a:t>
            </a:r>
            <a:r>
              <a:rPr lang="vi-VN" sz="26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URL</a:t>
            </a:r>
            <a:r>
              <a:rPr lang="vi-VN" sz="2600" spc="-114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làm</a:t>
            </a:r>
            <a:r>
              <a:rPr lang="vi-VN" sz="2600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lang="vi-VN" sz="2600" dirty="0">
                <a:solidFill>
                  <a:srgbClr val="444444"/>
                </a:solidFill>
                <a:latin typeface="Times New Roman"/>
                <a:cs typeface="Times New Roman"/>
              </a:rPr>
              <a:t>ví </a:t>
            </a:r>
            <a:r>
              <a:rPr lang="vi-VN" sz="2600" spc="-25" dirty="0">
                <a:solidFill>
                  <a:srgbClr val="444444"/>
                </a:solidFill>
                <a:latin typeface="Times New Roman"/>
                <a:cs typeface="Times New Roman"/>
              </a:rPr>
              <a:t>dụ </a:t>
            </a:r>
            <a:r>
              <a:rPr lang="vi-VN" sz="2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https://jsonplaceholder.typicode.com/users</a:t>
            </a:r>
            <a:r>
              <a:rPr lang="vi-VN" sz="2600" spc="-10" dirty="0">
                <a:solidFill>
                  <a:srgbClr val="444444"/>
                </a:solidFill>
                <a:latin typeface="Times New Roman"/>
                <a:cs typeface="Times New Roman"/>
              </a:rPr>
              <a:t>)</a:t>
            </a:r>
            <a:endParaRPr lang="vi-VN" sz="2600" dirty="0">
              <a:latin typeface="Times New Roman"/>
              <a:cs typeface="Times New Roman"/>
            </a:endParaRPr>
          </a:p>
          <a:p>
            <a:pPr marL="756285" lvl="1" indent="-286385">
              <a:spcBef>
                <a:spcPts val="585"/>
              </a:spcBef>
              <a:buAutoNum type="arabicPeriod"/>
              <a:tabLst>
                <a:tab pos="756285" algn="l"/>
              </a:tabLst>
            </a:pP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Thiết</a:t>
            </a:r>
            <a:r>
              <a:rPr lang="vi-VN" spc="-3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lập</a:t>
            </a:r>
            <a:r>
              <a:rPr lang="vi-VN" spc="-5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request</a:t>
            </a:r>
            <a:r>
              <a:rPr lang="vi-VN" spc="-25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HTTP</a:t>
            </a:r>
            <a:r>
              <a:rPr lang="vi-VN" spc="-95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của</a:t>
            </a:r>
            <a:r>
              <a:rPr lang="vi-VN" spc="-15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bạn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là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292B2C"/>
                </a:solidFill>
                <a:latin typeface="Times New Roman"/>
                <a:cs typeface="Times New Roman"/>
              </a:rPr>
              <a:t>GET</a:t>
            </a:r>
            <a:endParaRPr lang="vi-VN" dirty="0">
              <a:latin typeface="Times New Roman"/>
              <a:cs typeface="Times New Roman"/>
            </a:endParaRPr>
          </a:p>
          <a:p>
            <a:pPr marL="756285" lvl="1" indent="-286385">
              <a:spcBef>
                <a:spcPts val="575"/>
              </a:spcBef>
              <a:buAutoNum type="arabicPeriod"/>
              <a:tabLst>
                <a:tab pos="756285" algn="l"/>
              </a:tabLst>
            </a:pP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Trong</a:t>
            </a:r>
            <a:r>
              <a:rPr lang="vi-VN" spc="-4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trường</a:t>
            </a:r>
            <a:r>
              <a:rPr lang="vi-VN" spc="-35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URL</a:t>
            </a:r>
            <a:r>
              <a:rPr lang="vi-VN" spc="-1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yêu</a:t>
            </a:r>
            <a:r>
              <a:rPr lang="vi-VN" spc="-4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cầu,</a:t>
            </a:r>
            <a:r>
              <a:rPr lang="vi-VN" spc="-4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nhập</a:t>
            </a:r>
            <a:r>
              <a:rPr lang="vi-VN" spc="-3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vào</a:t>
            </a:r>
            <a:r>
              <a:rPr lang="vi-VN" spc="-4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292B2C"/>
                </a:solidFill>
                <a:latin typeface="Times New Roman"/>
                <a:cs typeface="Times New Roman"/>
              </a:rPr>
              <a:t>link</a:t>
            </a:r>
            <a:endParaRPr lang="vi-VN" dirty="0">
              <a:latin typeface="Times New Roman"/>
              <a:cs typeface="Times New Roman"/>
            </a:endParaRPr>
          </a:p>
          <a:p>
            <a:pPr marL="755650" lvl="1">
              <a:spcBef>
                <a:spcPts val="575"/>
              </a:spcBef>
              <a:buAutoNum type="arabicPeriod"/>
              <a:tabLst>
                <a:tab pos="755650" algn="l"/>
              </a:tabLst>
            </a:pP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Kích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nút</a:t>
            </a:r>
            <a:r>
              <a:rPr lang="vi-VN" spc="-15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292B2C"/>
                </a:solidFill>
                <a:latin typeface="Times New Roman"/>
                <a:cs typeface="Times New Roman"/>
              </a:rPr>
              <a:t>Send</a:t>
            </a:r>
            <a:endParaRPr lang="vi-VN" dirty="0">
              <a:latin typeface="Times New Roman"/>
              <a:cs typeface="Times New Roman"/>
            </a:endParaRPr>
          </a:p>
          <a:p>
            <a:pPr marL="756285" lvl="1" indent="-286385">
              <a:spcBef>
                <a:spcPts val="580"/>
              </a:spcBef>
              <a:buAutoNum type="arabicPeriod"/>
              <a:tabLst>
                <a:tab pos="756285" algn="l"/>
              </a:tabLst>
            </a:pP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Bạn</a:t>
            </a:r>
            <a:r>
              <a:rPr lang="vi-VN" spc="-15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sẽ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nhìn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thấy</a:t>
            </a:r>
            <a:r>
              <a:rPr lang="vi-VN" spc="-2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message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là</a:t>
            </a:r>
            <a:r>
              <a:rPr lang="vi-VN" spc="-3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200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spc="-25" dirty="0">
                <a:solidFill>
                  <a:srgbClr val="292B2C"/>
                </a:solidFill>
                <a:latin typeface="Times New Roman"/>
                <a:cs typeface="Times New Roman"/>
              </a:rPr>
              <a:t>ok</a:t>
            </a:r>
            <a:endParaRPr lang="vi-VN" dirty="0">
              <a:latin typeface="Times New Roman"/>
              <a:cs typeface="Times New Roman"/>
            </a:endParaRPr>
          </a:p>
          <a:p>
            <a:pPr marL="756285" lvl="1" indent="-286385">
              <a:spcBef>
                <a:spcPts val="575"/>
              </a:spcBef>
              <a:buAutoNum type="arabicPeriod"/>
              <a:tabLst>
                <a:tab pos="756285" algn="l"/>
              </a:tabLst>
            </a:pP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Sẽ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hiển</a:t>
            </a:r>
            <a:r>
              <a:rPr lang="vi-VN" spc="-25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thị</a:t>
            </a:r>
            <a:r>
              <a:rPr lang="vi-VN" spc="-3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kết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quả</a:t>
            </a:r>
            <a:r>
              <a:rPr lang="vi-VN" spc="-2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10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người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dùng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trong</a:t>
            </a:r>
            <a:r>
              <a:rPr lang="vi-VN" spc="-2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dirty="0">
                <a:solidFill>
                  <a:srgbClr val="292B2C"/>
                </a:solidFill>
                <a:latin typeface="Times New Roman"/>
                <a:cs typeface="Times New Roman"/>
              </a:rPr>
              <a:t>phần</a:t>
            </a:r>
            <a:r>
              <a:rPr lang="vi-VN" spc="-10" dirty="0">
                <a:solidFill>
                  <a:srgbClr val="292B2C"/>
                </a:solidFill>
                <a:latin typeface="Times New Roman"/>
                <a:cs typeface="Times New Roman"/>
              </a:rPr>
              <a:t> </a:t>
            </a:r>
            <a:r>
              <a:rPr lang="vi-VN" spc="-20" dirty="0">
                <a:solidFill>
                  <a:srgbClr val="292B2C"/>
                </a:solidFill>
                <a:latin typeface="Times New Roman"/>
                <a:cs typeface="Times New Roman"/>
              </a:rPr>
              <a:t>Body</a:t>
            </a:r>
            <a:endParaRPr lang="vi-VN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8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cap="small" dirty="0" err="1">
                <a:solidFill>
                  <a:srgbClr val="FF0000"/>
                </a:solidFill>
              </a:rPr>
              <a:t>Làm</a:t>
            </a:r>
            <a:r>
              <a:rPr lang="en-US" b="1" cap="small" spc="110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việc</a:t>
            </a:r>
            <a:r>
              <a:rPr lang="en-US" b="1" cap="small" spc="90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với</a:t>
            </a:r>
            <a:r>
              <a:rPr lang="en-US" b="1" cap="small" spc="95" dirty="0">
                <a:solidFill>
                  <a:srgbClr val="FF0000"/>
                </a:solidFill>
              </a:rPr>
              <a:t> </a:t>
            </a:r>
            <a:r>
              <a:rPr lang="en-US" b="1" cap="small" spc="-60" dirty="0">
                <a:solidFill>
                  <a:srgbClr val="FF0000"/>
                </a:solidFill>
              </a:rPr>
              <a:t>request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marR="5080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vi-VN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4115" y="958362"/>
            <a:ext cx="7870757" cy="540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8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cap="small" dirty="0" err="1">
                <a:solidFill>
                  <a:srgbClr val="FF0000"/>
                </a:solidFill>
              </a:rPr>
              <a:t>Làm</a:t>
            </a:r>
            <a:r>
              <a:rPr lang="en-US" b="1" cap="small" spc="110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việc</a:t>
            </a:r>
            <a:r>
              <a:rPr lang="en-US" b="1" cap="small" spc="90" dirty="0">
                <a:solidFill>
                  <a:srgbClr val="FF0000"/>
                </a:solidFill>
              </a:rPr>
              <a:t> </a:t>
            </a:r>
            <a:r>
              <a:rPr lang="en-US" b="1" cap="small" dirty="0" err="1">
                <a:solidFill>
                  <a:srgbClr val="FF0000"/>
                </a:solidFill>
              </a:rPr>
              <a:t>với</a:t>
            </a:r>
            <a:r>
              <a:rPr lang="en-US" b="1" cap="small" spc="95" dirty="0">
                <a:solidFill>
                  <a:srgbClr val="FF0000"/>
                </a:solidFill>
              </a:rPr>
              <a:t> POST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marR="5080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sz="2000" dirty="0">
                <a:solidFill>
                  <a:srgbClr val="FF0000"/>
                </a:solidFill>
                <a:latin typeface="+mn-lt"/>
                <a:cs typeface="Times New Roman"/>
              </a:rPr>
              <a:t>Tham</a:t>
            </a:r>
            <a:r>
              <a:rPr lang="vi-VN" sz="2000" spc="25" dirty="0">
                <a:solidFill>
                  <a:srgbClr val="FF0000"/>
                </a:solidFill>
                <a:latin typeface="+mn-lt"/>
                <a:cs typeface="Times New Roman"/>
              </a:rPr>
              <a:t> </a:t>
            </a:r>
            <a:r>
              <a:rPr lang="vi-VN" sz="2000" dirty="0">
                <a:solidFill>
                  <a:srgbClr val="FF0000"/>
                </a:solidFill>
                <a:latin typeface="+mn-lt"/>
                <a:cs typeface="Times New Roman"/>
              </a:rPr>
              <a:t>khảo</a:t>
            </a:r>
            <a:r>
              <a:rPr lang="vi-VN" sz="2000" spc="45" dirty="0">
                <a:solidFill>
                  <a:srgbClr val="FF0000"/>
                </a:solidFill>
                <a:latin typeface="+mn-lt"/>
                <a:cs typeface="Times New Roman"/>
              </a:rPr>
              <a:t> </a:t>
            </a:r>
            <a:r>
              <a:rPr lang="vi-VN" sz="2000" dirty="0">
                <a:solidFill>
                  <a:srgbClr val="FF0000"/>
                </a:solidFill>
                <a:latin typeface="+mn-lt"/>
                <a:cs typeface="Times New Roman"/>
              </a:rPr>
              <a:t>hướng</a:t>
            </a:r>
            <a:r>
              <a:rPr lang="vi-VN" sz="2000" spc="45" dirty="0">
                <a:solidFill>
                  <a:srgbClr val="FF0000"/>
                </a:solidFill>
                <a:latin typeface="+mn-lt"/>
                <a:cs typeface="Times New Roman"/>
              </a:rPr>
              <a:t> </a:t>
            </a:r>
            <a:r>
              <a:rPr lang="vi-VN" sz="2000" dirty="0">
                <a:solidFill>
                  <a:srgbClr val="FF0000"/>
                </a:solidFill>
                <a:latin typeface="+mn-lt"/>
                <a:cs typeface="Times New Roman"/>
              </a:rPr>
              <a:t>dẫn</a:t>
            </a:r>
            <a:r>
              <a:rPr lang="vi-VN" sz="2000" spc="40" dirty="0">
                <a:solidFill>
                  <a:srgbClr val="FF0000"/>
                </a:solidFill>
                <a:latin typeface="+mn-lt"/>
                <a:cs typeface="Times New Roman"/>
              </a:rPr>
              <a:t> </a:t>
            </a:r>
            <a:r>
              <a:rPr lang="vi-VN" sz="2000" dirty="0" smtClean="0">
                <a:solidFill>
                  <a:srgbClr val="FF0000"/>
                </a:solidFill>
                <a:latin typeface="+mn-lt"/>
                <a:cs typeface="Times New Roman"/>
              </a:rPr>
              <a:t>s</a:t>
            </a:r>
            <a:r>
              <a:rPr lang="en-US" sz="2000" dirty="0" smtClean="0">
                <a:solidFill>
                  <a:srgbClr val="FF0000"/>
                </a:solidFill>
                <a:latin typeface="+mn-lt"/>
                <a:cs typeface="Times New Roman"/>
              </a:rPr>
              <a:t>ử</a:t>
            </a:r>
            <a:r>
              <a:rPr lang="vi-VN" sz="2000" spc="45" dirty="0" smtClean="0">
                <a:solidFill>
                  <a:srgbClr val="FF0000"/>
                </a:solidFill>
                <a:latin typeface="+mn-lt"/>
                <a:cs typeface="Times New Roman"/>
              </a:rPr>
              <a:t> </a:t>
            </a:r>
            <a:r>
              <a:rPr lang="vi-VN" sz="2000" dirty="0">
                <a:solidFill>
                  <a:srgbClr val="FF0000"/>
                </a:solidFill>
                <a:latin typeface="+mn-lt"/>
                <a:cs typeface="Times New Roman"/>
              </a:rPr>
              <a:t>dụng:</a:t>
            </a:r>
            <a:r>
              <a:rPr lang="vi-VN" sz="2000" spc="50" dirty="0">
                <a:solidFill>
                  <a:srgbClr val="FF0000"/>
                </a:solidFill>
                <a:latin typeface="+mn-lt"/>
                <a:cs typeface="Times New Roman"/>
              </a:rPr>
              <a:t>  </a:t>
            </a:r>
            <a:r>
              <a:rPr lang="vi-VN" sz="2000" spc="-20" dirty="0">
                <a:solidFill>
                  <a:srgbClr val="FF0000"/>
                </a:solidFill>
                <a:latin typeface="+mn-lt"/>
                <a:cs typeface="Calibri"/>
              </a:rPr>
              <a:t>https://</a:t>
            </a:r>
            <a:r>
              <a:rPr lang="vi-VN" sz="2000" spc="-20" dirty="0" smtClean="0">
                <a:solidFill>
                  <a:srgbClr val="FF0000"/>
                </a:solidFill>
                <a:latin typeface="+mn-lt"/>
                <a:cs typeface="Calibri"/>
              </a:rPr>
              <a:t>learning.postman.com/docs/publishing-</a:t>
            </a:r>
            <a:r>
              <a:rPr lang="vi-VN" sz="2000" spc="-10" dirty="0" smtClean="0">
                <a:solidFill>
                  <a:srgbClr val="FF0000"/>
                </a:solidFill>
                <a:latin typeface="+mn-lt"/>
                <a:cs typeface="Calibri"/>
              </a:rPr>
              <a:t>your-</a:t>
            </a:r>
            <a:r>
              <a:rPr lang="en-US" sz="2000" spc="-10" dirty="0" err="1">
                <a:solidFill>
                  <a:srgbClr val="FF0000"/>
                </a:solidFill>
                <a:latin typeface="+mn-lt"/>
                <a:cs typeface="Calibri"/>
              </a:rPr>
              <a:t>api</a:t>
            </a:r>
            <a:r>
              <a:rPr lang="en-US" sz="2000" spc="-10" dirty="0">
                <a:solidFill>
                  <a:srgbClr val="FF0000"/>
                </a:solidFill>
                <a:latin typeface="+mn-lt"/>
                <a:cs typeface="Calibri"/>
              </a:rPr>
              <a:t>/documenting-</a:t>
            </a:r>
            <a:r>
              <a:rPr lang="en-US" sz="2000" spc="-20" dirty="0">
                <a:solidFill>
                  <a:srgbClr val="FF0000"/>
                </a:solidFill>
                <a:latin typeface="+mn-lt"/>
                <a:cs typeface="Calibri"/>
              </a:rPr>
              <a:t>your-</a:t>
            </a:r>
            <a:r>
              <a:rPr lang="en-US" sz="2000" spc="-20" dirty="0" err="1">
                <a:solidFill>
                  <a:srgbClr val="FF0000"/>
                </a:solidFill>
                <a:latin typeface="+mn-lt"/>
                <a:cs typeface="Calibri"/>
              </a:rPr>
              <a:t>api</a:t>
            </a:r>
            <a:r>
              <a:rPr lang="en-US" sz="2000" spc="-20" dirty="0">
                <a:solidFill>
                  <a:srgbClr val="FF0000"/>
                </a:solidFill>
                <a:latin typeface="+mn-lt"/>
                <a:cs typeface="Calibri"/>
              </a:rPr>
              <a:t>/</a:t>
            </a:r>
            <a:endParaRPr lang="en-US" sz="2000" dirty="0">
              <a:latin typeface="+mn-lt"/>
              <a:cs typeface="Calibri"/>
            </a:endParaRPr>
          </a:p>
          <a:p>
            <a:pPr marL="354965" marR="5080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vi-VN" sz="2000" dirty="0">
              <a:latin typeface="+mn-lt"/>
              <a:cs typeface="Calibri"/>
            </a:endParaRPr>
          </a:p>
          <a:p>
            <a:pPr marL="354965" marR="5080">
              <a:spcBef>
                <a:spcPts val="105"/>
              </a:spcBef>
              <a:buFont typeface="Wingdings"/>
              <a:buChar char=""/>
              <a:tabLst>
                <a:tab pos="354965" algn="l"/>
              </a:tabLst>
            </a:pPr>
            <a:endParaRPr lang="vi-VN" sz="2000" dirty="0">
              <a:latin typeface="+mn-lt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9528" y="1815488"/>
            <a:ext cx="7662672" cy="461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79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pt-BR" sz="3600" dirty="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r>
              <a:rPr lang="pt-BR" sz="3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pt-BR" sz="3600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lang="pt-BR" sz="3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pt-BR" sz="3600" dirty="0">
                <a:solidFill>
                  <a:srgbClr val="FFFFFF"/>
                </a:solidFill>
                <a:latin typeface="Calibri"/>
                <a:cs typeface="Calibri"/>
              </a:rPr>
              <a:t>thao</a:t>
            </a:r>
            <a:r>
              <a:rPr lang="pt-BR" sz="3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pt-BR" sz="3600" dirty="0">
                <a:solidFill>
                  <a:srgbClr val="FFFFFF"/>
                </a:solidFill>
                <a:latin typeface="Calibri"/>
                <a:cs typeface="Calibri"/>
              </a:rPr>
              <a:t>tác</a:t>
            </a:r>
            <a:r>
              <a:rPr lang="pt-BR" sz="3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pt-BR" sz="3600" spc="-20" dirty="0" smtClean="0">
                <a:solidFill>
                  <a:srgbClr val="FFFFFF"/>
                </a:solidFill>
                <a:latin typeface="Calibri"/>
                <a:cs typeface="Calibri"/>
              </a:rPr>
              <a:t>crud với POSTMAN</a:t>
            </a:r>
            <a:endParaRPr lang="pt-BR" sz="3600" dirty="0">
              <a:latin typeface="Calibri"/>
              <a:cs typeface="Calibri"/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WEB APIS IN ASP.NET CORE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Asp.net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core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hỗ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trợ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phát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triển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Api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thông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qua</a:t>
            </a:r>
            <a:endParaRPr lang="vi-VN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</a:pPr>
            <a:r>
              <a:rPr lang="vi-VN" dirty="0">
                <a:latin typeface="Segoe UI"/>
                <a:cs typeface="Segoe UI"/>
              </a:rPr>
              <a:t>template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có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sẵn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hoặc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sử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dụng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EF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20" dirty="0">
                <a:latin typeface="Segoe UI"/>
                <a:cs typeface="Segoe UI"/>
              </a:rPr>
              <a:t>core</a:t>
            </a:r>
            <a:endParaRPr lang="vi-VN" dirty="0">
              <a:latin typeface="Segoe UI"/>
              <a:cs typeface="Segoe UI"/>
            </a:endParaRPr>
          </a:p>
          <a:p>
            <a:pPr marL="354965" indent="-342265">
              <a:spcBef>
                <a:spcPts val="67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Sử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dụng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controller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kế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thừa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từ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ControllerBase</a:t>
            </a:r>
            <a:endParaRPr lang="vi-VN" dirty="0">
              <a:latin typeface="Segoe UI"/>
              <a:cs typeface="Segoe UI"/>
            </a:endParaRPr>
          </a:p>
          <a:p>
            <a:pPr marL="355600" marR="214629">
              <a:spcBef>
                <a:spcPts val="67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ControllerBase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cung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cấp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7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properties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and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methods </a:t>
            </a:r>
            <a:r>
              <a:rPr lang="vi-VN" dirty="0">
                <a:latin typeface="Segoe UI"/>
                <a:cs typeface="Segoe UI"/>
              </a:rPr>
              <a:t>quản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lý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thông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tin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trong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HTTP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requests</a:t>
            </a:r>
            <a:endParaRPr lang="vi-VN" dirty="0">
              <a:latin typeface="Segoe UI"/>
              <a:cs typeface="Segoe UI"/>
            </a:endParaRPr>
          </a:p>
          <a:p>
            <a:pPr marL="354965" indent="-342265">
              <a:spcBef>
                <a:spcPts val="67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Dùng</a:t>
            </a:r>
            <a:r>
              <a:rPr lang="vi-VN" spc="-9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[ApiController]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attribute</a:t>
            </a:r>
            <a:r>
              <a:rPr lang="vi-VN" spc="-8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cho</a:t>
            </a:r>
            <a:r>
              <a:rPr lang="vi-VN" spc="-10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controller</a:t>
            </a:r>
            <a:endParaRPr lang="vi-VN" dirty="0">
              <a:latin typeface="Segoe UI"/>
              <a:cs typeface="Segoe UI"/>
            </a:endParaRPr>
          </a:p>
          <a:p>
            <a:pPr marL="354965" indent="-342265">
              <a:spcBef>
                <a:spcPts val="670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Dùng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attribute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routing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tạo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đường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dẫn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Url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cho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Api</a:t>
            </a:r>
            <a:endParaRPr lang="vi-VN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1400" y="4841865"/>
            <a:ext cx="5029200" cy="9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8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WEB APIS IN ASP.NET CORE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Tạo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ứng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dụng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asp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core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empty</a:t>
            </a:r>
            <a:endParaRPr lang="vi-VN" dirty="0">
              <a:latin typeface="Segoe UI"/>
              <a:cs typeface="Segoe UI"/>
            </a:endParaRPr>
          </a:p>
          <a:p>
            <a:pPr marL="354965" indent="-342265">
              <a:spcBef>
                <a:spcPts val="670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Tạo</a:t>
            </a:r>
            <a:r>
              <a:rPr lang="vi-VN" spc="-1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model</a:t>
            </a:r>
            <a:r>
              <a:rPr lang="vi-VN" spc="-25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‘Reservation’</a:t>
            </a:r>
            <a:endParaRPr lang="vi-VN" dirty="0">
              <a:latin typeface="Segoe UI"/>
              <a:cs typeface="Segoe UI"/>
            </a:endParaRPr>
          </a:p>
          <a:p>
            <a:pPr marL="12700" marR="4262120" indent="342265">
              <a:lnSpc>
                <a:spcPct val="120000"/>
              </a:lnSpc>
              <a:spcBef>
                <a:spcPts val="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Áp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dụng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DI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 smtClean="0">
                <a:latin typeface="Segoe UI"/>
                <a:cs typeface="Segoe UI"/>
              </a:rPr>
              <a:t>parte</a:t>
            </a:r>
            <a:r>
              <a:rPr lang="en-US" dirty="0">
                <a:latin typeface="Segoe UI"/>
                <a:cs typeface="Segoe UI"/>
              </a:rPr>
              <a:t>r</a:t>
            </a:r>
            <a:r>
              <a:rPr lang="vi-VN" dirty="0" smtClean="0">
                <a:latin typeface="Segoe UI"/>
                <a:cs typeface="Segoe UI"/>
              </a:rPr>
              <a:t>n</a:t>
            </a:r>
            <a:r>
              <a:rPr lang="vi-VN" dirty="0">
                <a:latin typeface="Segoe UI"/>
                <a:cs typeface="Segoe UI"/>
              </a:rPr>
              <a:t>,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tạo </a:t>
            </a:r>
            <a:r>
              <a:rPr lang="vi-VN" dirty="0">
                <a:latin typeface="Segoe UI"/>
                <a:cs typeface="Segoe UI"/>
              </a:rPr>
              <a:t>Interface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‘IRepository’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với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các </a:t>
            </a:r>
            <a:r>
              <a:rPr lang="vi-VN" dirty="0">
                <a:latin typeface="Segoe UI"/>
                <a:cs typeface="Segoe UI"/>
              </a:rPr>
              <a:t>Thao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tác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Crud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tương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ứng</a:t>
            </a:r>
            <a:endParaRPr lang="vi-VN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0692" y="3813107"/>
            <a:ext cx="4114800" cy="2010155"/>
          </a:xfrm>
          <a:prstGeom prst="rect">
            <a:avLst/>
          </a:prstGeom>
        </p:spPr>
      </p:pic>
      <p:pic>
        <p:nvPicPr>
          <p:cNvPr id="9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900" y="3363199"/>
            <a:ext cx="6288024" cy="259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8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WEB APIS IN ASP.NET CORE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class</a:t>
            </a:r>
            <a:r>
              <a:rPr lang="en-US" spc="-7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‘Repository’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hiện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thực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interface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1040" y="2289283"/>
            <a:ext cx="7286244" cy="333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4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WEB APIS IN ASP.NET CORE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class</a:t>
            </a:r>
            <a:r>
              <a:rPr lang="en-US" spc="-7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‘Repository’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hiện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thực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interface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2240" y="1821977"/>
            <a:ext cx="6786011" cy="425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5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WEB APIS IN ASP.NET CORE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>
                <a:latin typeface="Segoe UI"/>
                <a:cs typeface="Segoe UI"/>
              </a:rPr>
              <a:t>Inject</a:t>
            </a:r>
            <a:r>
              <a:rPr lang="en-US" spc="-10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AddSingleton</a:t>
            </a:r>
            <a:r>
              <a:rPr lang="en-US" spc="-8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DI</a:t>
            </a:r>
            <a:r>
              <a:rPr lang="en-US" spc="-11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trong</a:t>
            </a:r>
            <a:r>
              <a:rPr lang="en-US" spc="-100" dirty="0">
                <a:latin typeface="Segoe UI"/>
                <a:cs typeface="Segoe UI"/>
              </a:rPr>
              <a:t> </a:t>
            </a:r>
            <a:r>
              <a:rPr lang="en-US" spc="-10" dirty="0" err="1">
                <a:latin typeface="Segoe UI"/>
                <a:cs typeface="Segoe UI"/>
              </a:rPr>
              <a:t>startup.cs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6376" y="1921485"/>
            <a:ext cx="5907024" cy="1083651"/>
          </a:xfrm>
          <a:prstGeom prst="rect">
            <a:avLst/>
          </a:prstGeom>
        </p:spPr>
      </p:pic>
      <p:pic>
        <p:nvPicPr>
          <p:cNvPr id="10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70643" y="3407312"/>
            <a:ext cx="7211804" cy="220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8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Controller for Web API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lnSpc>
                <a:spcPts val="319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Thiết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lập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HTTP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Request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tương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ứng</a:t>
            </a:r>
            <a:r>
              <a:rPr lang="vi-VN" spc="-2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cho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spc="-10" dirty="0" smtClean="0">
                <a:latin typeface="Segoe UI"/>
                <a:cs typeface="Segoe UI"/>
              </a:rPr>
              <a:t>action</a:t>
            </a:r>
            <a:r>
              <a:rPr lang="en-US" dirty="0" smtClean="0">
                <a:latin typeface="Segoe UI"/>
                <a:cs typeface="Segoe UI"/>
              </a:rPr>
              <a:t> </a:t>
            </a:r>
            <a:r>
              <a:rPr lang="vi-VN" dirty="0" smtClean="0">
                <a:latin typeface="Segoe UI"/>
                <a:cs typeface="Segoe UI"/>
              </a:rPr>
              <a:t>method</a:t>
            </a:r>
            <a:r>
              <a:rPr lang="vi-VN" spc="-35" dirty="0" smtClean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tạo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ra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Url</a:t>
            </a:r>
            <a:r>
              <a:rPr lang="vi-VN" spc="-2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cho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thao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tác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như</a:t>
            </a:r>
            <a:r>
              <a:rPr lang="vi-VN" spc="-20" dirty="0">
                <a:latin typeface="Segoe UI"/>
                <a:cs typeface="Segoe UI"/>
              </a:rPr>
              <a:t> crud</a:t>
            </a:r>
            <a:endParaRPr lang="vi-VN" dirty="0">
              <a:latin typeface="Segoe UI"/>
              <a:cs typeface="Segoe UI"/>
            </a:endParaRPr>
          </a:p>
          <a:p>
            <a:pPr marL="354965" indent="-342265">
              <a:lnSpc>
                <a:spcPts val="3190"/>
              </a:lnSpc>
              <a:spcBef>
                <a:spcPts val="340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HTTP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request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có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2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loại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được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sử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dụng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phổ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biến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nhất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spc="-25" dirty="0" smtClean="0">
                <a:latin typeface="Segoe UI"/>
                <a:cs typeface="Segoe UI"/>
              </a:rPr>
              <a:t>là</a:t>
            </a:r>
            <a:r>
              <a:rPr lang="en-US" dirty="0" smtClean="0">
                <a:latin typeface="Segoe UI"/>
                <a:cs typeface="Segoe UI"/>
              </a:rPr>
              <a:t> </a:t>
            </a:r>
            <a:r>
              <a:rPr lang="vi-VN" dirty="0" smtClean="0">
                <a:latin typeface="Segoe UI"/>
                <a:cs typeface="Segoe UI"/>
              </a:rPr>
              <a:t>GET</a:t>
            </a:r>
            <a:r>
              <a:rPr lang="vi-VN" spc="-60" dirty="0" smtClean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và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spc="-20" dirty="0" smtClean="0">
                <a:latin typeface="Segoe UI"/>
                <a:cs typeface="Segoe UI"/>
              </a:rPr>
              <a:t>POST</a:t>
            </a:r>
            <a:endParaRPr lang="en-US" spc="-20" dirty="0" smtClean="0">
              <a:latin typeface="Segoe UI"/>
              <a:cs typeface="Segoe UI"/>
            </a:endParaRPr>
          </a:p>
          <a:p>
            <a:pPr marL="354965" indent="-342265">
              <a:spcBef>
                <a:spcPts val="915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GET: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được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sử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dụng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để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lấy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thông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tin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từ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server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theo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URI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đã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cung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cấp.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lnSpc>
                <a:spcPts val="2090"/>
              </a:lnSpc>
              <a:spcBef>
                <a:spcPts val="819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HEAD:</a:t>
            </a:r>
            <a:r>
              <a:rPr lang="vi-VN" sz="1800" spc="-5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giống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với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GET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nhưng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response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trả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về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không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có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body,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chỉ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5" dirty="0" smtClean="0">
                <a:solidFill>
                  <a:srgbClr val="212121"/>
                </a:solidFill>
                <a:latin typeface="Verdana"/>
                <a:cs typeface="Verdana"/>
              </a:rPr>
              <a:t>có</a:t>
            </a:r>
            <a:r>
              <a:rPr lang="en-US" sz="1800" dirty="0" smtClean="0">
                <a:latin typeface="Verdana"/>
                <a:cs typeface="Verdana"/>
              </a:rPr>
              <a:t> </a:t>
            </a:r>
            <a:r>
              <a:rPr lang="vi-VN" sz="1800" spc="-10" dirty="0" smtClean="0">
                <a:solidFill>
                  <a:srgbClr val="212121"/>
                </a:solidFill>
                <a:latin typeface="Verdana"/>
                <a:cs typeface="Verdana"/>
              </a:rPr>
              <a:t>header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73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POST: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gửi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thông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tin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tới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sever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thông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qua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các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biểu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mẫu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http.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735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PUT: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ghi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đè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tất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cả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thông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tin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của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đối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tượng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với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những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gì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được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gửi</a:t>
            </a:r>
            <a:r>
              <a:rPr lang="vi-VN" sz="1800" spc="-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lên.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735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PATCH: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ghi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đè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các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thông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tin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được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thay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đổi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của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đối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tượng</a:t>
            </a:r>
            <a:r>
              <a:rPr lang="vi-VN" spc="-10" dirty="0">
                <a:solidFill>
                  <a:srgbClr val="212121"/>
                </a:solidFill>
                <a:latin typeface="Verdana"/>
                <a:cs typeface="Verdana"/>
              </a:rPr>
              <a:t>.</a:t>
            </a:r>
            <a:endParaRPr lang="vi-VN" dirty="0">
              <a:latin typeface="Verdana"/>
              <a:cs typeface="Verdana"/>
            </a:endParaRPr>
          </a:p>
          <a:p>
            <a:pPr marL="354965" indent="-342265">
              <a:spcBef>
                <a:spcPts val="74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DELETE: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xóa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tài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nguyên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trên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server.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735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CONNECT: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thiết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lập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một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kết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nối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tới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server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theo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URI.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735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OPTIONS:</a:t>
            </a:r>
            <a:r>
              <a:rPr lang="vi-VN" sz="1800" spc="-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mô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tả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các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tùy</a:t>
            </a:r>
            <a:r>
              <a:rPr lang="vi-VN" sz="1800" spc="-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chọn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giao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tiếp</a:t>
            </a:r>
            <a:r>
              <a:rPr lang="vi-VN" sz="1800" spc="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cho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resource.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79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TRACE: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thực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hiện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một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bài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test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loop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back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theo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đường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dẫn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đến</a:t>
            </a:r>
            <a:r>
              <a:rPr lang="vi-VN" sz="1800" spc="-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resource</a:t>
            </a:r>
            <a:endParaRPr lang="vi-VN" sz="3200" dirty="0">
              <a:latin typeface="Verdana"/>
              <a:cs typeface="Verdana"/>
            </a:endParaRPr>
          </a:p>
          <a:p>
            <a:pPr marL="355600">
              <a:lnSpc>
                <a:spcPts val="3190"/>
              </a:lnSpc>
            </a:pPr>
            <a:endParaRPr lang="vi-VN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Controller for Web API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5080">
              <a:spcBef>
                <a:spcPts val="95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dirty="0" err="1">
                <a:latin typeface="Segoe UI"/>
                <a:cs typeface="Segoe UI"/>
              </a:rPr>
              <a:t>Cài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đặt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spc="-20" dirty="0" err="1">
                <a:solidFill>
                  <a:srgbClr val="2A2A2A"/>
                </a:solidFill>
                <a:latin typeface="Calibri"/>
                <a:cs typeface="Calibri"/>
              </a:rPr>
              <a:t>Microsoft.AspNetCore.JsonPatch</a:t>
            </a:r>
            <a:r>
              <a:rPr lang="en-US" spc="3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2A2A2A"/>
                </a:solidFill>
                <a:latin typeface="Calibri"/>
                <a:cs typeface="Calibri"/>
              </a:rPr>
              <a:t>package</a:t>
            </a:r>
            <a:r>
              <a:rPr lang="en-US" spc="-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2A2A2A"/>
                </a:solidFill>
                <a:latin typeface="Calibri"/>
                <a:cs typeface="Calibri"/>
              </a:rPr>
              <a:t>hỗ</a:t>
            </a:r>
            <a:r>
              <a:rPr lang="en-US" spc="-2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spc="-25" dirty="0" err="1">
                <a:solidFill>
                  <a:srgbClr val="2A2A2A"/>
                </a:solidFill>
                <a:latin typeface="Calibri"/>
                <a:cs typeface="Calibri"/>
              </a:rPr>
              <a:t>trợ</a:t>
            </a:r>
            <a:r>
              <a:rPr lang="en-US" spc="-2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2A2A2A"/>
                </a:solidFill>
                <a:latin typeface="Calibri"/>
                <a:cs typeface="Calibri"/>
              </a:rPr>
              <a:t>mô</a:t>
            </a:r>
            <a:r>
              <a:rPr lang="en-US" spc="-5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2A2A2A"/>
                </a:solidFill>
                <a:latin typeface="Calibri"/>
                <a:cs typeface="Calibri"/>
              </a:rPr>
              <a:t>tả</a:t>
            </a:r>
            <a:r>
              <a:rPr lang="en-US" spc="-5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2A2A2A"/>
                </a:solidFill>
                <a:latin typeface="Calibri"/>
                <a:cs typeface="Calibri"/>
              </a:rPr>
              <a:t>các</a:t>
            </a:r>
            <a:r>
              <a:rPr lang="en-US" spc="-4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2A2A2A"/>
                </a:solidFill>
                <a:latin typeface="Calibri"/>
                <a:cs typeface="Calibri"/>
              </a:rPr>
              <a:t>thay</a:t>
            </a:r>
            <a:r>
              <a:rPr lang="en-US" spc="-5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2A2A2A"/>
                </a:solidFill>
                <a:latin typeface="Calibri"/>
                <a:cs typeface="Calibri"/>
              </a:rPr>
              <a:t>đổi</a:t>
            </a:r>
            <a:r>
              <a:rPr lang="en-US" spc="-5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2A2A2A"/>
                </a:solidFill>
                <a:latin typeface="Calibri"/>
                <a:cs typeface="Calibri"/>
              </a:rPr>
              <a:t>trong</a:t>
            </a:r>
            <a:r>
              <a:rPr lang="en-US" spc="-4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2A2A2A"/>
                </a:solidFill>
                <a:latin typeface="Calibri"/>
                <a:cs typeface="Calibri"/>
              </a:rPr>
              <a:t>tài</a:t>
            </a:r>
            <a:r>
              <a:rPr lang="en-US" spc="-4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2A2A2A"/>
                </a:solidFill>
                <a:latin typeface="Calibri"/>
                <a:cs typeface="Calibri"/>
              </a:rPr>
              <a:t>liệu</a:t>
            </a:r>
            <a:r>
              <a:rPr lang="en-US" spc="-5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spc="-20" dirty="0" err="1">
                <a:solidFill>
                  <a:srgbClr val="2A2A2A"/>
                </a:solidFill>
                <a:latin typeface="Calibri"/>
                <a:cs typeface="Calibri"/>
              </a:rPr>
              <a:t>json</a:t>
            </a:r>
            <a:endParaRPr lang="en-US" dirty="0"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2968" y="2565144"/>
            <a:ext cx="5437632" cy="284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71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Controller for Web API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2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controller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xử</a:t>
            </a:r>
            <a:r>
              <a:rPr lang="en-US" spc="-1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lý</a:t>
            </a:r>
            <a:r>
              <a:rPr lang="en-US" spc="-2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HTTP</a:t>
            </a:r>
            <a:r>
              <a:rPr lang="en-US" spc="-1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Request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0077" y="1790700"/>
            <a:ext cx="5788269" cy="413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0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Controller for Web API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2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controller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xử</a:t>
            </a:r>
            <a:r>
              <a:rPr lang="en-US" spc="-1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lý</a:t>
            </a:r>
            <a:r>
              <a:rPr lang="en-US" spc="-2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HTTP</a:t>
            </a:r>
            <a:r>
              <a:rPr lang="en-US" spc="-1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Request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0077" y="1790700"/>
            <a:ext cx="5788269" cy="413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9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Testing Web API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58674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Run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ứng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dụng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với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api/Reservation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routing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sẽ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spc="-20" dirty="0">
                <a:latin typeface="Segoe UI"/>
                <a:cs typeface="Segoe UI"/>
              </a:rPr>
              <a:t>nhận </a:t>
            </a:r>
            <a:r>
              <a:rPr lang="vi-VN" dirty="0">
                <a:latin typeface="Segoe UI"/>
                <a:cs typeface="Segoe UI"/>
              </a:rPr>
              <a:t>được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đối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tượng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‘reservations’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dưới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dạng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spc="-20" dirty="0" smtClean="0">
                <a:latin typeface="Segoe UI"/>
                <a:cs typeface="Segoe UI"/>
              </a:rPr>
              <a:t>json</a:t>
            </a:r>
            <a:endParaRPr lang="en-US" spc="-20" dirty="0" smtClean="0">
              <a:latin typeface="Segoe UI"/>
              <a:cs typeface="Segoe UI"/>
            </a:endParaRPr>
          </a:p>
          <a:p>
            <a:pPr marL="355600" marR="58674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endParaRPr lang="en-US" spc="-20" dirty="0">
              <a:latin typeface="Segoe UI"/>
              <a:cs typeface="Segoe UI"/>
            </a:endParaRPr>
          </a:p>
          <a:p>
            <a:pPr marL="355600" marR="58674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endParaRPr lang="en-US" spc="-20" dirty="0" smtClean="0">
              <a:latin typeface="Segoe UI"/>
              <a:cs typeface="Segoe UI"/>
            </a:endParaRPr>
          </a:p>
          <a:p>
            <a:pPr marL="355600" marR="58674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endParaRPr lang="en-US" spc="-20" dirty="0">
              <a:latin typeface="Segoe UI"/>
              <a:cs typeface="Segoe UI"/>
            </a:endParaRPr>
          </a:p>
          <a:p>
            <a:pPr marL="355600" marR="58674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Run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ứng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dụng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với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api/Reservation/1</a:t>
            </a:r>
            <a:r>
              <a:rPr lang="vi-VN" spc="-7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routing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sẽ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spc="-20" dirty="0">
                <a:latin typeface="Segoe UI"/>
                <a:cs typeface="Segoe UI"/>
              </a:rPr>
              <a:t>nhận </a:t>
            </a:r>
            <a:r>
              <a:rPr lang="vi-VN" dirty="0">
                <a:latin typeface="Segoe UI"/>
                <a:cs typeface="Segoe UI"/>
              </a:rPr>
              <a:t>được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đối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tượng</a:t>
            </a:r>
            <a:r>
              <a:rPr lang="vi-VN" spc="-1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‘reservations’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có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id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=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1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dưới</a:t>
            </a:r>
            <a:r>
              <a:rPr lang="vi-VN" spc="-20" dirty="0">
                <a:latin typeface="Segoe UI"/>
                <a:cs typeface="Segoe UI"/>
              </a:rPr>
              <a:t> dạng json</a:t>
            </a:r>
            <a:endParaRPr lang="vi-VN" dirty="0">
              <a:latin typeface="Segoe UI"/>
              <a:cs typeface="Segoe UI"/>
            </a:endParaRPr>
          </a:p>
          <a:p>
            <a:pPr marL="355600" marR="58674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endParaRPr lang="vi-VN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5754" y="2351071"/>
            <a:ext cx="9143999" cy="1306285"/>
          </a:xfrm>
          <a:prstGeom prst="rect">
            <a:avLst/>
          </a:prstGeom>
        </p:spPr>
      </p:pic>
      <p:pic>
        <p:nvPicPr>
          <p:cNvPr id="10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4339" y="5276556"/>
            <a:ext cx="8610600" cy="81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Testing Web API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5080">
              <a:lnSpc>
                <a:spcPct val="80000"/>
              </a:lnSpc>
              <a:spcBef>
                <a:spcPts val="725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Status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code:</a:t>
            </a:r>
            <a:r>
              <a:rPr lang="vi-VN" spc="-2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Khi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chúng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ta</a:t>
            </a:r>
            <a:r>
              <a:rPr lang="vi-VN" spc="-2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request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một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API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nào</a:t>
            </a:r>
            <a:r>
              <a:rPr lang="vi-VN" spc="-2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đó</a:t>
            </a:r>
            <a:r>
              <a:rPr lang="vi-VN" spc="-25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thường </a:t>
            </a:r>
            <a:r>
              <a:rPr lang="vi-VN" dirty="0">
                <a:latin typeface="Segoe UI"/>
                <a:cs typeface="Segoe UI"/>
              </a:rPr>
              <a:t>thì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sẽ</a:t>
            </a:r>
            <a:r>
              <a:rPr lang="vi-VN" spc="-2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có</a:t>
            </a:r>
            <a:r>
              <a:rPr lang="vi-VN" spc="-1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vài</a:t>
            </a:r>
            <a:r>
              <a:rPr lang="vi-VN" spc="-1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status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code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để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nhận</a:t>
            </a:r>
            <a:r>
              <a:rPr lang="vi-VN" spc="-15" dirty="0">
                <a:latin typeface="Segoe UI"/>
                <a:cs typeface="Segoe UI"/>
              </a:rPr>
              <a:t> </a:t>
            </a:r>
            <a:r>
              <a:rPr lang="vi-VN" spc="-20" dirty="0">
                <a:latin typeface="Segoe UI"/>
                <a:cs typeface="Segoe UI"/>
              </a:rPr>
              <a:t>biết</a:t>
            </a:r>
            <a:endParaRPr lang="vi-VN" dirty="0">
              <a:latin typeface="Segoe UI"/>
              <a:cs typeface="Segoe UI"/>
            </a:endParaRPr>
          </a:p>
          <a:p>
            <a:pPr marL="354965" indent="-342265">
              <a:lnSpc>
                <a:spcPts val="1664"/>
              </a:lnSpc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200</a:t>
            </a:r>
            <a:r>
              <a:rPr lang="vi-VN" sz="1800" spc="-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OK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Trả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về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thành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công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cho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những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phương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thức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GET,</a:t>
            </a:r>
            <a:r>
              <a:rPr lang="vi-VN" sz="1800" spc="-6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45" dirty="0">
                <a:solidFill>
                  <a:srgbClr val="212121"/>
                </a:solidFill>
                <a:latin typeface="Verdana"/>
                <a:cs typeface="Verdana"/>
              </a:rPr>
              <a:t>PUT,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PATCH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 smtClean="0">
                <a:solidFill>
                  <a:srgbClr val="212121"/>
                </a:solidFill>
                <a:latin typeface="Verdana"/>
                <a:cs typeface="Verdana"/>
              </a:rPr>
              <a:t>hoặc</a:t>
            </a:r>
            <a:r>
              <a:rPr lang="en-US" sz="1800" dirty="0" smtClean="0">
                <a:latin typeface="Verdana"/>
                <a:cs typeface="Verdana"/>
              </a:rPr>
              <a:t> </a:t>
            </a:r>
            <a:r>
              <a:rPr lang="vi-VN" sz="1800" spc="-10" dirty="0" smtClean="0">
                <a:solidFill>
                  <a:srgbClr val="212121"/>
                </a:solidFill>
                <a:latin typeface="Verdana"/>
                <a:cs typeface="Verdana"/>
              </a:rPr>
              <a:t>DELETE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4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201</a:t>
            </a:r>
            <a:r>
              <a:rPr lang="vi-VN" sz="1800" spc="-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Created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Trả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về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khi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một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Resouce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vừa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được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tạo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thành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công.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3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204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No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Content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Trả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về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khi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Resource</a:t>
            </a:r>
            <a:r>
              <a:rPr lang="vi-VN" sz="1800" spc="-5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xoá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thành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công.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4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304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Not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Modified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Client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có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thể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sử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dụng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dữ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liệu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cache.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3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400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Bad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Request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Request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không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hợp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lệ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4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401</a:t>
            </a:r>
            <a:r>
              <a:rPr lang="vi-VN" sz="1800" spc="-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Unauthorized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Request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cần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có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auth.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4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403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Forbidden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bị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từ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chối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không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cho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phép.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3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404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Not</a:t>
            </a:r>
            <a:r>
              <a:rPr lang="vi-VN" sz="1800" spc="-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Found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Không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tìm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thấy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resource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từ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URI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4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405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Method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Not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Allowed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Phương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thức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không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cho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phép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với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user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hiện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tại.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3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410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Gone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Resource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không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còn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tồn tại,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Version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cũ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đã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không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còn</a:t>
            </a:r>
            <a:r>
              <a:rPr lang="vi-VN" sz="1800" spc="-1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hỗ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trợ.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4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415</a:t>
            </a:r>
            <a:r>
              <a:rPr lang="vi-VN" sz="1800" spc="-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Unsupported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Media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Type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Không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hỗ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trợ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kiểu</a:t>
            </a:r>
            <a:r>
              <a:rPr lang="vi-VN" sz="1800" spc="-6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Resource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này.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4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422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Unprocessable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Entity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Dữ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liệu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không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được</a:t>
            </a:r>
            <a:r>
              <a:rPr lang="vi-VN" sz="1800" spc="-1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xác</a:t>
            </a:r>
            <a:r>
              <a:rPr lang="vi-VN" sz="1800" spc="-20" dirty="0">
                <a:solidFill>
                  <a:srgbClr val="212121"/>
                </a:solidFill>
                <a:latin typeface="Verdana"/>
                <a:cs typeface="Verdana"/>
              </a:rPr>
              <a:t> thực</a:t>
            </a:r>
            <a:endParaRPr lang="vi-VN" sz="1800" dirty="0">
              <a:latin typeface="Verdana"/>
              <a:cs typeface="Verdana"/>
            </a:endParaRPr>
          </a:p>
          <a:p>
            <a:pPr marL="354965" indent="-342265">
              <a:spcBef>
                <a:spcPts val="530"/>
              </a:spcBef>
              <a:buSzPct val="58823"/>
              <a:buFont typeface="Symbol"/>
              <a:buChar char=""/>
              <a:tabLst>
                <a:tab pos="354965" algn="l"/>
              </a:tabLst>
            </a:pP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429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Too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Many</a:t>
            </a:r>
            <a:r>
              <a:rPr lang="vi-VN" sz="1800" spc="-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Requests</a:t>
            </a:r>
            <a:r>
              <a:rPr lang="vi-VN" sz="1800" spc="-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–</a:t>
            </a:r>
            <a:r>
              <a:rPr lang="vi-VN" sz="18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Request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bị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từ</a:t>
            </a:r>
            <a:r>
              <a:rPr lang="vi-VN" sz="1800" spc="-3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chối</a:t>
            </a:r>
            <a:r>
              <a:rPr lang="vi-VN" sz="18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do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bị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dirty="0">
                <a:solidFill>
                  <a:srgbClr val="212121"/>
                </a:solidFill>
                <a:latin typeface="Verdana"/>
                <a:cs typeface="Verdana"/>
              </a:rPr>
              <a:t>giới</a:t>
            </a:r>
            <a:r>
              <a:rPr lang="vi-VN" sz="18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lang="vi-VN" sz="1800" spc="-25" dirty="0">
                <a:solidFill>
                  <a:srgbClr val="212121"/>
                </a:solidFill>
                <a:latin typeface="Verdana"/>
                <a:cs typeface="Verdana"/>
              </a:rPr>
              <a:t>hạn</a:t>
            </a:r>
            <a:endParaRPr lang="vi-VN" sz="1800" dirty="0">
              <a:latin typeface="Verdana"/>
              <a:cs typeface="Verdan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3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Testing Web 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API - Postman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97409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dirty="0" err="1">
                <a:latin typeface="Segoe UI"/>
                <a:cs typeface="Segoe UI"/>
              </a:rPr>
              <a:t>Có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thể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kiểm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tra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api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có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hoạt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đúng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hay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spc="-10" dirty="0" err="1">
                <a:latin typeface="Segoe UI"/>
                <a:cs typeface="Segoe UI"/>
              </a:rPr>
              <a:t>không</a:t>
            </a:r>
            <a:r>
              <a:rPr lang="en-US" spc="-1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thông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qua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postman,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ví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gọi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api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lấy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toàn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bộ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Reservation</a:t>
            </a:r>
            <a:r>
              <a:rPr lang="en-US" spc="-9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thì</a:t>
            </a:r>
            <a:r>
              <a:rPr lang="en-US" spc="-9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dùng</a:t>
            </a:r>
            <a:r>
              <a:rPr lang="en-US" spc="-75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url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https://localhost:5001/api/Reservation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6919" y="2489567"/>
            <a:ext cx="7086600" cy="373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1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Testing Web 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API - Postman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54483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Thêm</a:t>
            </a:r>
            <a:r>
              <a:rPr lang="vi-VN" spc="-8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một</a:t>
            </a:r>
            <a:r>
              <a:rPr lang="vi-VN" spc="-8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Reservation</a:t>
            </a:r>
            <a:r>
              <a:rPr lang="vi-VN" spc="-8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thì</a:t>
            </a:r>
            <a:r>
              <a:rPr lang="vi-VN" spc="-8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dùng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url </a:t>
            </a:r>
            <a:r>
              <a:rPr lang="vi-VN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2"/>
              </a:rPr>
              <a:t>https://localhost:5001/api/Reservation</a:t>
            </a:r>
            <a:r>
              <a:rPr lang="vi-VN" spc="-100" dirty="0">
                <a:solidFill>
                  <a:srgbClr val="0000FF"/>
                </a:solidFill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và</a:t>
            </a:r>
            <a:r>
              <a:rPr lang="vi-VN" spc="-8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cung</a:t>
            </a:r>
            <a:r>
              <a:rPr lang="vi-VN" spc="-85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cấp </a:t>
            </a:r>
            <a:r>
              <a:rPr lang="vi-VN" dirty="0">
                <a:latin typeface="Segoe UI"/>
                <a:cs typeface="Segoe UI"/>
              </a:rPr>
              <a:t>giá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trị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cho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đối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tượng</a:t>
            </a:r>
            <a:r>
              <a:rPr lang="vi-VN" spc="-15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Reservation</a:t>
            </a:r>
            <a:endParaRPr lang="vi-VN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9093" y="2430461"/>
            <a:ext cx="6734907" cy="40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8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Testing Web 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API - Postman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54483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Cập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nhật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một</a:t>
            </a:r>
            <a:r>
              <a:rPr lang="vi-VN" spc="-8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Reservation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thì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dùng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url </a:t>
            </a:r>
            <a:r>
              <a:rPr lang="vi-VN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2"/>
              </a:rPr>
              <a:t>https://localhost:5001/api/Reservation</a:t>
            </a:r>
            <a:r>
              <a:rPr lang="vi-VN" spc="-100" dirty="0">
                <a:solidFill>
                  <a:srgbClr val="0000FF"/>
                </a:solidFill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và</a:t>
            </a:r>
            <a:r>
              <a:rPr lang="vi-VN" spc="-8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cung</a:t>
            </a:r>
            <a:r>
              <a:rPr lang="vi-VN" spc="-85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cấp </a:t>
            </a:r>
            <a:r>
              <a:rPr lang="vi-VN" dirty="0">
                <a:latin typeface="Segoe UI"/>
                <a:cs typeface="Segoe UI"/>
              </a:rPr>
              <a:t>giá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trị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cập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nhật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cho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đối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tượng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Reservation</a:t>
            </a:r>
            <a:endParaRPr lang="vi-VN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6138" y="2534902"/>
            <a:ext cx="6670079" cy="389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8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Testing Web 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API - Postman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185420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dirty="0" err="1">
                <a:latin typeface="Segoe UI"/>
                <a:cs typeface="Segoe UI"/>
              </a:rPr>
              <a:t>Xóa</a:t>
            </a:r>
            <a:r>
              <a:rPr lang="en-US" spc="-8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một</a:t>
            </a:r>
            <a:r>
              <a:rPr lang="en-US" spc="-7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Reservation</a:t>
            </a:r>
            <a:r>
              <a:rPr lang="en-US" spc="-7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thì</a:t>
            </a:r>
            <a:r>
              <a:rPr lang="en-US" spc="-7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dùng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url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2"/>
              </a:rPr>
              <a:t>https://localhost:5001/api/Reservation</a:t>
            </a:r>
            <a:r>
              <a:rPr lang="en-US" spc="-10" dirty="0">
                <a:solidFill>
                  <a:srgbClr val="FF0000"/>
                </a:solidFill>
                <a:latin typeface="Segoe UI"/>
                <a:cs typeface="Segoe UI"/>
              </a:rPr>
              <a:t>/id</a:t>
            </a:r>
            <a:r>
              <a:rPr lang="en-US" spc="-5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với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id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là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giá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trị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id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cần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xóa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1766" y="2965938"/>
            <a:ext cx="7095744" cy="245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5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33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8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2057401"/>
            <a:ext cx="10511204" cy="3974122"/>
          </a:xfrm>
        </p:spPr>
        <p:txBody>
          <a:bodyPr>
            <a:noAutofit/>
          </a:bodyPr>
          <a:lstStyle/>
          <a:p>
            <a:pPr marL="11430">
              <a:lnSpc>
                <a:spcPct val="100000"/>
              </a:lnSpc>
              <a:buSzPct val="96875"/>
              <a:tabLst>
                <a:tab pos="375285" algn="l"/>
              </a:tabLst>
            </a:pPr>
            <a:r>
              <a:rPr lang="en-US" sz="3200" dirty="0">
                <a:solidFill>
                  <a:srgbClr val="FFC000"/>
                </a:solidFill>
                <a:latin typeface="Calibri"/>
                <a:cs typeface="Calibri"/>
              </a:rPr>
              <a:t>Web</a:t>
            </a:r>
            <a:r>
              <a:rPr lang="en-US" sz="320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200" spc="-25" dirty="0" err="1">
                <a:solidFill>
                  <a:srgbClr val="FFC000"/>
                </a:solidFill>
                <a:latin typeface="Calibri"/>
                <a:cs typeface="Calibri"/>
              </a:rPr>
              <a:t>Api</a:t>
            </a:r>
            <a:r>
              <a:rPr lang="en-US" sz="3200" dirty="0">
                <a:solidFill>
                  <a:srgbClr val="FFC000"/>
                </a:solidFill>
                <a:latin typeface="Calibri"/>
                <a:cs typeface="Calibri"/>
              </a:rPr>
              <a:t/>
            </a:r>
            <a:br>
              <a:rPr lang="en-US" sz="3200" dirty="0">
                <a:solidFill>
                  <a:srgbClr val="FFC000"/>
                </a:solidFill>
                <a:latin typeface="Calibri"/>
                <a:cs typeface="Calibri"/>
              </a:rPr>
            </a:br>
            <a:r>
              <a:rPr lang="en-US" sz="3200" spc="-35" dirty="0">
                <a:solidFill>
                  <a:srgbClr val="FFC000"/>
                </a:solidFill>
                <a:latin typeface="Calibri"/>
                <a:cs typeface="Calibri"/>
              </a:rPr>
              <a:t>Testing</a:t>
            </a:r>
            <a:r>
              <a:rPr lang="en-US" sz="3200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200" dirty="0" err="1">
                <a:solidFill>
                  <a:srgbClr val="FFC000"/>
                </a:solidFill>
                <a:latin typeface="Calibri"/>
                <a:cs typeface="Calibri"/>
              </a:rPr>
              <a:t>Api</a:t>
            </a:r>
            <a:r>
              <a:rPr lang="en-US" sz="320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Calibri"/>
                <a:cs typeface="Calibri"/>
              </a:rPr>
              <a:t>-</a:t>
            </a:r>
            <a:r>
              <a:rPr lang="en-US" sz="32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200" spc="-10" dirty="0">
                <a:solidFill>
                  <a:srgbClr val="FFC000"/>
                </a:solidFill>
                <a:latin typeface="Calibri"/>
                <a:cs typeface="Calibri"/>
              </a:rPr>
              <a:t>Postman</a:t>
            </a:r>
            <a:r>
              <a:rPr lang="en-US" sz="3200" dirty="0">
                <a:solidFill>
                  <a:srgbClr val="FFC000"/>
                </a:solidFill>
                <a:latin typeface="Calibri"/>
                <a:cs typeface="Calibri"/>
              </a:rPr>
              <a:t/>
            </a:r>
            <a:br>
              <a:rPr lang="en-US" sz="3200" dirty="0">
                <a:solidFill>
                  <a:srgbClr val="FFC000"/>
                </a:solidFill>
                <a:latin typeface="Calibri"/>
                <a:cs typeface="Calibri"/>
              </a:rPr>
            </a:br>
            <a:r>
              <a:rPr lang="en-US" sz="3200" dirty="0">
                <a:solidFill>
                  <a:srgbClr val="FFC000"/>
                </a:solidFill>
                <a:latin typeface="Calibri"/>
                <a:cs typeface="Calibri"/>
              </a:rPr>
              <a:t>Web</a:t>
            </a:r>
            <a:r>
              <a:rPr lang="en-US" sz="320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Calibri"/>
                <a:cs typeface="Calibri"/>
              </a:rPr>
              <a:t>APIs</a:t>
            </a:r>
            <a:r>
              <a:rPr lang="en-US" sz="32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Calibri"/>
                <a:cs typeface="Calibri"/>
              </a:rPr>
              <a:t>in</a:t>
            </a:r>
            <a:r>
              <a:rPr lang="en-US" sz="32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200" spc="-50" dirty="0">
                <a:solidFill>
                  <a:srgbClr val="FFC000"/>
                </a:solidFill>
                <a:latin typeface="Calibri"/>
                <a:cs typeface="Calibri"/>
              </a:rPr>
              <a:t>ASP.NET</a:t>
            </a:r>
            <a:r>
              <a:rPr lang="en-US" sz="32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200" spc="-20" dirty="0">
                <a:solidFill>
                  <a:srgbClr val="FFC000"/>
                </a:solidFill>
                <a:latin typeface="Calibri"/>
                <a:cs typeface="Calibri"/>
              </a:rPr>
              <a:t>Core</a:t>
            </a:r>
            <a:endParaRPr lang="en-US" sz="32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296202"/>
            <a:ext cx="11933241" cy="4891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L</a:t>
            </a:r>
            <a:r>
              <a:rPr lang="vi-VN" dirty="0" smtClean="0"/>
              <a:t>ập </a:t>
            </a:r>
            <a:r>
              <a:rPr lang="vi-VN" dirty="0"/>
              <a:t>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 flipH="1">
            <a:off x="888522" y="6155524"/>
            <a:ext cx="1283177" cy="51405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</a:t>
            </a:r>
            <a:r>
              <a:rPr lang="en-US" sz="6000" dirty="0" err="1" smtClean="0">
                <a:solidFill>
                  <a:schemeClr val="bg1"/>
                </a:solidFill>
              </a:rPr>
              <a:t>Tổng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kết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bài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học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0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1597</Words>
  <Application>Microsoft Office PowerPoint</Application>
  <PresentationFormat>Widescreen</PresentationFormat>
  <Paragraphs>212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52" baseType="lpstr">
      <vt:lpstr>Arial</vt:lpstr>
      <vt:lpstr>Arial MT</vt:lpstr>
      <vt:lpstr>Calibri</vt:lpstr>
      <vt:lpstr>Calibri Light</vt:lpstr>
      <vt:lpstr>Courier New</vt:lpstr>
      <vt:lpstr>Roboto</vt:lpstr>
      <vt:lpstr>Roboto Lt</vt:lpstr>
      <vt:lpstr>Segoe UI</vt:lpstr>
      <vt:lpstr>Symbol</vt:lpstr>
      <vt:lpstr>Times New Roman</vt:lpstr>
      <vt:lpstr>Tw Cen MT</vt:lpstr>
      <vt:lpstr>Tw Cen MT Condensed</vt:lpstr>
      <vt:lpstr>Verdana</vt:lpstr>
      <vt:lpstr>Wingdings</vt:lpstr>
      <vt:lpstr>Wingdings 3</vt:lpstr>
      <vt:lpstr>Office Theme</vt:lpstr>
      <vt:lpstr>ModernClassicBlock-3</vt:lpstr>
      <vt:lpstr>Custom Design</vt:lpstr>
      <vt:lpstr>Lập Trình C#3</vt:lpstr>
      <vt:lpstr>Mục tiêu</vt:lpstr>
      <vt:lpstr>WEB API</vt:lpstr>
      <vt:lpstr>WEB API</vt:lpstr>
      <vt:lpstr>RESTFUL API</vt:lpstr>
      <vt:lpstr>RESTFUL API</vt:lpstr>
      <vt:lpstr>RESTFUL API</vt:lpstr>
      <vt:lpstr>RESTFUL API</vt:lpstr>
      <vt:lpstr>Một số nguyên tắc tốt thiết kế RESTful</vt:lpstr>
      <vt:lpstr>Postman - test API</vt:lpstr>
      <vt:lpstr>Postman - test API</vt:lpstr>
      <vt:lpstr>Postman - test API</vt:lpstr>
      <vt:lpstr>Postman - test API</vt:lpstr>
      <vt:lpstr>Postman - test API</vt:lpstr>
      <vt:lpstr>Làm việc với request</vt:lpstr>
      <vt:lpstr>Làm việc với POST</vt:lpstr>
      <vt:lpstr>Demo các thao tác crud với POSTMAN</vt:lpstr>
      <vt:lpstr>WEB APIS IN ASP.NET CORE</vt:lpstr>
      <vt:lpstr>WEB APIS IN ASP.NET CORE</vt:lpstr>
      <vt:lpstr>WEB APIS IN ASP.NET CORE</vt:lpstr>
      <vt:lpstr>WEB APIS IN ASP.NET CORE</vt:lpstr>
      <vt:lpstr>WEB APIS IN ASP.NET CORE</vt:lpstr>
      <vt:lpstr>Controller for Web API</vt:lpstr>
      <vt:lpstr>Controller for Web API</vt:lpstr>
      <vt:lpstr>Controller for Web API</vt:lpstr>
      <vt:lpstr>Controller for Web API</vt:lpstr>
      <vt:lpstr>Testing Web API</vt:lpstr>
      <vt:lpstr>Testing Web API</vt:lpstr>
      <vt:lpstr>Testing Web API - Postman</vt:lpstr>
      <vt:lpstr>Testing Web API - Postman</vt:lpstr>
      <vt:lpstr>Testing Web API - Postman</vt:lpstr>
      <vt:lpstr>Testing Web API - Postman</vt:lpstr>
      <vt:lpstr>Hãy thực hiện các ví dụ</vt:lpstr>
      <vt:lpstr>Web Api Testing Api - Postman Web APIs in ASP.NET Core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C#3</dc:title>
  <dc:creator>Nguy Nguyen Uy Vu</dc:creator>
  <cp:lastModifiedBy>Nguy Nguyen Uy Vu</cp:lastModifiedBy>
  <cp:revision>68</cp:revision>
  <dcterms:created xsi:type="dcterms:W3CDTF">2024-12-10T15:23:11Z</dcterms:created>
  <dcterms:modified xsi:type="dcterms:W3CDTF">2024-12-29T08:17:40Z</dcterms:modified>
</cp:coreProperties>
</file>